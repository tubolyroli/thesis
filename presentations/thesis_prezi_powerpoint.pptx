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5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9728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2D3748"/>
                </a:solidFill>
                <a:latin typeface="Calibri"/>
              </a:rPr>
              <a:t>Do LLMs Shape the Diffusion of New Software?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9184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A0AEC0"/>
                </a:solidFill>
                <a:latin typeface="Calibri"/>
              </a:rPr>
              <a:t>Training cutoffs and adoption dynamics in the Python ecosystem.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39496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D3748"/>
                </a:solidFill>
                <a:latin typeface="Calibri"/>
              </a:rPr>
              <a:t>Roland Tuboly  ·  MSc Social Data Science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80644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A0AEC0"/>
                </a:solidFill>
                <a:latin typeface="Calibri"/>
              </a:rPr>
              <a:t>TDK Presentation  · 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Why software diffusion, and why now?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6583680" cy="2011680"/>
          </a:xfrm>
          <a:prstGeom prst="roundRect">
            <a:avLst/>
          </a:prstGeom>
          <a:solidFill>
            <a:srgbClr val="ED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6217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D3748"/>
                </a:solidFill>
                <a:latin typeface="Calibri"/>
              </a:rPr>
              <a:t>The measurable object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62179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2D3748"/>
                </a:solidFill>
                <a:latin typeface="Calibri"/>
              </a:rPr>
              <a:t>Software libraries are a clean unit of technological diffusion: released on a specific date, downloaded at a measurable rate, used in public code.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383280"/>
            <a:ext cx="6583680" cy="3017520"/>
          </a:xfrm>
          <a:prstGeom prst="roundRect">
            <a:avLst/>
          </a:prstGeom>
          <a:solidFill>
            <a:srgbClr val="ED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520440"/>
            <a:ext cx="6217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D3748"/>
                </a:solidFill>
                <a:latin typeface="Calibri"/>
              </a:rPr>
              <a:t>Why it matters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931920"/>
            <a:ext cx="621792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>
                <a:solidFill>
                  <a:srgbClr val="3182CE"/>
                </a:solidFill>
                <a:latin typeface="Calibri"/>
              </a:rPr>
              <a:t>•  </a:t>
            </a:r>
            <a:r>
              <a:rPr sz="1400" b="1">
                <a:solidFill>
                  <a:srgbClr val="2D3748"/>
                </a:solidFill>
                <a:latin typeface="Calibri"/>
              </a:rPr>
              <a:t>Productivity vs. variety</a:t>
            </a:r>
            <a:r>
              <a:rPr sz="1400">
                <a:solidFill>
                  <a:srgbClr val="2D3748"/>
                </a:solidFill>
                <a:latin typeface="Calibri"/>
              </a:rPr>
              <a:t> — Doshi &amp; Hauser (2024): individual gains can narrow collective variety.</a:t>
            </a:r>
          </a:p>
          <a:p>
            <a:pPr algn="l">
              <a:lnSpc>
                <a:spcPct val="125000"/>
              </a:lnSpc>
            </a:pPr>
            <a:r>
              <a:rPr sz="1400">
                <a:solidFill>
                  <a:srgbClr val="3182CE"/>
                </a:solidFill>
                <a:latin typeface="Calibri"/>
              </a:rPr>
              <a:t>•  </a:t>
            </a:r>
            <a:r>
              <a:rPr sz="1400" b="1">
                <a:solidFill>
                  <a:srgbClr val="2D3748"/>
                </a:solidFill>
                <a:latin typeface="Calibri"/>
              </a:rPr>
              <a:t>Knowledge frontier</a:t>
            </a:r>
            <a:r>
              <a:rPr sz="1400">
                <a:solidFill>
                  <a:srgbClr val="2D3748"/>
                </a:solidFill>
                <a:latin typeface="Calibri"/>
              </a:rPr>
              <a:t> — Acemoglu (2024); Evans; Daniotti et al. on scientific search.</a:t>
            </a:r>
          </a:p>
          <a:p>
            <a:pPr algn="l">
              <a:lnSpc>
                <a:spcPct val="125000"/>
              </a:lnSpc>
            </a:pPr>
            <a:r>
              <a:rPr sz="1400">
                <a:solidFill>
                  <a:srgbClr val="3182CE"/>
                </a:solidFill>
                <a:latin typeface="Calibri"/>
              </a:rPr>
              <a:t>•  </a:t>
            </a:r>
            <a:r>
              <a:rPr sz="1400" b="1">
                <a:solidFill>
                  <a:srgbClr val="2D3748"/>
                </a:solidFill>
                <a:latin typeface="Calibri"/>
              </a:rPr>
              <a:t>Gatekeeping</a:t>
            </a:r>
            <a:r>
              <a:rPr sz="1400">
                <a:solidFill>
                  <a:srgbClr val="2D3748"/>
                </a:solidFill>
                <a:latin typeface="Calibri"/>
              </a:rPr>
              <a:t> — Wachs on platforms steering adoption.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06640" y="1188720"/>
            <a:ext cx="4297680" cy="5212080"/>
          </a:xfrm>
          <a:prstGeom prst="roundRect">
            <a:avLst/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35240" y="1417320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C53030"/>
                </a:solidFill>
                <a:latin typeface="Calibri"/>
              </a:rPr>
              <a:t>Research question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5240" y="2011680"/>
            <a:ext cx="393192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1">
                <a:solidFill>
                  <a:srgbClr val="2D3748"/>
                </a:solidFill>
                <a:latin typeface="Calibri"/>
              </a:rPr>
              <a:t>Do Python libraries released after an LLM's training cutoff diffuse more slowly than otherwise-identical libraries released before the cutoff?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A0AEC0"/>
                </a:solidFill>
                <a:latin typeface="Calibri"/>
              </a:rPr>
              <a:t>Tuboly · Knowledge Wall · TDK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Method at a glance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5486400" cy="4937760"/>
          </a:xfrm>
          <a:prstGeom prst="roundRect">
            <a:avLst/>
          </a:prstGeom>
          <a:solidFill>
            <a:srgbClr val="ED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D3748"/>
                </a:solidFill>
                <a:latin typeface="Calibri"/>
              </a:rPr>
              <a:t>Option A — Single-year RDD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920240"/>
            <a:ext cx="51206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2D3748"/>
                </a:solidFill>
                <a:latin typeface="Calibri"/>
              </a:rPr>
              <a:t>Compare libraries released just before vs. just after Sept 2021, within a narrow bandwidth.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657600"/>
            <a:ext cx="51206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C53030"/>
                </a:solidFill>
                <a:latin typeface="Calibri"/>
              </a:rPr>
              <a:t>Problem:  the jump we see is a mix of the LLM effect and raw calendar seasonality (September releases differ from August releases every year).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188720"/>
            <a:ext cx="5486400" cy="4937760"/>
          </a:xfrm>
          <a:prstGeom prst="round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371600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3182CE"/>
                </a:solidFill>
                <a:latin typeface="Calibri"/>
              </a:rPr>
              <a:t>Option B — Diff-in-RDD (primary)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1920240"/>
            <a:ext cx="51206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2D3748"/>
                </a:solidFill>
                <a:latin typeface="Calibri"/>
              </a:rPr>
              <a:t>Stack 2018–2020 placebo cohorts at the same calendar position. Subtract the placebo jump from the 2021 jump.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3657600"/>
            <a:ext cx="51206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3182CE"/>
                </a:solidFill>
                <a:latin typeface="Calibri"/>
              </a:rPr>
              <a:t>Payoff:  seasonality is differenced out; the residual is the LLM-specific treatment effect.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263640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A0AEC0"/>
                </a:solidFill>
                <a:latin typeface="Calibri"/>
              </a:rPr>
              <a:t>Both estimators are reported. The Diff-in-RDD is the primary specification.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Data and unit of analysis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6400800" cy="2468880"/>
          </a:xfrm>
          <a:prstGeom prst="roundRect">
            <a:avLst/>
          </a:prstGeom>
          <a:solidFill>
            <a:srgbClr val="ED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6035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D3748"/>
                </a:solidFill>
                <a:latin typeface="Calibri"/>
              </a:rPr>
              <a:t>Sources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603504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>
                <a:solidFill>
                  <a:srgbClr val="3182CE"/>
                </a:solidFill>
                <a:latin typeface="Calibri"/>
              </a:rPr>
              <a:t>•  </a:t>
            </a:r>
            <a:r>
              <a:rPr sz="1400" b="1">
                <a:solidFill>
                  <a:srgbClr val="2D3748"/>
                </a:solidFill>
                <a:latin typeface="Calibri"/>
              </a:rPr>
              <a:t>PyPI:</a:t>
            </a:r>
            <a:r>
              <a:rPr sz="1400">
                <a:solidFill>
                  <a:srgbClr val="2D3748"/>
                </a:solidFill>
                <a:latin typeface="Calibri"/>
              </a:rPr>
              <a:t> weekly downloads for every registered package.</a:t>
            </a:r>
          </a:p>
          <a:p>
            <a:pPr algn="l">
              <a:lnSpc>
                <a:spcPct val="125000"/>
              </a:lnSpc>
            </a:pPr>
            <a:r>
              <a:rPr sz="1400">
                <a:solidFill>
                  <a:srgbClr val="3182CE"/>
                </a:solidFill>
                <a:latin typeface="Calibri"/>
              </a:rPr>
              <a:t>•  </a:t>
            </a:r>
            <a:r>
              <a:rPr sz="1400" b="1">
                <a:solidFill>
                  <a:srgbClr val="2D3748"/>
                </a:solidFill>
                <a:latin typeface="Calibri"/>
              </a:rPr>
              <a:t>GitHub:</a:t>
            </a:r>
            <a:r>
              <a:rPr sz="1400">
                <a:solidFill>
                  <a:srgbClr val="2D3748"/>
                </a:solidFill>
                <a:latin typeface="Calibri"/>
              </a:rPr>
              <a:t> code-import counts (linked sample).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840480"/>
            <a:ext cx="6400800" cy="2468880"/>
          </a:xfrm>
          <a:prstGeom prst="roundRect">
            <a:avLst/>
          </a:prstGeom>
          <a:solidFill>
            <a:srgbClr val="ED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4023360"/>
            <a:ext cx="6035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D3748"/>
                </a:solidFill>
                <a:latin typeface="Calibri"/>
              </a:rPr>
              <a:t>Panel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526280"/>
            <a:ext cx="60350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2D3748"/>
                </a:solidFill>
                <a:latin typeface="Calibri"/>
              </a:rPr>
              <a:t>Library-week, from first release through January 2026.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23760" y="1188720"/>
            <a:ext cx="4480560" cy="5120640"/>
          </a:xfrm>
          <a:prstGeom prst="round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52360" y="137160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3182CE"/>
                </a:solidFill>
                <a:latin typeface="Calibri"/>
              </a:rPr>
              <a:t>Scale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52360" y="1828800"/>
            <a:ext cx="4114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3182CE"/>
                </a:solidFill>
                <a:latin typeface="Calibri"/>
              </a:rPr>
              <a:t>527,361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52360" y="2487168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2D3748"/>
                </a:solidFill>
                <a:latin typeface="Calibri"/>
              </a:rPr>
              <a:t>PyPI packages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52360" y="2971800"/>
            <a:ext cx="4114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3182CE"/>
                </a:solidFill>
                <a:latin typeface="Calibri"/>
              </a:rPr>
              <a:t>28,243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52360" y="3630168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2D3748"/>
                </a:solidFill>
                <a:latin typeface="Calibri"/>
              </a:rPr>
              <a:t>linked to GitHub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52360" y="4114800"/>
            <a:ext cx="4114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3182CE"/>
                </a:solidFill>
                <a:latin typeface="Calibri"/>
              </a:rPr>
              <a:t>88,001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52360" y="4773168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2D3748"/>
                </a:solidFill>
                <a:latin typeface="Calibri"/>
              </a:rPr>
              <a:t>Diff-in-RDD (Broad tier)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52360" y="5257800"/>
            <a:ext cx="4114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3182CE"/>
                </a:solidFill>
                <a:latin typeface="Calibri"/>
              </a:rPr>
              <a:t>Sept '21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52360" y="5916168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2D3748"/>
                </a:solidFill>
                <a:latin typeface="Calibri"/>
              </a:rPr>
              <a:t>training-data cutoff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A0AEC0"/>
                </a:solidFill>
                <a:latin typeface="Calibri"/>
              </a:rPr>
              <a:t>Tuboly · Knowledge Wall · TDK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Design timeline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914400" y="3383280"/>
            <a:ext cx="10332720" cy="0"/>
          </a:xfrm>
          <a:prstGeom prst="line">
            <a:avLst/>
          </a:prstGeom>
          <a:ln w="31750">
            <a:solidFill>
              <a:srgbClr val="2D37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1121054" y="2788920"/>
            <a:ext cx="4753051" cy="50292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1054" y="2898648"/>
            <a:ext cx="4753051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3182CE"/>
                </a:solidFill>
                <a:latin typeface="Calibri"/>
              </a:rPr>
              <a:t>2018–2020 placebo cohorts</a:t>
            </a:r>
          </a:p>
        </p:txBody>
      </p:sp>
      <p:sp>
        <p:nvSpPr>
          <p:cNvPr id="7" name="Rectangle 6"/>
          <p:cNvSpPr/>
          <p:nvPr/>
        </p:nvSpPr>
        <p:spPr>
          <a:xfrm>
            <a:off x="8147304" y="2788920"/>
            <a:ext cx="3099816" cy="50292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47304" y="2898648"/>
            <a:ext cx="3099816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3182CE"/>
                </a:solidFill>
                <a:latin typeface="Calibri"/>
              </a:rPr>
              <a:t>Post-AI observation window</a:t>
            </a:r>
          </a:p>
        </p:txBody>
      </p:sp>
      <p:sp>
        <p:nvSpPr>
          <p:cNvPr id="9" name="Rectangle 8"/>
          <p:cNvSpPr/>
          <p:nvPr/>
        </p:nvSpPr>
        <p:spPr>
          <a:xfrm>
            <a:off x="6287414" y="2651760"/>
            <a:ext cx="619963" cy="731520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04534" y="1920240"/>
            <a:ext cx="1005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C53030"/>
                </a:solidFill>
                <a:latin typeface="Calibri"/>
              </a:rPr>
              <a:t>9-week
donut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597396" y="1920240"/>
            <a:ext cx="0" cy="2103120"/>
          </a:xfrm>
          <a:prstGeom prst="line">
            <a:avLst/>
          </a:prstGeom>
          <a:ln w="38100">
            <a:solidFill>
              <a:srgbClr val="C530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591556" y="1508760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C53030"/>
                </a:solidFill>
                <a:latin typeface="Calibri"/>
              </a:rPr>
              <a:t>Sept 2021 cutoff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147304" y="1920240"/>
            <a:ext cx="0" cy="2103120"/>
          </a:xfrm>
          <a:prstGeom prst="line">
            <a:avLst/>
          </a:prstGeom>
          <a:ln w="31750">
            <a:solidFill>
              <a:srgbClr val="3182CE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050024" y="1371600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3182CE"/>
                </a:solidFill>
                <a:latin typeface="Calibri"/>
              </a:rPr>
              <a:t>ChatGPT release
Nov 2022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597396" y="4206240"/>
            <a:ext cx="1549908" cy="0"/>
          </a:xfrm>
          <a:prstGeom prst="line">
            <a:avLst/>
          </a:prstGeom>
          <a:ln w="19050">
            <a:solidFill>
              <a:srgbClr val="2D37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597396" y="4343400"/>
            <a:ext cx="15499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2D3748"/>
                </a:solidFill>
                <a:latin typeface="Calibri"/>
              </a:rPr>
              <a:t>14-month latency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121054" y="3337560"/>
            <a:ext cx="0" cy="118872"/>
          </a:xfrm>
          <a:prstGeom prst="line">
            <a:avLst/>
          </a:prstGeom>
          <a:ln w="19050">
            <a:solidFill>
              <a:srgbClr val="2D37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89534" y="3520440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2D3748"/>
                </a:solidFill>
                <a:latin typeface="Calibri"/>
              </a:rPr>
              <a:t>Jan 2018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980944" y="3337560"/>
            <a:ext cx="0" cy="118872"/>
          </a:xfrm>
          <a:prstGeom prst="line">
            <a:avLst/>
          </a:prstGeom>
          <a:ln w="19050">
            <a:solidFill>
              <a:srgbClr val="2D37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249424" y="3520440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2D3748"/>
                </a:solidFill>
                <a:latin typeface="Calibri"/>
              </a:rPr>
              <a:t>2019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840833" y="3337560"/>
            <a:ext cx="0" cy="118872"/>
          </a:xfrm>
          <a:prstGeom prst="line">
            <a:avLst/>
          </a:prstGeom>
          <a:ln w="19050">
            <a:solidFill>
              <a:srgbClr val="2D37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109313" y="3520440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2D3748"/>
                </a:solidFill>
                <a:latin typeface="Calibri"/>
              </a:rPr>
              <a:t>2020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597396" y="3337560"/>
            <a:ext cx="0" cy="118872"/>
          </a:xfrm>
          <a:prstGeom prst="line">
            <a:avLst/>
          </a:prstGeom>
          <a:ln w="19050">
            <a:solidFill>
              <a:srgbClr val="2D37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865876" y="3520440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2D3748"/>
                </a:solidFill>
                <a:latin typeface="Calibri"/>
              </a:rPr>
              <a:t>Sept 2021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147304" y="3337560"/>
            <a:ext cx="0" cy="118872"/>
          </a:xfrm>
          <a:prstGeom prst="line">
            <a:avLst/>
          </a:prstGeom>
          <a:ln w="19050">
            <a:solidFill>
              <a:srgbClr val="2D37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415784" y="3520440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2D3748"/>
                </a:solidFill>
                <a:latin typeface="Calibri"/>
              </a:rPr>
              <a:t>Nov 2022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1247120" y="3337560"/>
            <a:ext cx="0" cy="118872"/>
          </a:xfrm>
          <a:prstGeom prst="line">
            <a:avLst/>
          </a:prstGeom>
          <a:ln w="19050">
            <a:solidFill>
              <a:srgbClr val="2D37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0515600" y="3520440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2D3748"/>
                </a:solidFill>
                <a:latin typeface="Calibri"/>
              </a:rPr>
              <a:t>Jan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303520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 i="1">
                <a:solidFill>
                  <a:srgbClr val="2D3748"/>
                </a:solidFill>
                <a:latin typeface="Calibri"/>
              </a:rPr>
              <a:t>The September 2021 cutoff is an invisible property of training data; libraries released a week before or after look identical to a developer in 2021. No one could have anticipated ChatGPT, released 14 months later.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Identification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>
                <a:solidFill>
                  <a:srgbClr val="3182CE"/>
                </a:solidFill>
                <a:latin typeface="Calibri"/>
              </a:rPr>
              <a:t>•  </a:t>
            </a:r>
            <a:r>
              <a:rPr sz="1700" b="1">
                <a:solidFill>
                  <a:srgbClr val="2D3748"/>
                </a:solidFill>
                <a:latin typeface="Calibri"/>
              </a:rPr>
              <a:t>As-if random assignment:</a:t>
            </a:r>
            <a:r>
              <a:rPr sz="1700">
                <a:solidFill>
                  <a:srgbClr val="2D3748"/>
                </a:solidFill>
                <a:latin typeface="Calibri"/>
              </a:rPr>
              <a:t> the exact week of release relative to an invisible training cutoff is exogenous to the library itself (McCrary density test: p = 0.43).</a:t>
            </a:r>
          </a:p>
          <a:p>
            <a:pPr algn="l">
              <a:lnSpc>
                <a:spcPct val="140000"/>
              </a:lnSpc>
            </a:pPr>
            <a:r>
              <a:rPr sz="1700">
                <a:solidFill>
                  <a:srgbClr val="3182CE"/>
                </a:solidFill>
                <a:latin typeface="Calibri"/>
              </a:rPr>
              <a:t>•  </a:t>
            </a:r>
            <a:r>
              <a:rPr sz="1700" b="1">
                <a:solidFill>
                  <a:srgbClr val="2D3748"/>
                </a:solidFill>
                <a:latin typeface="Calibri"/>
              </a:rPr>
              <a:t>RDD specifics:</a:t>
            </a:r>
            <a:r>
              <a:rPr sz="1700">
                <a:solidFill>
                  <a:srgbClr val="2D3748"/>
                </a:solidFill>
                <a:latin typeface="Calibri"/>
              </a:rPr>
              <a:t> bandwidth h = 13 weeks; local-linear regression with triangular kernel; 9-week donut excludes the Aug–Sept 2021 window of ambiguous training inclusion.</a:t>
            </a:r>
          </a:p>
          <a:p>
            <a:pPr algn="l">
              <a:lnSpc>
                <a:spcPct val="140000"/>
              </a:lnSpc>
            </a:pPr>
            <a:r>
              <a:rPr sz="1700">
                <a:solidFill>
                  <a:srgbClr val="3182CE"/>
                </a:solidFill>
                <a:latin typeface="Calibri"/>
              </a:rPr>
              <a:t>•  </a:t>
            </a:r>
            <a:r>
              <a:rPr sz="1700" b="1">
                <a:solidFill>
                  <a:srgbClr val="2D3748"/>
                </a:solidFill>
                <a:latin typeface="Calibri"/>
              </a:rPr>
              <a:t>Inference:</a:t>
            </a:r>
            <a:r>
              <a:rPr sz="1700">
                <a:solidFill>
                  <a:srgbClr val="2D3748"/>
                </a:solidFill>
                <a:latin typeface="Calibri"/>
              </a:rPr>
              <a:t> cluster-robust standard errors at the year-by-week level (~72 clusters); bias-corrected CIs via rdrobust.</a:t>
            </a:r>
          </a:p>
          <a:p>
            <a:pPr algn="l">
              <a:lnSpc>
                <a:spcPct val="140000"/>
              </a:lnSpc>
            </a:pPr>
            <a:r>
              <a:rPr sz="1700">
                <a:solidFill>
                  <a:srgbClr val="3182CE"/>
                </a:solidFill>
                <a:latin typeface="Calibri"/>
              </a:rPr>
              <a:t>•  </a:t>
            </a:r>
            <a:r>
              <a:rPr sz="1700" b="1">
                <a:solidFill>
                  <a:srgbClr val="2D3748"/>
                </a:solidFill>
                <a:latin typeface="Calibri"/>
              </a:rPr>
              <a:t>Diff-in-RDD:</a:t>
            </a:r>
            <a:r>
              <a:rPr sz="1700">
                <a:solidFill>
                  <a:srgbClr val="2D3748"/>
                </a:solidFill>
                <a:latin typeface="Calibri"/>
              </a:rPr>
              <a:t> 2021 discontinuity minus the mean placebo discontinuity (2018–2020) isolates the LLM-specific effect from calendar seasonality.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A0AEC0"/>
                </a:solidFill>
                <a:latin typeface="Calibri"/>
              </a:rPr>
              <a:t>Tuboly · Knowledge Wall · TDK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Validity diagnostics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>
                <a:solidFill>
                  <a:srgbClr val="3182CE"/>
                </a:solidFill>
                <a:latin typeface="Calibri"/>
              </a:rPr>
              <a:t>•  </a:t>
            </a:r>
            <a:r>
              <a:rPr sz="1800" b="1">
                <a:solidFill>
                  <a:srgbClr val="2D3748"/>
                </a:solidFill>
                <a:latin typeface="Calibri"/>
              </a:rPr>
              <a:t>No manipulation:</a:t>
            </a:r>
            <a:r>
              <a:rPr sz="1800">
                <a:solidFill>
                  <a:srgbClr val="2D3748"/>
                </a:solidFill>
                <a:latin typeface="Calibri"/>
              </a:rPr>
              <a:t> McCrary density smooth across the cutoff (p = 0.43) — developers cannot time their release to an unannounced boundary.</a:t>
            </a:r>
          </a:p>
          <a:p>
            <a:pPr algn="l">
              <a:lnSpc>
                <a:spcPct val="150000"/>
              </a:lnSpc>
            </a:pPr>
            <a:r>
              <a:rPr sz="1800">
                <a:solidFill>
                  <a:srgbClr val="3182CE"/>
                </a:solidFill>
                <a:latin typeface="Calibri"/>
              </a:rPr>
              <a:t>•  </a:t>
            </a:r>
            <a:r>
              <a:rPr sz="1800" b="1">
                <a:solidFill>
                  <a:srgbClr val="2D3748"/>
                </a:solidFill>
                <a:latin typeface="Calibri"/>
              </a:rPr>
              <a:t>Covariate balance, pre-AI:</a:t>
            </a:r>
            <a:r>
              <a:rPr sz="1800">
                <a:solidFill>
                  <a:srgbClr val="2D3748"/>
                </a:solidFill>
                <a:latin typeface="Calibri"/>
              </a:rPr>
              <a:t> post-cutoff libraries actually start ahead on pre-ChatGPT downloads (a seasonal headwind for our hypothesis) — so the post-AI suppression is a conservative estimate.</a:t>
            </a:r>
          </a:p>
          <a:p>
            <a:pPr algn="l">
              <a:lnSpc>
                <a:spcPct val="150000"/>
              </a:lnSpc>
            </a:pPr>
            <a:r>
              <a:rPr sz="1800">
                <a:solidFill>
                  <a:srgbClr val="3182CE"/>
                </a:solidFill>
                <a:latin typeface="Calibri"/>
              </a:rPr>
              <a:t>•  </a:t>
            </a:r>
            <a:r>
              <a:rPr sz="1800" b="1">
                <a:solidFill>
                  <a:srgbClr val="2D3748"/>
                </a:solidFill>
                <a:latin typeface="Calibri"/>
              </a:rPr>
              <a:t>Placebo years:</a:t>
            </a:r>
            <a:r>
              <a:rPr sz="1800">
                <a:solidFill>
                  <a:srgbClr val="2D3748"/>
                </a:solidFill>
                <a:latin typeface="Calibri"/>
              </a:rPr>
              <a:t> 2018–2020 cohorts show no discontinuity at the same calendar position, ruling out seasonality as the driver.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A0AEC0"/>
                </a:solidFill>
                <a:latin typeface="Calibri"/>
              </a:rPr>
              <a:t>Tuboly · Knowledge Wall · TDK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37160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0" i="0">
                <a:solidFill>
                  <a:srgbClr val="2D3748"/>
                </a:solidFill>
                <a:latin typeface="Calibri"/>
              </a:rPr>
              <a:t>Post-cutoff libraries have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194560"/>
            <a:ext cx="11064240" cy="2560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0" b="1" i="0">
                <a:solidFill>
                  <a:srgbClr val="C53030"/>
                </a:solidFill>
                <a:latin typeface="Calibri"/>
              </a:rPr>
              <a:t>+430%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84632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0" i="0">
                <a:solidFill>
                  <a:srgbClr val="2D3748"/>
                </a:solidFill>
                <a:latin typeface="Calibri"/>
              </a:rPr>
              <a:t>fewer weekly downloads by January 2026.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943600"/>
            <a:ext cx="94183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A0AEC0"/>
                </a:solidFill>
                <a:latin typeface="Calibri"/>
              </a:rPr>
              <a:t>Ratio of pre-cutoff to post-cutoff downloads (Jan 2026).  Diff-in-RDD: p = 0.001 (Broad), p = 0.002 (Successful), baseline-adjusted, cluster-robust 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Activation dynamics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4572000" cy="502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>
                <a:solidFill>
                  <a:srgbClr val="3182CE"/>
                </a:solidFill>
                <a:latin typeface="Calibri"/>
              </a:rPr>
              <a:t>•  </a:t>
            </a:r>
            <a:r>
              <a:rPr sz="1500" b="1">
                <a:solidFill>
                  <a:srgbClr val="2D3748"/>
                </a:solidFill>
                <a:latin typeface="Calibri"/>
              </a:rPr>
              <a:t>Dormant:</a:t>
            </a:r>
            <a:r>
              <a:rPr sz="1500">
                <a:solidFill>
                  <a:srgbClr val="2D3748"/>
                </a:solidFill>
                <a:latin typeface="Calibri"/>
              </a:rPr>
              <a:t> gap flat at ~28% seasonal baseline before Nov 2022.</a:t>
            </a:r>
          </a:p>
          <a:p>
            <a:pPr algn="l">
              <a:lnSpc>
                <a:spcPct val="140000"/>
              </a:lnSpc>
            </a:pPr>
            <a:r>
              <a:rPr sz="1500">
                <a:solidFill>
                  <a:srgbClr val="3182CE"/>
                </a:solidFill>
                <a:latin typeface="Calibri"/>
              </a:rPr>
              <a:t>•  </a:t>
            </a:r>
            <a:r>
              <a:rPr sz="1500" b="1">
                <a:solidFill>
                  <a:srgbClr val="2D3748"/>
                </a:solidFill>
                <a:latin typeface="Calibri"/>
              </a:rPr>
              <a:t>Activation:</a:t>
            </a:r>
            <a:r>
              <a:rPr sz="1500">
                <a:solidFill>
                  <a:srgbClr val="2D3748"/>
                </a:solidFill>
                <a:latin typeface="Calibri"/>
              </a:rPr>
              <a:t> discontinuity emerges only after ChatGPT's mass adoption.</a:t>
            </a:r>
          </a:p>
          <a:p>
            <a:pPr algn="l">
              <a:lnSpc>
                <a:spcPct val="140000"/>
              </a:lnSpc>
            </a:pPr>
            <a:r>
              <a:rPr sz="1500">
                <a:solidFill>
                  <a:srgbClr val="3182CE"/>
                </a:solidFill>
                <a:latin typeface="Calibri"/>
              </a:rPr>
              <a:t>•  </a:t>
            </a:r>
            <a:r>
              <a:rPr sz="1500" b="1">
                <a:solidFill>
                  <a:srgbClr val="2D3748"/>
                </a:solidFill>
                <a:latin typeface="Calibri"/>
              </a:rPr>
              <a:t>Trajectory:</a:t>
            </a:r>
            <a:r>
              <a:rPr sz="1500">
                <a:solidFill>
                  <a:srgbClr val="2D3748"/>
                </a:solidFill>
                <a:latin typeface="Calibri"/>
              </a:rPr>
              <a:t> +136% at 12 months, +287% at 24 months, +430% by Jan 2026.</a:t>
            </a:r>
          </a:p>
          <a:p>
            <a:pPr algn="l">
              <a:lnSpc>
                <a:spcPct val="140000"/>
              </a:lnSpc>
            </a:pPr>
            <a:r>
              <a:rPr sz="1500">
                <a:solidFill>
                  <a:srgbClr val="3182CE"/>
                </a:solidFill>
                <a:latin typeface="Calibri"/>
              </a:rPr>
              <a:t>•  </a:t>
            </a:r>
            <a:r>
              <a:rPr sz="1500" b="1">
                <a:solidFill>
                  <a:srgbClr val="2D3748"/>
                </a:solidFill>
                <a:latin typeface="Calibri"/>
              </a:rPr>
              <a:t>Shaded band:</a:t>
            </a:r>
            <a:r>
              <a:rPr sz="1500">
                <a:solidFill>
                  <a:srgbClr val="2D3748"/>
                </a:solidFill>
                <a:latin typeface="Calibri"/>
              </a:rPr>
              <a:t> 95% bootstrap confidence interval.</a:t>
            </a:r>
          </a:p>
        </p:txBody>
      </p:sp>
      <p:pic>
        <p:nvPicPr>
          <p:cNvPr id="5" name="Picture 4" descr="normalized_diffusion_gap_pyp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280160"/>
            <a:ext cx="6400800" cy="3200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A0AEC0"/>
                </a:solidFill>
                <a:latin typeface="Calibri"/>
              </a:rPr>
              <a:t>Tuboly · Knowledge Wall · TDK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Mechanism: GitHub imports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5486400" cy="5120640"/>
          </a:xfrm>
          <a:prstGeom prst="roundRect">
            <a:avLst/>
          </a:prstGeom>
          <a:solidFill>
            <a:srgbClr val="ED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D3748"/>
                </a:solidFill>
                <a:latin typeface="Calibri"/>
              </a:rPr>
              <a:t>Directional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920240"/>
            <a:ext cx="512064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>
                <a:solidFill>
                  <a:srgbClr val="3182CE"/>
                </a:solidFill>
                <a:latin typeface="Calibri"/>
              </a:rPr>
              <a:t>•  </a:t>
            </a:r>
            <a:r>
              <a:rPr sz="1400" b="1">
                <a:solidFill>
                  <a:srgbClr val="2D3748"/>
                </a:solidFill>
                <a:latin typeface="Calibri"/>
              </a:rPr>
              <a:t>Matched subsample,</a:t>
            </a:r>
            <a:r>
              <a:rPr sz="1400">
                <a:solidFill>
                  <a:srgbClr val="2D3748"/>
                </a:solidFill>
                <a:latin typeface="Calibri"/>
              </a:rPr>
              <a:t> N = 6,582 in the Diff-in-RDD.</a:t>
            </a:r>
          </a:p>
          <a:p>
            <a:pPr algn="l">
              <a:lnSpc>
                <a:spcPct val="140000"/>
              </a:lnSpc>
            </a:pPr>
            <a:r>
              <a:rPr sz="1400">
                <a:solidFill>
                  <a:srgbClr val="3182CE"/>
                </a:solidFill>
                <a:latin typeface="Calibri"/>
              </a:rPr>
              <a:t>•  </a:t>
            </a:r>
            <a:r>
              <a:rPr sz="1400" b="1">
                <a:solidFill>
                  <a:srgbClr val="2D3748"/>
                </a:solidFill>
                <a:latin typeface="Calibri"/>
              </a:rPr>
              <a:t>All-time imports:</a:t>
            </a:r>
            <a:r>
              <a:rPr sz="1400">
                <a:solidFill>
                  <a:srgbClr val="2D3748"/>
                </a:solidFill>
                <a:latin typeface="Calibri"/>
              </a:rPr>
              <a:t> +2.12 log-point jump (baseline-adjusted, p = 0.022) — post-cutoff libraries accumulate MORE GitHub imports, opposite sign to PyPI.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188720"/>
            <a:ext cx="5486400" cy="5120640"/>
          </a:xfrm>
          <a:prstGeom prst="round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371600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3182CE"/>
                </a:solidFill>
                <a:latin typeface="Calibri"/>
              </a:rPr>
              <a:t>Interpretation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1920240"/>
            <a:ext cx="512064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>
                <a:solidFill>
                  <a:srgbClr val="3182CE"/>
                </a:solidFill>
                <a:latin typeface="Calibri"/>
              </a:rPr>
              <a:t>•  </a:t>
            </a:r>
            <a:r>
              <a:rPr sz="1400" b="1">
                <a:solidFill>
                  <a:srgbClr val="2D3748"/>
                </a:solidFill>
                <a:latin typeface="Calibri"/>
              </a:rPr>
              <a:t>Flow vs. stock:</a:t>
            </a:r>
            <a:r>
              <a:rPr sz="1400">
                <a:solidFill>
                  <a:srgbClr val="2D3748"/>
                </a:solidFill>
                <a:latin typeface="Calibri"/>
              </a:rPr>
              <a:t> PyPI downloads are a flow; GitHub imports are a stock of existing code.</a:t>
            </a:r>
          </a:p>
          <a:p>
            <a:pPr algn="l">
              <a:lnSpc>
                <a:spcPct val="140000"/>
              </a:lnSpc>
            </a:pPr>
            <a:r>
              <a:rPr sz="1400">
                <a:solidFill>
                  <a:srgbClr val="3182CE"/>
                </a:solidFill>
                <a:latin typeface="Calibri"/>
              </a:rPr>
              <a:t>•  </a:t>
            </a:r>
            <a:r>
              <a:rPr sz="1400" b="1">
                <a:solidFill>
                  <a:srgbClr val="2D3748"/>
                </a:solidFill>
                <a:latin typeface="Calibri"/>
              </a:rPr>
              <a:t>Displacement:</a:t>
            </a:r>
            <a:r>
              <a:rPr sz="1400">
                <a:solidFill>
                  <a:srgbClr val="2D3748"/>
                </a:solidFill>
                <a:latin typeface="Calibri"/>
              </a:rPr>
              <a:t> new libraries displace old ones in flow, but existing repos keep their old imports.</a:t>
            </a:r>
          </a:p>
          <a:p>
            <a:pPr algn="l">
              <a:lnSpc>
                <a:spcPct val="140000"/>
              </a:lnSpc>
            </a:pPr>
            <a:r>
              <a:rPr sz="1400">
                <a:solidFill>
                  <a:srgbClr val="3182CE"/>
                </a:solidFill>
                <a:latin typeface="Calibri"/>
              </a:rPr>
              <a:t>•  </a:t>
            </a:r>
            <a:r>
              <a:rPr sz="1400" b="1">
                <a:solidFill>
                  <a:srgbClr val="2D3748"/>
                </a:solidFill>
                <a:latin typeface="Calibri"/>
              </a:rPr>
              <a:t>LLM steering:</a:t>
            </a:r>
            <a:r>
              <a:rPr sz="1400">
                <a:solidFill>
                  <a:srgbClr val="2D3748"/>
                </a:solidFill>
                <a:latin typeface="Calibri"/>
              </a:rPr>
              <a:t> the LLM pushes the FIRST try, not every line of legacy code.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A0AEC0"/>
                </a:solidFill>
                <a:latin typeface="Calibri"/>
              </a:rPr>
              <a:t>Tuboly · Knowledge Wall · TDK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Moderation &amp;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>
                <a:solidFill>
                  <a:srgbClr val="3182CE"/>
                </a:solidFill>
                <a:latin typeface="Calibri"/>
              </a:rPr>
              <a:t>•  </a:t>
            </a:r>
            <a:r>
              <a:rPr sz="1700" b="1">
                <a:solidFill>
                  <a:srgbClr val="2D3748"/>
                </a:solidFill>
                <a:latin typeface="Calibri"/>
              </a:rPr>
              <a:t>AI-exposure heterogeneity:</a:t>
            </a:r>
            <a:r>
              <a:rPr sz="1700">
                <a:solidFill>
                  <a:srgbClr val="2D3748"/>
                </a:solidFill>
                <a:latin typeface="Calibri"/>
              </a:rPr>
              <a:t> directional but non-significant (p = 0.18) — suggests a broad, systemic effect rather than a subset-specific channel.</a:t>
            </a:r>
          </a:p>
          <a:p>
            <a:pPr algn="l">
              <a:lnSpc>
                <a:spcPct val="140000"/>
              </a:lnSpc>
            </a:pPr>
            <a:r>
              <a:rPr sz="1700">
                <a:solidFill>
                  <a:srgbClr val="3182CE"/>
                </a:solidFill>
                <a:latin typeface="Calibri"/>
              </a:rPr>
              <a:t>•  </a:t>
            </a:r>
            <a:r>
              <a:rPr sz="1700" b="1">
                <a:solidFill>
                  <a:srgbClr val="2D3748"/>
                </a:solidFill>
                <a:latin typeface="Calibri"/>
              </a:rPr>
              <a:t>Ecosystem:</a:t>
            </a:r>
            <a:r>
              <a:rPr sz="1700">
                <a:solidFill>
                  <a:srgbClr val="2D3748"/>
                </a:solidFill>
                <a:latin typeface="Calibri"/>
              </a:rPr>
              <a:t> Python only. Rust, JS, R may show different magnitudes.</a:t>
            </a:r>
          </a:p>
          <a:p>
            <a:pPr algn="l">
              <a:lnSpc>
                <a:spcPct val="140000"/>
              </a:lnSpc>
            </a:pPr>
            <a:r>
              <a:rPr sz="1700">
                <a:solidFill>
                  <a:srgbClr val="3182CE"/>
                </a:solidFill>
                <a:latin typeface="Calibri"/>
              </a:rPr>
              <a:t>•  </a:t>
            </a:r>
            <a:r>
              <a:rPr sz="1700" b="1">
                <a:solidFill>
                  <a:srgbClr val="2D3748"/>
                </a:solidFill>
                <a:latin typeface="Calibri"/>
              </a:rPr>
              <a:t>One cutoff:</a:t>
            </a:r>
            <a:r>
              <a:rPr sz="1700">
                <a:solidFill>
                  <a:srgbClr val="2D3748"/>
                </a:solidFill>
                <a:latin typeface="Calibri"/>
              </a:rPr>
              <a:t> effects estimated around September 2021; newer-model cutoffs would require separate estimation.</a:t>
            </a:r>
          </a:p>
          <a:p>
            <a:pPr algn="l">
              <a:lnSpc>
                <a:spcPct val="140000"/>
              </a:lnSpc>
            </a:pPr>
            <a:r>
              <a:rPr sz="1700">
                <a:solidFill>
                  <a:srgbClr val="3182CE"/>
                </a:solidFill>
                <a:latin typeface="Calibri"/>
              </a:rPr>
              <a:t>•  </a:t>
            </a:r>
            <a:r>
              <a:rPr sz="1700" b="1">
                <a:solidFill>
                  <a:srgbClr val="2D3748"/>
                </a:solidFill>
                <a:latin typeface="Calibri"/>
              </a:rPr>
              <a:t>SUTVA:</a:t>
            </a:r>
            <a:r>
              <a:rPr sz="1700">
                <a:solidFill>
                  <a:srgbClr val="2D3748"/>
                </a:solidFill>
                <a:latin typeface="Calibri"/>
              </a:rPr>
              <a:t> the gap reflects direct suppression plus substitution toward established tools — both are part of the LLM effect.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A0AEC0"/>
                </a:solidFill>
                <a:latin typeface="Calibri"/>
              </a:rPr>
              <a:t>Tuboly · Knowledge Wall · TDK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Implications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11064240" cy="1371600"/>
          </a:xfrm>
          <a:prstGeom prst="roundRect">
            <a:avLst/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C53030"/>
                </a:solidFill>
                <a:latin typeface="Calibri"/>
              </a:rPr>
              <a:t>The Knowledge Wall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74519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2D3748"/>
                </a:solidFill>
                <a:latin typeface="Calibri"/>
              </a:rPr>
              <a:t>Training-data cutoffs act as a functional barrier for newly released software tools.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017520"/>
            <a:ext cx="110642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>
                <a:solidFill>
                  <a:srgbClr val="3182CE"/>
                </a:solidFill>
                <a:latin typeface="Calibri"/>
              </a:rPr>
              <a:t>•  </a:t>
            </a:r>
            <a:r>
              <a:rPr sz="1600" b="1">
                <a:solidFill>
                  <a:srgbClr val="2D3748"/>
                </a:solidFill>
                <a:latin typeface="Calibri"/>
              </a:rPr>
              <a:t>Durable advantage:</a:t>
            </a:r>
            <a:r>
              <a:rPr sz="1600">
                <a:solidFill>
                  <a:srgbClr val="2D3748"/>
                </a:solidFill>
                <a:latin typeface="Calibri"/>
              </a:rPr>
              <a:t> tools embedded in LLM weights gain persistent visibility.</a:t>
            </a:r>
          </a:p>
          <a:p>
            <a:pPr algn="l">
              <a:lnSpc>
                <a:spcPct val="140000"/>
              </a:lnSpc>
            </a:pPr>
            <a:r>
              <a:rPr sz="1600">
                <a:solidFill>
                  <a:srgbClr val="3182CE"/>
                </a:solidFill>
                <a:latin typeface="Calibri"/>
              </a:rPr>
              <a:t>•  </a:t>
            </a:r>
            <a:r>
              <a:rPr sz="1600" b="1">
                <a:solidFill>
                  <a:srgbClr val="2D3748"/>
                </a:solidFill>
                <a:latin typeface="Calibri"/>
              </a:rPr>
              <a:t>Spillovers:</a:t>
            </a:r>
            <a:r>
              <a:rPr sz="1600">
                <a:solidFill>
                  <a:srgbClr val="2D3748"/>
                </a:solidFill>
                <a:latin typeface="Calibri"/>
              </a:rPr>
              <a:t> same logic plausibly applies to research papers, blog posts, documentation.</a:t>
            </a:r>
          </a:p>
          <a:p>
            <a:pPr algn="l">
              <a:lnSpc>
                <a:spcPct val="140000"/>
              </a:lnSpc>
            </a:pPr>
            <a:r>
              <a:rPr sz="1600">
                <a:solidFill>
                  <a:srgbClr val="3182CE"/>
                </a:solidFill>
                <a:latin typeface="Calibri"/>
              </a:rPr>
              <a:t>•  </a:t>
            </a:r>
            <a:r>
              <a:rPr sz="1600" b="1">
                <a:solidFill>
                  <a:srgbClr val="2D3748"/>
                </a:solidFill>
                <a:latin typeface="Calibri"/>
              </a:rPr>
              <a:t>Policy:</a:t>
            </a:r>
            <a:r>
              <a:rPr sz="1600">
                <a:solidFill>
                  <a:srgbClr val="2D3748"/>
                </a:solidFill>
                <a:latin typeface="Calibri"/>
              </a:rPr>
              <a:t> raises questions about how AI systems update their internal knowledge and what the costs are of being ‘outside the wall’.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A0AEC0"/>
                </a:solidFill>
                <a:latin typeface="Calibri"/>
              </a:rPr>
              <a:t>Tuboly · Knowledge Wall · TDK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800">
                <a:solidFill>
                  <a:srgbClr val="3182CE"/>
                </a:solidFill>
                <a:latin typeface="Calibri"/>
              </a:rPr>
              <a:t>•  </a:t>
            </a:r>
            <a:r>
              <a:rPr sz="1800">
                <a:solidFill>
                  <a:srgbClr val="2D3748"/>
                </a:solidFill>
                <a:latin typeface="Calibri"/>
              </a:rPr>
              <a:t>We observe outcomes (downloads, imports), not LLM usage directly.</a:t>
            </a:r>
          </a:p>
          <a:p>
            <a:pPr algn="l">
              <a:lnSpc>
                <a:spcPct val="160000"/>
              </a:lnSpc>
            </a:pPr>
            <a:r>
              <a:rPr sz="1800">
                <a:solidFill>
                  <a:srgbClr val="3182CE"/>
                </a:solidFill>
                <a:latin typeface="Calibri"/>
              </a:rPr>
              <a:t>•  </a:t>
            </a:r>
            <a:r>
              <a:rPr sz="1800">
                <a:solidFill>
                  <a:srgbClr val="2D3748"/>
                </a:solidFill>
                <a:latin typeface="Calibri"/>
              </a:rPr>
              <a:t>AI systems are evolving — web search and retrieval may erode the wall over time.</a:t>
            </a:r>
          </a:p>
          <a:p>
            <a:pPr algn="l">
              <a:lnSpc>
                <a:spcPct val="160000"/>
              </a:lnSpc>
            </a:pPr>
            <a:r>
              <a:rPr sz="1800">
                <a:solidFill>
                  <a:srgbClr val="3182CE"/>
                </a:solidFill>
                <a:latin typeface="Calibri"/>
              </a:rPr>
              <a:t>•  </a:t>
            </a:r>
            <a:r>
              <a:rPr sz="1800">
                <a:solidFill>
                  <a:srgbClr val="2D3748"/>
                </a:solidFill>
                <a:latin typeface="Calibri"/>
              </a:rPr>
              <a:t>One language, one cutoff, one year of treatment — external validity is local.</a:t>
            </a:r>
          </a:p>
          <a:p>
            <a:pPr algn="l">
              <a:lnSpc>
                <a:spcPct val="160000"/>
              </a:lnSpc>
            </a:pPr>
            <a:r>
              <a:rPr sz="1800">
                <a:solidFill>
                  <a:srgbClr val="3182CE"/>
                </a:solidFill>
                <a:latin typeface="Calibri"/>
              </a:rPr>
              <a:t>•  </a:t>
            </a:r>
            <a:r>
              <a:rPr sz="1800">
                <a:solidFill>
                  <a:srgbClr val="2D3748"/>
                </a:solidFill>
                <a:latin typeface="Calibri"/>
              </a:rPr>
              <a:t>Running variable is release date; metadata errors could attenuate estimates.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A0AEC0"/>
                </a:solidFill>
                <a:latin typeface="Calibri"/>
              </a:rPr>
              <a:t>Tuboly · Knowledge Wall · TDK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11064240" cy="2011680"/>
          </a:xfrm>
          <a:prstGeom prst="roundRect">
            <a:avLst/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07040" cy="1828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C53030"/>
                </a:solidFill>
                <a:latin typeface="Calibri"/>
              </a:rPr>
              <a:t>A +430% diffusion gap by January 2026, activated only after ChatGPT,
with no placebo discontinuities — a clean quasi-experiment
for collective narrowing in the age of LLMs.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749039"/>
            <a:ext cx="1106424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>
                <a:solidFill>
                  <a:srgbClr val="3182CE"/>
                </a:solidFill>
                <a:latin typeface="Calibri"/>
              </a:rPr>
              <a:t>•  </a:t>
            </a:r>
            <a:r>
              <a:rPr sz="1800">
                <a:solidFill>
                  <a:srgbClr val="2D3748"/>
                </a:solidFill>
                <a:latin typeface="Calibri"/>
              </a:rPr>
              <a:t>LLMs steer adoption toward tools already in training data.</a:t>
            </a:r>
          </a:p>
          <a:p>
            <a:pPr algn="l">
              <a:lnSpc>
                <a:spcPct val="150000"/>
              </a:lnSpc>
            </a:pPr>
            <a:r>
              <a:rPr sz="1800">
                <a:solidFill>
                  <a:srgbClr val="3182CE"/>
                </a:solidFill>
                <a:latin typeface="Calibri"/>
              </a:rPr>
              <a:t>•  </a:t>
            </a:r>
            <a:r>
              <a:rPr sz="1800">
                <a:solidFill>
                  <a:srgbClr val="2D3748"/>
                </a:solidFill>
                <a:latin typeface="Calibri"/>
              </a:rPr>
              <a:t>Libraries released post-cutoff face persistent disadvantages.</a:t>
            </a:r>
          </a:p>
          <a:p>
            <a:pPr algn="l">
              <a:lnSpc>
                <a:spcPct val="150000"/>
              </a:lnSpc>
            </a:pPr>
            <a:r>
              <a:rPr sz="1800">
                <a:solidFill>
                  <a:srgbClr val="3182CE"/>
                </a:solidFill>
                <a:latin typeface="Calibri"/>
              </a:rPr>
              <a:t>•  </a:t>
            </a:r>
            <a:r>
              <a:rPr sz="1800">
                <a:solidFill>
                  <a:srgbClr val="2D3748"/>
                </a:solidFill>
                <a:latin typeface="Calibri"/>
              </a:rPr>
              <a:t>The Knowledge Wall is real, measurable, and widening.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37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  <a:latin typeface="Calibri"/>
              </a:rPr>
              <a:t>Thank you.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103120"/>
            <a:ext cx="11247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800" b="0" i="0">
                <a:solidFill>
                  <a:srgbClr val="A0AEC0"/>
                </a:solidFill>
                <a:latin typeface="Calibri"/>
              </a:rPr>
              <a:t>Questions?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371600" y="3840480"/>
            <a:ext cx="9418320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551676" y="3611880"/>
            <a:ext cx="0" cy="457200"/>
          </a:xfrm>
          <a:prstGeom prst="line">
            <a:avLst/>
          </a:prstGeom>
          <a:ln w="25400">
            <a:solidFill>
              <a:srgbClr val="C530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7964424" y="3611880"/>
            <a:ext cx="0" cy="457200"/>
          </a:xfrm>
          <a:prstGeom prst="line">
            <a:avLst/>
          </a:prstGeom>
          <a:ln w="25400">
            <a:solidFill>
              <a:srgbClr val="3182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0080" y="4160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2018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20156" y="4160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Sept '21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32904" y="4160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Nov '22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4160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Jan '26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029200"/>
            <a:ext cx="112471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0" b="1" i="0">
                <a:solidFill>
                  <a:srgbClr val="C53030"/>
                </a:solidFill>
                <a:latin typeface="Calibri"/>
              </a:rPr>
              <a:t>+430%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17220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Calibri"/>
              </a:rPr>
              <a:t>diffusion gap by Jan 2026.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37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11247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  <a:latin typeface="Calibri"/>
              </a:rPr>
              <a:t>Appendix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A1.  Summary statistics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280160" y="1371600"/>
          <a:ext cx="96012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0300"/>
                <a:gridCol w="2400300"/>
                <a:gridCol w="2400300"/>
                <a:gridCol w="2400300"/>
              </a:tblGrid>
              <a:tr h="57912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Horizon</a:t>
                      </a:r>
                    </a:p>
                  </a:txBody>
                  <a:tcPr marL="60000" marR="60000" marT="30000" marB="30000">
                    <a:solidFill>
                      <a:srgbClr val="2D374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Pre-cutoff mean</a:t>
                      </a:r>
                    </a:p>
                  </a:txBody>
                  <a:tcPr marL="60000" marR="60000" marT="30000" marB="30000">
                    <a:solidFill>
                      <a:srgbClr val="2D374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Post-cutoff mean</a:t>
                      </a:r>
                    </a:p>
                  </a:txBody>
                  <a:tcPr marL="60000" marR="60000" marT="30000" marB="30000">
                    <a:solidFill>
                      <a:srgbClr val="2D374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Δ%</a:t>
                      </a:r>
                    </a:p>
                  </a:txBody>
                  <a:tcPr marL="60000" marR="60000" marT="30000" marB="30000">
                    <a:solidFill>
                      <a:srgbClr val="2D3748"/>
                    </a:solidFill>
                  </a:tcPr>
                </a:tc>
              </a:tr>
              <a:tr h="57912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D3748"/>
                          </a:solidFill>
                          <a:latin typeface="Calibri"/>
                        </a:rPr>
                        <a:t>ChatGPT + 6 months</a:t>
                      </a:r>
                    </a:p>
                  </a:txBody>
                  <a:tcPr marL="60000" marR="60000" marT="30000" marB="30000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D3748"/>
                          </a:solidFill>
                          <a:latin typeface="Calibri"/>
                        </a:rPr>
                        <a:t>1,467</a:t>
                      </a:r>
                    </a:p>
                  </a:txBody>
                  <a:tcPr marL="60000" marR="60000" marT="30000" marB="30000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D3748"/>
                          </a:solidFill>
                          <a:latin typeface="Calibri"/>
                        </a:rPr>
                        <a:t>630</a:t>
                      </a:r>
                    </a:p>
                  </a:txBody>
                  <a:tcPr marL="60000" marR="60000" marT="30000" marB="30000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D3748"/>
                          </a:solidFill>
                          <a:latin typeface="Calibri"/>
                        </a:rPr>
                        <a:t>+133%</a:t>
                      </a:r>
                    </a:p>
                  </a:txBody>
                  <a:tcPr marL="60000" marR="60000" marT="30000" marB="30000">
                    <a:solidFill>
                      <a:srgbClr val="FAFAFA"/>
                    </a:solidFill>
                  </a:tcPr>
                </a:tc>
              </a:tr>
              <a:tr h="57912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D3748"/>
                          </a:solidFill>
                          <a:latin typeface="Calibri"/>
                        </a:rPr>
                        <a:t>ChatGPT + 12 months</a:t>
                      </a:r>
                    </a:p>
                  </a:txBody>
                  <a:tcPr marL="60000" marR="60000" marT="30000" marB="30000">
                    <a:solidFill>
                      <a:srgbClr val="ED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D3748"/>
                          </a:solidFill>
                          <a:latin typeface="Calibri"/>
                        </a:rPr>
                        <a:t>2,559</a:t>
                      </a:r>
                    </a:p>
                  </a:txBody>
                  <a:tcPr marL="60000" marR="60000" marT="30000" marB="30000">
                    <a:solidFill>
                      <a:srgbClr val="ED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D3748"/>
                          </a:solidFill>
                          <a:latin typeface="Calibri"/>
                        </a:rPr>
                        <a:t>1,085</a:t>
                      </a:r>
                    </a:p>
                  </a:txBody>
                  <a:tcPr marL="60000" marR="60000" marT="30000" marB="30000">
                    <a:solidFill>
                      <a:srgbClr val="ED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D3748"/>
                          </a:solidFill>
                          <a:latin typeface="Calibri"/>
                        </a:rPr>
                        <a:t>+136%</a:t>
                      </a:r>
                    </a:p>
                  </a:txBody>
                  <a:tcPr marL="60000" marR="60000" marT="30000" marB="30000">
                    <a:solidFill>
                      <a:srgbClr val="EDF2F7"/>
                    </a:solidFill>
                  </a:tcPr>
                </a:tc>
              </a:tr>
              <a:tr h="57912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D3748"/>
                          </a:solidFill>
                          <a:latin typeface="Calibri"/>
                        </a:rPr>
                        <a:t>ChatGPT + 24 months</a:t>
                      </a:r>
                    </a:p>
                  </a:txBody>
                  <a:tcPr marL="60000" marR="60000" marT="30000" marB="30000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D3748"/>
                          </a:solidFill>
                          <a:latin typeface="Calibri"/>
                        </a:rPr>
                        <a:t>8,218</a:t>
                      </a:r>
                    </a:p>
                  </a:txBody>
                  <a:tcPr marL="60000" marR="60000" marT="30000" marB="30000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D3748"/>
                          </a:solidFill>
                          <a:latin typeface="Calibri"/>
                        </a:rPr>
                        <a:t>2,124</a:t>
                      </a:r>
                    </a:p>
                  </a:txBody>
                  <a:tcPr marL="60000" marR="60000" marT="30000" marB="30000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D3748"/>
                          </a:solidFill>
                          <a:latin typeface="Calibri"/>
                        </a:rPr>
                        <a:t>+287%</a:t>
                      </a:r>
                    </a:p>
                  </a:txBody>
                  <a:tcPr marL="60000" marR="60000" marT="30000" marB="30000">
                    <a:solidFill>
                      <a:srgbClr val="FAFAFA"/>
                    </a:solidFill>
                  </a:tcPr>
                </a:tc>
              </a:tr>
              <a:tr h="57912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D3748"/>
                          </a:solidFill>
                          <a:latin typeface="Calibri"/>
                        </a:rPr>
                        <a:t>January 2026</a:t>
                      </a:r>
                    </a:p>
                  </a:txBody>
                  <a:tcPr marL="60000" marR="60000" marT="30000" marB="30000">
                    <a:solidFill>
                      <a:srgbClr val="ED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D3748"/>
                          </a:solidFill>
                          <a:latin typeface="Calibri"/>
                        </a:rPr>
                        <a:t>18,085</a:t>
                      </a:r>
                    </a:p>
                  </a:txBody>
                  <a:tcPr marL="60000" marR="60000" marT="30000" marB="30000">
                    <a:solidFill>
                      <a:srgbClr val="ED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D3748"/>
                          </a:solidFill>
                          <a:latin typeface="Calibri"/>
                        </a:rPr>
                        <a:t>3,410</a:t>
                      </a:r>
                    </a:p>
                  </a:txBody>
                  <a:tcPr marL="60000" marR="60000" marT="30000" marB="30000">
                    <a:solidFill>
                      <a:srgbClr val="ED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D3748"/>
                          </a:solidFill>
                          <a:latin typeface="Calibri"/>
                        </a:rPr>
                        <a:t>+430%</a:t>
                      </a:r>
                    </a:p>
                  </a:txBody>
                  <a:tcPr marL="60000" marR="60000" marT="30000" marB="30000">
                    <a:solidFill>
                      <a:srgbClr val="EDF2F7"/>
                    </a:solidFill>
                  </a:tcPr>
                </a:tc>
              </a:tr>
              <a:tr h="57912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D3748"/>
                          </a:solidFill>
                          <a:latin typeface="Calibri"/>
                        </a:rPr>
                        <a:t>Post-ChatGPT average</a:t>
                      </a:r>
                    </a:p>
                  </a:txBody>
                  <a:tcPr marL="60000" marR="60000" marT="30000" marB="30000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D3748"/>
                          </a:solidFill>
                          <a:latin typeface="Calibri"/>
                        </a:rPr>
                        <a:t>6,538</a:t>
                      </a:r>
                    </a:p>
                  </a:txBody>
                  <a:tcPr marL="60000" marR="60000" marT="30000" marB="30000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D3748"/>
                          </a:solidFill>
                          <a:latin typeface="Calibri"/>
                        </a:rPr>
                        <a:t>1,703</a:t>
                      </a:r>
                    </a:p>
                  </a:txBody>
                  <a:tcPr marL="60000" marR="60000" marT="30000" marB="30000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D3748"/>
                          </a:solidFill>
                          <a:latin typeface="Calibri"/>
                        </a:rPr>
                        <a:t>+284%</a:t>
                      </a:r>
                    </a:p>
                  </a:txBody>
                  <a:tcPr marL="60000" marR="60000" marT="30000" marB="30000"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280160" y="5212080"/>
            <a:ext cx="9601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A0AEC0"/>
                </a:solidFill>
                <a:latin typeface="Calibri"/>
              </a:rPr>
              <a:t>Weekly PyPI downloads, mean across libraries in each cohort.  Pre-cutoff: libraries released Jan–Aug 2021.  Post-cutoff: Oct 2021–.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A0AEC0"/>
                </a:solidFill>
                <a:latin typeface="Calibri"/>
              </a:rPr>
              <a:t>Tuboly · Knowledge Wall · TDK 2026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A2.  Diff-in-RDD estimates (PyPI)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280160"/>
          <a:ext cx="1078992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8320"/>
                <a:gridCol w="1798320"/>
                <a:gridCol w="1798320"/>
                <a:gridCol w="1798320"/>
                <a:gridCol w="1798320"/>
                <a:gridCol w="1798320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Panel</a:t>
                      </a:r>
                    </a:p>
                  </a:txBody>
                  <a:tcPr marL="60000" marR="60000" marT="30000" marB="30000">
                    <a:solidFill>
                      <a:srgbClr val="2D374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Tier</a:t>
                      </a:r>
                    </a:p>
                  </a:txBody>
                  <a:tcPr marL="60000" marR="60000" marT="30000" marB="30000">
                    <a:solidFill>
                      <a:srgbClr val="2D374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Excess jump</a:t>
                      </a:r>
                    </a:p>
                  </a:txBody>
                  <a:tcPr marL="60000" marR="60000" marT="30000" marB="30000">
                    <a:solidFill>
                      <a:srgbClr val="2D374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SE</a:t>
                      </a:r>
                    </a:p>
                  </a:txBody>
                  <a:tcPr marL="60000" marR="60000" marT="30000" marB="30000">
                    <a:solidFill>
                      <a:srgbClr val="2D374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</a:t>
                      </a:r>
                    </a:p>
                  </a:txBody>
                  <a:tcPr marL="60000" marR="60000" marT="30000" marB="30000">
                    <a:solidFill>
                      <a:srgbClr val="2D374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N</a:t>
                      </a:r>
                    </a:p>
                  </a:txBody>
                  <a:tcPr marL="60000" marR="60000" marT="30000" marB="30000">
                    <a:solidFill>
                      <a:srgbClr val="2D3748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D3748"/>
                          </a:solidFill>
                          <a:latin typeface="Calibri"/>
                        </a:rPr>
                        <a:t>Pre-ChatGPT baseline</a:t>
                      </a:r>
                    </a:p>
                  </a:txBody>
                  <a:tcPr marL="60000" marR="60000" marT="30000" marB="30000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D3748"/>
                          </a:solidFill>
                          <a:latin typeface="Calibri"/>
                        </a:rPr>
                        <a:t>Successful</a:t>
                      </a:r>
                    </a:p>
                  </a:txBody>
                  <a:tcPr marL="60000" marR="60000" marT="30000" marB="30000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D3748"/>
                          </a:solidFill>
                          <a:latin typeface="Calibri"/>
                        </a:rPr>
                        <a:t>-3.72</a:t>
                      </a:r>
                    </a:p>
                  </a:txBody>
                  <a:tcPr marL="60000" marR="60000" marT="30000" marB="30000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D3748"/>
                          </a:solidFill>
                          <a:latin typeface="Calibri"/>
                        </a:rPr>
                        <a:t>1.67</a:t>
                      </a:r>
                    </a:p>
                  </a:txBody>
                  <a:tcPr marL="60000" marR="60000" marT="30000" marB="30000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D3748"/>
                          </a:solidFill>
                          <a:latin typeface="Calibri"/>
                        </a:rPr>
                        <a:t>0.026</a:t>
                      </a:r>
                    </a:p>
                  </a:txBody>
                  <a:tcPr marL="60000" marR="60000" marT="30000" marB="30000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D3748"/>
                          </a:solidFill>
                          <a:latin typeface="Calibri"/>
                        </a:rPr>
                        <a:t>75,313</a:t>
                      </a:r>
                    </a:p>
                  </a:txBody>
                  <a:tcPr marL="60000" marR="60000" marT="30000" marB="30000">
                    <a:solidFill>
                      <a:srgbClr val="FAFAFA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D3748"/>
                          </a:solidFill>
                          <a:latin typeface="Calibri"/>
                        </a:rPr>
                        <a:t>Post-ChatGPT, adjusted</a:t>
                      </a:r>
                    </a:p>
                  </a:txBody>
                  <a:tcPr marL="60000" marR="60000" marT="30000" marB="30000">
                    <a:solidFill>
                      <a:srgbClr val="ED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D3748"/>
                          </a:solidFill>
                          <a:latin typeface="Calibri"/>
                        </a:rPr>
                        <a:t>Broad</a:t>
                      </a:r>
                    </a:p>
                  </a:txBody>
                  <a:tcPr marL="60000" marR="60000" marT="30000" marB="30000">
                    <a:solidFill>
                      <a:srgbClr val="ED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D3748"/>
                          </a:solidFill>
                          <a:latin typeface="Calibri"/>
                        </a:rPr>
                        <a:t>-7.29</a:t>
                      </a:r>
                    </a:p>
                  </a:txBody>
                  <a:tcPr marL="60000" marR="60000" marT="30000" marB="30000">
                    <a:solidFill>
                      <a:srgbClr val="ED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D3748"/>
                          </a:solidFill>
                          <a:latin typeface="Calibri"/>
                        </a:rPr>
                        <a:t>2.20</a:t>
                      </a:r>
                    </a:p>
                  </a:txBody>
                  <a:tcPr marL="60000" marR="60000" marT="30000" marB="30000">
                    <a:solidFill>
                      <a:srgbClr val="ED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D3748"/>
                          </a:solidFill>
                          <a:latin typeface="Calibri"/>
                        </a:rPr>
                        <a:t>0.001</a:t>
                      </a:r>
                    </a:p>
                  </a:txBody>
                  <a:tcPr marL="60000" marR="60000" marT="30000" marB="30000">
                    <a:solidFill>
                      <a:srgbClr val="ED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D3748"/>
                          </a:solidFill>
                          <a:latin typeface="Calibri"/>
                        </a:rPr>
                        <a:t>88,001</a:t>
                      </a:r>
                    </a:p>
                  </a:txBody>
                  <a:tcPr marL="60000" marR="60000" marT="30000" marB="30000">
                    <a:solidFill>
                      <a:srgbClr val="EDF2F7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D3748"/>
                          </a:solidFill>
                          <a:latin typeface="Calibri"/>
                        </a:rPr>
                        <a:t>Post-ChatGPT, adjusted</a:t>
                      </a:r>
                    </a:p>
                  </a:txBody>
                  <a:tcPr marL="60000" marR="60000" marT="30000" marB="30000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D3748"/>
                          </a:solidFill>
                          <a:latin typeface="Calibri"/>
                        </a:rPr>
                        <a:t>Successful</a:t>
                      </a:r>
                    </a:p>
                  </a:txBody>
                  <a:tcPr marL="60000" marR="60000" marT="30000" marB="30000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D3748"/>
                          </a:solidFill>
                          <a:latin typeface="Calibri"/>
                        </a:rPr>
                        <a:t>-7.29</a:t>
                      </a:r>
                    </a:p>
                  </a:txBody>
                  <a:tcPr marL="60000" marR="60000" marT="30000" marB="30000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D3748"/>
                          </a:solidFill>
                          <a:latin typeface="Calibri"/>
                        </a:rPr>
                        <a:t>2.39</a:t>
                      </a:r>
                    </a:p>
                  </a:txBody>
                  <a:tcPr marL="60000" marR="60000" marT="30000" marB="30000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D3748"/>
                          </a:solidFill>
                          <a:latin typeface="Calibri"/>
                        </a:rPr>
                        <a:t>0.002</a:t>
                      </a:r>
                    </a:p>
                  </a:txBody>
                  <a:tcPr marL="60000" marR="60000" marT="30000" marB="30000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D3748"/>
                          </a:solidFill>
                          <a:latin typeface="Calibri"/>
                        </a:rPr>
                        <a:t>75,313</a:t>
                      </a:r>
                    </a:p>
                  </a:txBody>
                  <a:tcPr marL="60000" marR="60000" marT="30000" marB="30000">
                    <a:solidFill>
                      <a:srgbClr val="FAFAFA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D3748"/>
                          </a:solidFill>
                          <a:latin typeface="Calibri"/>
                        </a:rPr>
                        <a:t>Post-ChatGPT, adjusted</a:t>
                      </a:r>
                    </a:p>
                  </a:txBody>
                  <a:tcPr marL="60000" marR="60000" marT="30000" marB="30000">
                    <a:solidFill>
                      <a:srgbClr val="ED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D3748"/>
                          </a:solidFill>
                          <a:latin typeface="Calibri"/>
                        </a:rPr>
                        <a:t>Superstar</a:t>
                      </a:r>
                    </a:p>
                  </a:txBody>
                  <a:tcPr marL="60000" marR="60000" marT="30000" marB="30000">
                    <a:solidFill>
                      <a:srgbClr val="ED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D3748"/>
                          </a:solidFill>
                          <a:latin typeface="Calibri"/>
                        </a:rPr>
                        <a:t>-0.25</a:t>
                      </a:r>
                    </a:p>
                  </a:txBody>
                  <a:tcPr marL="60000" marR="60000" marT="30000" marB="30000">
                    <a:solidFill>
                      <a:srgbClr val="ED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D3748"/>
                          </a:solidFill>
                          <a:latin typeface="Calibri"/>
                        </a:rPr>
                        <a:t>0.35</a:t>
                      </a:r>
                    </a:p>
                  </a:txBody>
                  <a:tcPr marL="60000" marR="60000" marT="30000" marB="30000">
                    <a:solidFill>
                      <a:srgbClr val="ED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D3748"/>
                          </a:solidFill>
                          <a:latin typeface="Calibri"/>
                        </a:rPr>
                        <a:t>0.473</a:t>
                      </a:r>
                    </a:p>
                  </a:txBody>
                  <a:tcPr marL="60000" marR="60000" marT="30000" marB="30000">
                    <a:solidFill>
                      <a:srgbClr val="ED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D3748"/>
                          </a:solidFill>
                          <a:latin typeface="Calibri"/>
                        </a:rPr>
                        <a:t>57,931</a:t>
                      </a:r>
                    </a:p>
                  </a:txBody>
                  <a:tcPr marL="60000" marR="60000" marT="30000" marB="30000">
                    <a:solidFill>
                      <a:srgbClr val="EDF2F7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D3748"/>
                          </a:solidFill>
                          <a:latin typeface="Calibri"/>
                        </a:rPr>
                        <a:t>Post-ChatGPT, unadjusted</a:t>
                      </a:r>
                    </a:p>
                  </a:txBody>
                  <a:tcPr marL="60000" marR="60000" marT="30000" marB="30000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D3748"/>
                          </a:solidFill>
                          <a:latin typeface="Calibri"/>
                        </a:rPr>
                        <a:t>Broad</a:t>
                      </a:r>
                    </a:p>
                  </a:txBody>
                  <a:tcPr marL="60000" marR="60000" marT="30000" marB="30000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D3748"/>
                          </a:solidFill>
                          <a:latin typeface="Calibri"/>
                        </a:rPr>
                        <a:t>-9.14</a:t>
                      </a:r>
                    </a:p>
                  </a:txBody>
                  <a:tcPr marL="60000" marR="60000" marT="30000" marB="30000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D3748"/>
                          </a:solidFill>
                          <a:latin typeface="Calibri"/>
                        </a:rPr>
                        <a:t>4.42</a:t>
                      </a:r>
                    </a:p>
                  </a:txBody>
                  <a:tcPr marL="60000" marR="60000" marT="30000" marB="30000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D3748"/>
                          </a:solidFill>
                          <a:latin typeface="Calibri"/>
                        </a:rPr>
                        <a:t>0.039</a:t>
                      </a:r>
                    </a:p>
                  </a:txBody>
                  <a:tcPr marL="60000" marR="60000" marT="30000" marB="30000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D3748"/>
                          </a:solidFill>
                          <a:latin typeface="Calibri"/>
                        </a:rPr>
                        <a:t>88,001</a:t>
                      </a:r>
                    </a:p>
                  </a:txBody>
                  <a:tcPr marL="60000" marR="60000" marT="30000" marB="30000">
                    <a:solidFill>
                      <a:srgbClr val="FAFAFA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D3748"/>
                          </a:solidFill>
                          <a:latin typeface="Calibri"/>
                        </a:rPr>
                        <a:t>Post-ChatGPT, unadjusted</a:t>
                      </a:r>
                    </a:p>
                  </a:txBody>
                  <a:tcPr marL="60000" marR="60000" marT="30000" marB="30000">
                    <a:solidFill>
                      <a:srgbClr val="ED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D3748"/>
                          </a:solidFill>
                          <a:latin typeface="Calibri"/>
                        </a:rPr>
                        <a:t>Successful</a:t>
                      </a:r>
                    </a:p>
                  </a:txBody>
                  <a:tcPr marL="60000" marR="60000" marT="30000" marB="30000">
                    <a:solidFill>
                      <a:srgbClr val="ED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D3748"/>
                          </a:solidFill>
                          <a:latin typeface="Calibri"/>
                        </a:rPr>
                        <a:t>-12.79</a:t>
                      </a:r>
                    </a:p>
                  </a:txBody>
                  <a:tcPr marL="60000" marR="60000" marT="30000" marB="30000">
                    <a:solidFill>
                      <a:srgbClr val="ED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D3748"/>
                          </a:solidFill>
                          <a:latin typeface="Calibri"/>
                        </a:rPr>
                        <a:t>4.83</a:t>
                      </a:r>
                    </a:p>
                  </a:txBody>
                  <a:tcPr marL="60000" marR="60000" marT="30000" marB="30000">
                    <a:solidFill>
                      <a:srgbClr val="ED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D3748"/>
                          </a:solidFill>
                          <a:latin typeface="Calibri"/>
                        </a:rPr>
                        <a:t>0.008</a:t>
                      </a:r>
                    </a:p>
                  </a:txBody>
                  <a:tcPr marL="60000" marR="60000" marT="30000" marB="30000">
                    <a:solidFill>
                      <a:srgbClr val="ED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D3748"/>
                          </a:solidFill>
                          <a:latin typeface="Calibri"/>
                        </a:rPr>
                        <a:t>75,313</a:t>
                      </a:r>
                    </a:p>
                  </a:txBody>
                  <a:tcPr marL="60000" marR="60000" marT="30000" marB="30000">
                    <a:solidFill>
                      <a:srgbClr val="EDF2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5394960"/>
            <a:ext cx="10789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A0AEC0"/>
                </a:solidFill>
                <a:latin typeface="Calibri"/>
              </a:rPr>
              <a:t>Log-scale estimates: discontinuity in log(1 + downloads) at the cutoff, differenced against 2018–2020 placebos.  Baseline adjustment = ANCOVA on log pre-ChatGPT downloads.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A0AEC0"/>
                </a:solidFill>
                <a:latin typeface="Calibri"/>
              </a:rPr>
              <a:t>Tuboly · Knowledge Wall · TDK 2026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A3.  Bandwidth sensitivity</a:t>
            </a:r>
          </a:p>
        </p:txBody>
      </p:sp>
      <p:pic>
        <p:nvPicPr>
          <p:cNvPr id="4" name="Picture 3" descr="sensitivity_diff_in_rdd_bandwid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188720"/>
            <a:ext cx="7589520" cy="45537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943600"/>
            <a:ext cx="10332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A0AEC0"/>
                </a:solidFill>
                <a:latin typeface="Calibri"/>
              </a:rPr>
              <a:t>Point estimate and 95% CI across bandwidth choices h ∈ {10, 13, 18, 26, 39, 52} weeks.  Sign and significance stable.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A0AEC0"/>
                </a:solidFill>
                <a:latin typeface="Calibri"/>
              </a:rPr>
              <a:t>Tuboly · Knowledge Wall · TDK 2026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A4.  Density test and placebo years</a:t>
            </a:r>
          </a:p>
        </p:txBody>
      </p:sp>
      <p:pic>
        <p:nvPicPr>
          <p:cNvPr id="4" name="Picture 3" descr="density_dist_to_cuto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5486400" cy="3291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6692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A0AEC0"/>
                </a:solidFill>
                <a:latin typeface="Calibri"/>
              </a:rPr>
              <a:t>McCrary density, p = 0.43.</a:t>
            </a:r>
          </a:p>
        </p:txBody>
      </p:sp>
      <p:pic>
        <p:nvPicPr>
          <p:cNvPr id="6" name="Picture 5" descr="stacked_rdd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188720"/>
            <a:ext cx="5486400" cy="3291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17920" y="56692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A0AEC0"/>
                </a:solidFill>
                <a:latin typeface="Calibri"/>
              </a:rPr>
              <a:t>2018–2020 placebo coefficients vs. 2021.  Only 2021 is significant.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A0AEC0"/>
                </a:solidFill>
                <a:latin typeface="Calibri"/>
              </a:rPr>
              <a:t>Tuboly · Knowledge Wall · TDK 2026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A5.  GitHub mechanism results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0" y="1371600"/>
          <a:ext cx="94183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3664"/>
                <a:gridCol w="1883664"/>
                <a:gridCol w="1883664"/>
                <a:gridCol w="1883664"/>
                <a:gridCol w="1883664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Tier</a:t>
                      </a:r>
                    </a:p>
                  </a:txBody>
                  <a:tcPr marL="60000" marR="60000" marT="30000" marB="30000">
                    <a:solidFill>
                      <a:srgbClr val="2D374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Outcome</a:t>
                      </a:r>
                    </a:p>
                  </a:txBody>
                  <a:tcPr marL="60000" marR="60000" marT="30000" marB="30000">
                    <a:solidFill>
                      <a:srgbClr val="2D374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Excess jump</a:t>
                      </a:r>
                    </a:p>
                  </a:txBody>
                  <a:tcPr marL="60000" marR="60000" marT="30000" marB="30000">
                    <a:solidFill>
                      <a:srgbClr val="2D374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SE</a:t>
                      </a:r>
                    </a:p>
                  </a:txBody>
                  <a:tcPr marL="60000" marR="60000" marT="30000" marB="30000">
                    <a:solidFill>
                      <a:srgbClr val="2D374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</a:t>
                      </a:r>
                    </a:p>
                  </a:txBody>
                  <a:tcPr marL="60000" marR="60000" marT="30000" marB="30000">
                    <a:solidFill>
                      <a:srgbClr val="2D3748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D3748"/>
                          </a:solidFill>
                          <a:latin typeface="Calibri"/>
                        </a:rPr>
                        <a:t>Broad</a:t>
                      </a:r>
                    </a:p>
                  </a:txBody>
                  <a:tcPr marL="60000" marR="60000" marT="30000" marB="30000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D3748"/>
                          </a:solidFill>
                          <a:latin typeface="Calibri"/>
                        </a:rPr>
                        <a:t>All-time imports</a:t>
                      </a:r>
                    </a:p>
                  </a:txBody>
                  <a:tcPr marL="60000" marR="60000" marT="30000" marB="30000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D3748"/>
                          </a:solidFill>
                          <a:latin typeface="Calibri"/>
                        </a:rPr>
                        <a:t>+2.12</a:t>
                      </a:r>
                    </a:p>
                  </a:txBody>
                  <a:tcPr marL="60000" marR="60000" marT="30000" marB="30000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D3748"/>
                          </a:solidFill>
                          <a:latin typeface="Calibri"/>
                        </a:rPr>
                        <a:t>0.92</a:t>
                      </a:r>
                    </a:p>
                  </a:txBody>
                  <a:tcPr marL="60000" marR="60000" marT="30000" marB="30000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D3748"/>
                          </a:solidFill>
                          <a:latin typeface="Calibri"/>
                        </a:rPr>
                        <a:t>0.022</a:t>
                      </a:r>
                    </a:p>
                  </a:txBody>
                  <a:tcPr marL="60000" marR="60000" marT="30000" marB="30000">
                    <a:solidFill>
                      <a:srgbClr val="FAFAFA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D3748"/>
                          </a:solidFill>
                          <a:latin typeface="Calibri"/>
                        </a:rPr>
                        <a:t>Broad</a:t>
                      </a:r>
                    </a:p>
                  </a:txBody>
                  <a:tcPr marL="60000" marR="60000" marT="30000" marB="30000">
                    <a:solidFill>
                      <a:srgbClr val="ED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D3748"/>
                          </a:solidFill>
                          <a:latin typeface="Calibri"/>
                        </a:rPr>
                        <a:t>Post-AI imports</a:t>
                      </a:r>
                    </a:p>
                  </a:txBody>
                  <a:tcPr marL="60000" marR="60000" marT="30000" marB="30000">
                    <a:solidFill>
                      <a:srgbClr val="ED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D3748"/>
                          </a:solidFill>
                          <a:latin typeface="Calibri"/>
                        </a:rPr>
                        <a:t>+1.87</a:t>
                      </a:r>
                    </a:p>
                  </a:txBody>
                  <a:tcPr marL="60000" marR="60000" marT="30000" marB="30000">
                    <a:solidFill>
                      <a:srgbClr val="ED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D3748"/>
                          </a:solidFill>
                          <a:latin typeface="Calibri"/>
                        </a:rPr>
                        <a:t>1.05</a:t>
                      </a:r>
                    </a:p>
                  </a:txBody>
                  <a:tcPr marL="60000" marR="60000" marT="30000" marB="30000">
                    <a:solidFill>
                      <a:srgbClr val="ED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D3748"/>
                          </a:solidFill>
                          <a:latin typeface="Calibri"/>
                        </a:rPr>
                        <a:t>0.075</a:t>
                      </a:r>
                    </a:p>
                  </a:txBody>
                  <a:tcPr marL="60000" marR="60000" marT="30000" marB="30000">
                    <a:solidFill>
                      <a:srgbClr val="EDF2F7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D3748"/>
                          </a:solidFill>
                          <a:latin typeface="Calibri"/>
                        </a:rPr>
                        <a:t>Successful</a:t>
                      </a:r>
                    </a:p>
                  </a:txBody>
                  <a:tcPr marL="60000" marR="60000" marT="30000" marB="30000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D3748"/>
                          </a:solidFill>
                          <a:latin typeface="Calibri"/>
                        </a:rPr>
                        <a:t>All-time imports</a:t>
                      </a:r>
                    </a:p>
                  </a:txBody>
                  <a:tcPr marL="60000" marR="60000" marT="30000" marB="30000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D3748"/>
                          </a:solidFill>
                          <a:latin typeface="Calibri"/>
                        </a:rPr>
                        <a:t>+2.29</a:t>
                      </a:r>
                    </a:p>
                  </a:txBody>
                  <a:tcPr marL="60000" marR="60000" marT="30000" marB="30000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D3748"/>
                          </a:solidFill>
                          <a:latin typeface="Calibri"/>
                        </a:rPr>
                        <a:t>0.96</a:t>
                      </a:r>
                    </a:p>
                  </a:txBody>
                  <a:tcPr marL="60000" marR="60000" marT="30000" marB="30000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D3748"/>
                          </a:solidFill>
                          <a:latin typeface="Calibri"/>
                        </a:rPr>
                        <a:t>0.017</a:t>
                      </a:r>
                    </a:p>
                  </a:txBody>
                  <a:tcPr marL="60000" marR="60000" marT="30000" marB="30000">
                    <a:solidFill>
                      <a:srgbClr val="FAFAFA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D3748"/>
                          </a:solidFill>
                          <a:latin typeface="Calibri"/>
                        </a:rPr>
                        <a:t>Successful</a:t>
                      </a:r>
                    </a:p>
                  </a:txBody>
                  <a:tcPr marL="60000" marR="60000" marT="30000" marB="30000">
                    <a:solidFill>
                      <a:srgbClr val="ED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D3748"/>
                          </a:solidFill>
                          <a:latin typeface="Calibri"/>
                        </a:rPr>
                        <a:t>Post-AI imports</a:t>
                      </a:r>
                    </a:p>
                  </a:txBody>
                  <a:tcPr marL="60000" marR="60000" marT="30000" marB="30000">
                    <a:solidFill>
                      <a:srgbClr val="ED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D3748"/>
                          </a:solidFill>
                          <a:latin typeface="Calibri"/>
                        </a:rPr>
                        <a:t>+2.09</a:t>
                      </a:r>
                    </a:p>
                  </a:txBody>
                  <a:tcPr marL="60000" marR="60000" marT="30000" marB="30000">
                    <a:solidFill>
                      <a:srgbClr val="ED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D3748"/>
                          </a:solidFill>
                          <a:latin typeface="Calibri"/>
                        </a:rPr>
                        <a:t>1.15</a:t>
                      </a:r>
                    </a:p>
                  </a:txBody>
                  <a:tcPr marL="60000" marR="60000" marT="30000" marB="30000">
                    <a:solidFill>
                      <a:srgbClr val="ED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D3748"/>
                          </a:solidFill>
                          <a:latin typeface="Calibri"/>
                        </a:rPr>
                        <a:t>0.069</a:t>
                      </a:r>
                    </a:p>
                  </a:txBody>
                  <a:tcPr marL="60000" marR="60000" marT="30000" marB="30000">
                    <a:solidFill>
                      <a:srgbClr val="EDF2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0" y="4572000"/>
            <a:ext cx="94183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A0AEC0"/>
                </a:solidFill>
                <a:latin typeface="Calibri"/>
              </a:rPr>
              <a:t>Baseline-adjusted Diff-in-RDD on log(1 + GitHub imports), N = 6,582 (Broad).  Positive sign: post-cutoff libraries accumulate MORE imports — consistent with stock-vs-flow interpretation.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A0AEC0"/>
                </a:solidFill>
                <a:latin typeface="Calibri"/>
              </a:rPr>
              <a:t>Tuboly · Knowledge Wall · TDK 2026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A6.  Reviewer comments placeholder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371600"/>
            <a:ext cx="10332720" cy="4846320"/>
          </a:xfrm>
          <a:prstGeom prst="roundRect">
            <a:avLst/>
          </a:prstGeom>
          <a:solidFill>
            <a:srgbClr val="ED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600200"/>
            <a:ext cx="9784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D3748"/>
                </a:solidFill>
                <a:latin typeface="Calibri"/>
              </a:rPr>
              <a:t>Notes for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377440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3182CE"/>
                </a:solidFill>
                <a:latin typeface="Calibri"/>
              </a:rPr>
              <a:t>• 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377440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A0AEC0"/>
                </a:solidFill>
                <a:latin typeface="Calibri"/>
              </a:rPr>
              <a:t>[to be populated during Q&amp;A]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971800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3182CE"/>
                </a:solidFill>
                <a:latin typeface="Calibri"/>
              </a:rPr>
              <a:t>• 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971800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2D3748"/>
                </a:solidFill>
                <a:latin typeface="Calibri"/>
              </a:rPr>
              <a:t>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566160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3182CE"/>
                </a:solidFill>
                <a:latin typeface="Calibri"/>
              </a:rPr>
              <a:t>• 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566160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2D3748"/>
                </a:solidFill>
                <a:latin typeface="Calibri"/>
              </a:rPr>
              <a:t>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160520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3182CE"/>
                </a:solidFill>
                <a:latin typeface="Calibri"/>
              </a:rPr>
              <a:t>• 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4160520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2D3748"/>
                </a:solidFill>
                <a:latin typeface="Calibri"/>
              </a:rPr>
              <a:t>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754880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3182CE"/>
                </a:solidFill>
                <a:latin typeface="Calibri"/>
              </a:rPr>
              <a:t>• 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4754880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2D3748"/>
                </a:solidFill>
                <a:latin typeface="Calibri"/>
              </a:rPr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