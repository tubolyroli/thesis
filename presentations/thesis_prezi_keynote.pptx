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D3748"/>
                </a:solidFill>
                <a:latin typeface="Helvetica Neue"/>
              </a:rPr>
              <a:t>Do LLMs Shape the Diffusion of New Software?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0AEC0"/>
                </a:solidFill>
                <a:latin typeface="Helvetica Neue"/>
              </a:rPr>
              <a:t>Training cutoffs and adoption dynamics in the Python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Roland Tuboly  ·  MSc Social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  <a:latin typeface="Helvetica Neue"/>
              </a:rPr>
              <a:t>TDK Presentation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Why software diffusion, and why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6583680" cy="20116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The measurable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Software libraries are a clean unit of technological diffusion: released on a specific date, downloaded at a measurable rate, used in public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6583680" cy="301752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6217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Productivity vs. variety</a:t>
            </a:r>
            <a:r>
              <a:rPr sz="1400">
                <a:solidFill>
                  <a:srgbClr val="2D3748"/>
                </a:solidFill>
                <a:latin typeface="Helvetica Neue"/>
              </a:rPr>
              <a:t> — Doshi &amp; Hauser (2024): individual gains can narrow collective variety.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Knowledge frontier</a:t>
            </a:r>
            <a:r>
              <a:rPr sz="1400">
                <a:solidFill>
                  <a:srgbClr val="2D3748"/>
                </a:solidFill>
                <a:latin typeface="Helvetica Neue"/>
              </a:rPr>
              <a:t> — Acemoglu (2024); Evans; Daniotti et al. on scientific search.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Gatekeeping</a:t>
            </a:r>
            <a:r>
              <a:rPr sz="1400">
                <a:solidFill>
                  <a:srgbClr val="2D3748"/>
                </a:solidFill>
                <a:latin typeface="Helvetica Neue"/>
              </a:rPr>
              <a:t> — Wachs on platforms steering 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188720"/>
            <a:ext cx="4297680" cy="52120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4173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3030"/>
                </a:solidFill>
                <a:latin typeface="Helvetica Neue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011680"/>
            <a:ext cx="3931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2D3748"/>
                </a:solidFill>
                <a:latin typeface="Helvetica Neue"/>
              </a:rPr>
              <a:t>Do Python libraries released after an LLM's training cutoff diffuse more slowly than otherwise-identical libraries released before the cutoff?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Method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493776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3748"/>
                </a:solidFill>
                <a:latin typeface="Helvetica Neue"/>
              </a:rPr>
              <a:t>Option A — Single-year RDD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Compare libraries released just before vs. just after Sept 2021, within a narrow bandwidth.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53030"/>
                </a:solidFill>
                <a:latin typeface="Helvetica Neue"/>
              </a:rPr>
              <a:t>Problem:  the jump we see is a mix of the LLM effect and raw calendar seasonality (September releases differ from August releases every year).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486400" cy="49377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182CE"/>
                </a:solidFill>
                <a:latin typeface="Helvetica Neue"/>
              </a:rPr>
              <a:t>Option B — Diff-in-RDD (primary)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Stack 2018–2020 placebo cohorts at the same calendar position. Subtract the placebo jump from the 2021 jump.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6576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182CE"/>
                </a:solidFill>
                <a:latin typeface="Helvetica Neue"/>
              </a:rPr>
              <a:t>Payoff:  seasonality is differenced out; the residual is the LLM-specific treatment effect.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Helvetica Neue"/>
              </a:rPr>
              <a:t>Both estimators are reported. The Diff-in-RDD is the primary specification.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Data and unit of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6400800" cy="24688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PyPI:</a:t>
            </a:r>
            <a:r>
              <a:rPr sz="1400">
                <a:solidFill>
                  <a:srgbClr val="2D3748"/>
                </a:solidFill>
                <a:latin typeface="Helvetica Neue"/>
              </a:rPr>
              <a:t> weekly downloads for every registered package.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GitHub:</a:t>
            </a:r>
            <a:r>
              <a:rPr sz="1400">
                <a:solidFill>
                  <a:srgbClr val="2D3748"/>
                </a:solidFill>
                <a:latin typeface="Helvetica Neue"/>
              </a:rPr>
              <a:t> code-import counts (linked sample).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6400800" cy="246888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Library-week, from first release through January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188720"/>
            <a:ext cx="4480560" cy="51206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371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182CE"/>
                </a:solidFill>
                <a:latin typeface="Helvetica Neue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828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Helvetica Neue"/>
              </a:rPr>
              <a:t>527,361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487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Helvetica Neue"/>
              </a:rPr>
              <a:t>PyPI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971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Helvetica Neue"/>
              </a:rPr>
              <a:t>28,243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630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Helvetica Neue"/>
              </a:rPr>
              <a:t>linked to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14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Helvetica Neue"/>
              </a:rPr>
              <a:t>88,001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773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Helvetica Neue"/>
              </a:rPr>
              <a:t>Diff-in-RDD (Broad 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257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182CE"/>
                </a:solidFill>
                <a:latin typeface="Helvetica Neue"/>
              </a:rPr>
              <a:t>Sept '21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59161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Helvetica Neue"/>
              </a:rPr>
              <a:t>training-data cutoff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Design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383280"/>
            <a:ext cx="10332720" cy="0"/>
          </a:xfrm>
          <a:prstGeom prst="line">
            <a:avLst/>
          </a:prstGeom>
          <a:ln w="317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121054" y="2788920"/>
            <a:ext cx="4753051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1054" y="2898648"/>
            <a:ext cx="475305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182CE"/>
                </a:solidFill>
                <a:latin typeface="Helvetica Neue"/>
              </a:rPr>
              <a:t>2018–2020 placebo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47304" y="2788920"/>
            <a:ext cx="3099816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47304" y="2898648"/>
            <a:ext cx="30998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182CE"/>
                </a:solidFill>
                <a:latin typeface="Helvetica Neue"/>
              </a:rPr>
              <a:t>Post-AI observation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7414" y="2651760"/>
            <a:ext cx="619963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4534" y="192024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53030"/>
                </a:solidFill>
                <a:latin typeface="Helvetica Neue"/>
              </a:rPr>
              <a:t>9-week
donut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97396" y="1920240"/>
            <a:ext cx="0" cy="2103120"/>
          </a:xfrm>
          <a:prstGeom prst="line">
            <a:avLst/>
          </a:prstGeom>
          <a:ln w="3810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91556" y="1508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53030"/>
                </a:solidFill>
                <a:latin typeface="Helvetica Neue"/>
              </a:rPr>
              <a:t>Sept 2021 cutoff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47304" y="1920240"/>
            <a:ext cx="0" cy="2103120"/>
          </a:xfrm>
          <a:prstGeom prst="line">
            <a:avLst/>
          </a:prstGeom>
          <a:ln w="31750">
            <a:solidFill>
              <a:srgbClr val="3182CE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50024" y="13716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182CE"/>
                </a:solidFill>
                <a:latin typeface="Helvetica Neue"/>
              </a:rPr>
              <a:t>ChatGPT release
Nov 2022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97396" y="4206240"/>
            <a:ext cx="1549908" cy="0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97396" y="4343400"/>
            <a:ext cx="15499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2D3748"/>
                </a:solidFill>
                <a:latin typeface="Helvetica Neue"/>
              </a:rPr>
              <a:t>14-month latency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2105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53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Helvetica Neue"/>
              </a:rPr>
              <a:t>Jan 2018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8094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4942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Helvetica Neue"/>
              </a:rPr>
              <a:t>2019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0833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09313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Helvetica Neue"/>
              </a:rPr>
              <a:t>2020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97396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65876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3748"/>
                </a:solidFill>
                <a:latin typeface="Helvetica Neue"/>
              </a:rPr>
              <a:t>Sept 2021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47304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15784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3748"/>
                </a:solidFill>
                <a:latin typeface="Helvetica Neue"/>
              </a:rPr>
              <a:t>Nov 2022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247120" y="3337560"/>
            <a:ext cx="0" cy="118872"/>
          </a:xfrm>
          <a:prstGeom prst="line">
            <a:avLst/>
          </a:prstGeom>
          <a:ln w="1905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0" y="35204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D3748"/>
                </a:solidFill>
                <a:latin typeface="Helvetica Neue"/>
              </a:rPr>
              <a:t>Jan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D3748"/>
                </a:solidFill>
                <a:latin typeface="Helvetica Neue"/>
              </a:rPr>
              <a:t>The September 2021 cutoff is an invisible property of training data; libraries released a week before or after look identical to a developer in 2021. No one could have anticipated ChatGPT, released 14 months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As-if random assignment:</a:t>
            </a:r>
            <a:r>
              <a:rPr sz="1700">
                <a:solidFill>
                  <a:srgbClr val="2D3748"/>
                </a:solidFill>
                <a:latin typeface="Helvetica Neue"/>
              </a:rPr>
              <a:t> the exact week of release relative to an invisible training cutoff is exogenous to the library itself (McCrary density test: p = 0.43).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RDD specifics:</a:t>
            </a:r>
            <a:r>
              <a:rPr sz="1700">
                <a:solidFill>
                  <a:srgbClr val="2D3748"/>
                </a:solidFill>
                <a:latin typeface="Helvetica Neue"/>
              </a:rPr>
              <a:t> bandwidth h = 13 weeks; local-linear regression with triangular kernel; 9-week donut excludes the Aug–Sept 2021 window of ambiguous training inclusion.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Inference:</a:t>
            </a:r>
            <a:r>
              <a:rPr sz="1700">
                <a:solidFill>
                  <a:srgbClr val="2D3748"/>
                </a:solidFill>
                <a:latin typeface="Helvetica Neue"/>
              </a:rPr>
              <a:t> cluster-robust standard errors at the year-by-week level (~72 clusters); bias-corrected CIs via rdrobust.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Diff-in-RDD:</a:t>
            </a:r>
            <a:r>
              <a:rPr sz="1700">
                <a:solidFill>
                  <a:srgbClr val="2D3748"/>
                </a:solidFill>
                <a:latin typeface="Helvetica Neue"/>
              </a:rPr>
              <a:t> 2021 discontinuity minus the mean placebo discontinuity (2018–2020) isolates the LLM-specific effect from calendar seasonality.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Validity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 b="1">
                <a:solidFill>
                  <a:srgbClr val="2D3748"/>
                </a:solidFill>
                <a:latin typeface="Helvetica Neue"/>
              </a:rPr>
              <a:t>No manipulation:</a:t>
            </a:r>
            <a:r>
              <a:rPr sz="1800">
                <a:solidFill>
                  <a:srgbClr val="2D3748"/>
                </a:solidFill>
                <a:latin typeface="Helvetica Neue"/>
              </a:rPr>
              <a:t> McCrary density smooth across the cutoff (p = 0.43) — developers cannot time their release to an unannounced boundary.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 b="1">
                <a:solidFill>
                  <a:srgbClr val="2D3748"/>
                </a:solidFill>
                <a:latin typeface="Helvetica Neue"/>
              </a:rPr>
              <a:t>Covariate balance, pre-AI:</a:t>
            </a:r>
            <a:r>
              <a:rPr sz="1800">
                <a:solidFill>
                  <a:srgbClr val="2D3748"/>
                </a:solidFill>
                <a:latin typeface="Helvetica Neue"/>
              </a:rPr>
              <a:t> post-cutoff libraries actually start ahead on pre-ChatGPT downloads (a seasonal headwind for our hypothesis) — so the post-AI suppression is a conservative estimate.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 b="1">
                <a:solidFill>
                  <a:srgbClr val="2D3748"/>
                </a:solidFill>
                <a:latin typeface="Helvetica Neue"/>
              </a:rPr>
              <a:t>Placebo years:</a:t>
            </a:r>
            <a:r>
              <a:rPr sz="1800">
                <a:solidFill>
                  <a:srgbClr val="2D3748"/>
                </a:solidFill>
                <a:latin typeface="Helvetica Neue"/>
              </a:rPr>
              <a:t> 2018–2020 cohorts show no discontinuity at the same calendar position, ruling out seasonality as the driver.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2D3748"/>
                </a:solidFill>
                <a:latin typeface="Helvetica Neue"/>
              </a:rPr>
              <a:t>Post-cutoff libraries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642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0" b="1" i="0">
                <a:solidFill>
                  <a:srgbClr val="C53030"/>
                </a:solidFill>
                <a:latin typeface="Helvetica Neue"/>
              </a:rPr>
              <a:t>+430%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2D3748"/>
                </a:solidFill>
                <a:latin typeface="Helvetica Neue"/>
              </a:rPr>
              <a:t>fewer weekly downloads by January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Helvetica Neue"/>
              </a:rPr>
              <a:t>Ratio of pre-cutoff to post-cutoff downloads (Jan 2026).  Diff-in-RDD: p = 0.001 (Broad), p = 0.002 (Successful), baseline-adjusted, cluster-robust 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Activation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572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2D3748"/>
                </a:solidFill>
                <a:latin typeface="Helvetica Neue"/>
              </a:rPr>
              <a:t>Dormant:</a:t>
            </a:r>
            <a:r>
              <a:rPr sz="1500">
                <a:solidFill>
                  <a:srgbClr val="2D3748"/>
                </a:solidFill>
                <a:latin typeface="Helvetica Neue"/>
              </a:rPr>
              <a:t> gap flat at ~28% seasonal baseline before Nov 2022.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2D3748"/>
                </a:solidFill>
                <a:latin typeface="Helvetica Neue"/>
              </a:rPr>
              <a:t>Activation:</a:t>
            </a:r>
            <a:r>
              <a:rPr sz="1500">
                <a:solidFill>
                  <a:srgbClr val="2D3748"/>
                </a:solidFill>
                <a:latin typeface="Helvetica Neue"/>
              </a:rPr>
              <a:t> discontinuity emerges only after ChatGPT's mass adoption.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2D3748"/>
                </a:solidFill>
                <a:latin typeface="Helvetica Neue"/>
              </a:rPr>
              <a:t>Trajectory:</a:t>
            </a:r>
            <a:r>
              <a:rPr sz="1500">
                <a:solidFill>
                  <a:srgbClr val="2D3748"/>
                </a:solidFill>
                <a:latin typeface="Helvetica Neue"/>
              </a:rPr>
              <a:t> +136% at 12 months, +287% at 24 months, +430% by Jan 2026.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2D3748"/>
                </a:solidFill>
                <a:latin typeface="Helvetica Neue"/>
              </a:rPr>
              <a:t>Shaded band:</a:t>
            </a:r>
            <a:r>
              <a:rPr sz="1500">
                <a:solidFill>
                  <a:srgbClr val="2D3748"/>
                </a:solidFill>
                <a:latin typeface="Helvetica Neue"/>
              </a:rPr>
              <a:t> 95% bootstrap confidence interval.</a:t>
            </a:r>
          </a:p>
        </p:txBody>
      </p:sp>
      <p:pic>
        <p:nvPicPr>
          <p:cNvPr id="5" name="Picture 4" descr="normalized_diffusion_gap_py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Mechanism: GitHub imports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512064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  <a:latin typeface="Helvetica Neue"/>
              </a:rPr>
              <a:t>Directional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Matched subsample,</a:t>
            </a:r>
            <a:r>
              <a:rPr sz="1400">
                <a:solidFill>
                  <a:srgbClr val="2D3748"/>
                </a:solidFill>
                <a:latin typeface="Helvetica Neue"/>
              </a:rPr>
              <a:t> N = 6,582 in the Diff-in-RDD.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All-time imports:</a:t>
            </a:r>
            <a:r>
              <a:rPr sz="1400">
                <a:solidFill>
                  <a:srgbClr val="2D3748"/>
                </a:solidFill>
                <a:latin typeface="Helvetica Neue"/>
              </a:rPr>
              <a:t> +2.12 log-point jump (baseline-adjusted, p = 0.022) — post-cutoff libraries accumulate MORE GitHub imports, opposite sign to PyPI.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486400" cy="51206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182CE"/>
                </a:solidFill>
                <a:latin typeface="Helvetica Neue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Flow vs. stock:</a:t>
            </a:r>
            <a:r>
              <a:rPr sz="1400">
                <a:solidFill>
                  <a:srgbClr val="2D3748"/>
                </a:solidFill>
                <a:latin typeface="Helvetica Neue"/>
              </a:rPr>
              <a:t> PyPI downloads are a flow; GitHub imports are a stock of existing code.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Displacement:</a:t>
            </a:r>
            <a:r>
              <a:rPr sz="1400">
                <a:solidFill>
                  <a:srgbClr val="2D3748"/>
                </a:solidFill>
                <a:latin typeface="Helvetica Neue"/>
              </a:rPr>
              <a:t> new libraries displace old ones in flow, but existing repos keep their old imports.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2D3748"/>
                </a:solidFill>
                <a:latin typeface="Helvetica Neue"/>
              </a:rPr>
              <a:t>LLM steering:</a:t>
            </a:r>
            <a:r>
              <a:rPr sz="1400">
                <a:solidFill>
                  <a:srgbClr val="2D3748"/>
                </a:solidFill>
                <a:latin typeface="Helvetica Neue"/>
              </a:rPr>
              <a:t> the LLM pushes the FIRST try, not every line of legacy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Moderation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AI-exposure heterogeneity:</a:t>
            </a:r>
            <a:r>
              <a:rPr sz="1700">
                <a:solidFill>
                  <a:srgbClr val="2D3748"/>
                </a:solidFill>
                <a:latin typeface="Helvetica Neue"/>
              </a:rPr>
              <a:t> directional but non-significant (p = 0.18) — suggests a broad, systemic effect rather than a subset-specific channel.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Ecosystem:</a:t>
            </a:r>
            <a:r>
              <a:rPr sz="1700">
                <a:solidFill>
                  <a:srgbClr val="2D3748"/>
                </a:solidFill>
                <a:latin typeface="Helvetica Neue"/>
              </a:rPr>
              <a:t> Python only. Rust, JS, R may show different magnitudes.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One cutoff:</a:t>
            </a:r>
            <a:r>
              <a:rPr sz="1700">
                <a:solidFill>
                  <a:srgbClr val="2D3748"/>
                </a:solidFill>
                <a:latin typeface="Helvetica Neue"/>
              </a:rPr>
              <a:t> effects estimated around September 2021; newer-model cutoffs would require separate estimation.</a:t>
            </a:r>
          </a:p>
          <a:p>
            <a:pPr algn="l">
              <a:lnSpc>
                <a:spcPct val="140000"/>
              </a:lnSpc>
            </a:pPr>
            <a:r>
              <a:rPr sz="17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2D3748"/>
                </a:solidFill>
                <a:latin typeface="Helvetica Neue"/>
              </a:rPr>
              <a:t>SUTVA:</a:t>
            </a:r>
            <a:r>
              <a:rPr sz="1700">
                <a:solidFill>
                  <a:srgbClr val="2D3748"/>
                </a:solidFill>
                <a:latin typeface="Helvetica Neue"/>
              </a:rPr>
              <a:t> the gap reflects direct suppression plus substitution toward established tools — both are part of the LLM effect.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53030"/>
                </a:solidFill>
                <a:latin typeface="Helvetica Neue"/>
              </a:rPr>
              <a:t>The Knowledge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Helvetica Neue"/>
              </a:rPr>
              <a:t>Training-data cutoffs act as a functional barrier for newly released software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600" b="1">
                <a:solidFill>
                  <a:srgbClr val="2D3748"/>
                </a:solidFill>
                <a:latin typeface="Helvetica Neue"/>
              </a:rPr>
              <a:t>Durable advantage:</a:t>
            </a:r>
            <a:r>
              <a:rPr sz="1600">
                <a:solidFill>
                  <a:srgbClr val="2D3748"/>
                </a:solidFill>
                <a:latin typeface="Helvetica Neue"/>
              </a:rPr>
              <a:t> tools embedded in LLM weights gain persistent visibility.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600" b="1">
                <a:solidFill>
                  <a:srgbClr val="2D3748"/>
                </a:solidFill>
                <a:latin typeface="Helvetica Neue"/>
              </a:rPr>
              <a:t>Spillovers:</a:t>
            </a:r>
            <a:r>
              <a:rPr sz="1600">
                <a:solidFill>
                  <a:srgbClr val="2D3748"/>
                </a:solidFill>
                <a:latin typeface="Helvetica Neue"/>
              </a:rPr>
              <a:t> same logic plausibly applies to research papers, blog posts, documentation.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600" b="1">
                <a:solidFill>
                  <a:srgbClr val="2D3748"/>
                </a:solidFill>
                <a:latin typeface="Helvetica Neue"/>
              </a:rPr>
              <a:t>Policy:</a:t>
            </a:r>
            <a:r>
              <a:rPr sz="1600">
                <a:solidFill>
                  <a:srgbClr val="2D3748"/>
                </a:solidFill>
                <a:latin typeface="Helvetica Neue"/>
              </a:rPr>
              <a:t> raises questions about how AI systems update their internal knowledge and what the costs are of being ‘outside the wall’.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We observe outcomes (downloads, imports), not LLM usage directly.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AI systems are evolving — web search and retrieval may erode the wall over time.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One language, one cutoff, one year of treatment — external validity is local.</a:t>
            </a:r>
          </a:p>
          <a:p>
            <a:pPr algn="l">
              <a:lnSpc>
                <a:spcPct val="16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Running variable is release date; metadata errors could attenuate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20116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53030"/>
                </a:solidFill>
                <a:latin typeface="Helvetica Neue"/>
              </a:rPr>
              <a:t>A +430% diffusion gap by January 2026, activated only after ChatGPT,
with no placebo discontinuities — a clean quasi-experiment
for collective narrowing in the age of LLMs.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LLMs steer adoption toward tools already in training data.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Libraries released post-cutoff face persistent disadvantages.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3182CE"/>
                </a:solidFill>
                <a:latin typeface="Helvetica Neue"/>
              </a:rPr>
              <a:t>•  </a:t>
            </a:r>
            <a:r>
              <a:rPr sz="1800">
                <a:solidFill>
                  <a:srgbClr val="2D3748"/>
                </a:solidFill>
                <a:latin typeface="Helvetica Neue"/>
              </a:rPr>
              <a:t>The Knowledge Wall is real, measurable, and widening.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Helvetica Neue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A0AEC0"/>
                </a:solidFill>
                <a:latin typeface="Helvetica Neue"/>
              </a:rPr>
              <a:t>Questions?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840480"/>
            <a:ext cx="941832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51676" y="3611880"/>
            <a:ext cx="0" cy="457200"/>
          </a:xfrm>
          <a:prstGeom prst="line">
            <a:avLst/>
          </a:prstGeom>
          <a:ln w="25400">
            <a:solidFill>
              <a:srgbClr val="C5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64424" y="3611880"/>
            <a:ext cx="0" cy="457200"/>
          </a:xfrm>
          <a:prstGeom prst="line">
            <a:avLst/>
          </a:prstGeom>
          <a:ln w="25400">
            <a:solidFill>
              <a:srgbClr val="318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0156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Sept '21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2904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Nov '22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4160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</a:rPr>
              <a:t>Jan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C53030"/>
                </a:solidFill>
                <a:latin typeface="Helvetica Neue"/>
              </a:rPr>
              <a:t>+430%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Helvetica Neue"/>
              </a:rPr>
              <a:t>diffusion gap by Jan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Helvetica Neue"/>
              </a:rPr>
              <a:t>Appendix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A1.  Summary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371600"/>
          <a:ext cx="9601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Horizon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Pre-cutoff mean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Post-cutoff mean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Δ%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ChatGPT + 6 months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1,467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630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+133%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ChatGPT + 12 months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2,559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1,085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+136%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ChatGPT + 24 months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8,218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2,124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+287%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January 2026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18,085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3,410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+430%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 average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6,538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1,703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+284%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2120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Helvetica Neue"/>
              </a:rPr>
              <a:t>Weekly PyPI downloads, mean across libraries in each cohort.  Pre-cutoff: libraries released Jan–Aug 2021.  Post-cutoff: Oct 2021–.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A2.  Diff-in-RDD estimates (PyPI)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Panel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Tier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Excess jump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SE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N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Pre-ChatGPT baseline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-3.72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1.67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0.026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-7.29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2.20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0.001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88,001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-7.29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2.39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0.002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Post-ChatGPT, 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Superstar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-0.25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0.35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0.473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57,931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Post-ChatGPT, unadjusted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-9.14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4.42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0.039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88,001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Post-ChatGPT, unadjusted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-12.79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4.83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0.008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75,313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9496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Helvetica Neue"/>
              </a:rPr>
              <a:t>Log-scale estimates: discontinuity in log(1 + downloads) at the cutoff, differenced against 2018–2020 placebos.  Baseline adjustment = ANCOVA on log pre-ChatGPT downloads.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A3.  Bandwidth sensitivity</a:t>
            </a:r>
          </a:p>
        </p:txBody>
      </p:sp>
      <p:pic>
        <p:nvPicPr>
          <p:cNvPr id="4" name="Picture 3" descr="sensitivity_diff_in_rdd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4553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Helvetica Neue"/>
              </a:rPr>
              <a:t>Point estimate and 95% CI across bandwidth choices h ∈ {10, 13, 18, 26, 39, 52} weeks.  Sign and significance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A4.  Density test and placebo years</a:t>
            </a:r>
          </a:p>
        </p:txBody>
      </p:sp>
      <p:pic>
        <p:nvPicPr>
          <p:cNvPr id="4" name="Picture 3" descr="density_dist_to_cut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Helvetica Neue"/>
              </a:rPr>
              <a:t>McCrary density, p = 0.43.</a:t>
            </a:r>
          </a:p>
        </p:txBody>
      </p:sp>
      <p:pic>
        <p:nvPicPr>
          <p:cNvPr id="6" name="Picture 5" descr="stacked_rd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669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  <a:latin typeface="Helvetica Neue"/>
              </a:rPr>
              <a:t>2018–2020 placebo coefficients vs. 2021.  Only 2021 is significant.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A5.  GitHub mechanism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Tier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Outcome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Excess jump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SE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Helvetica Neue"/>
                        </a:rPr>
                        <a:t>p</a:t>
                      </a:r>
                    </a:p>
                  </a:txBody>
                  <a:tcPr marL="60000" marR="60000" marT="30000" marB="30000">
                    <a:solidFill>
                      <a:srgbClr val="2D374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All-time imports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+2.12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0.92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0.022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Broad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Post-AI imports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+1.87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1.05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0.075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All-time imports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+2.29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0.96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0.017</a:t>
                      </a:r>
                    </a:p>
                  </a:txBody>
                  <a:tcPr marL="60000" marR="60000" marT="30000" marB="30000"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Successful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Post-AI imports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+2.09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1.15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D3748"/>
                          </a:solidFill>
                          <a:latin typeface="Helvetica Neue"/>
                        </a:rPr>
                        <a:t>0.069</a:t>
                      </a:r>
                    </a:p>
                  </a:txBody>
                  <a:tcPr marL="60000" marR="60000" marT="30000" marB="30000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A0AEC0"/>
                </a:solidFill>
                <a:latin typeface="Helvetica Neue"/>
              </a:rPr>
              <a:t>Baseline-adjusted Diff-in-RDD on log(1 + GitHub imports), N = 6,582 (Broad).  Positive sign: post-cutoff libraries accumulate MORE imports — consistent with stock-vs-flow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  <a:latin typeface="Helvetica Neue"/>
              </a:rPr>
              <a:t>Tuboly · Knowledge Wall · TDK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</a:rPr>
              <a:t>A6.  Reviewer comments placeholder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846320"/>
          </a:xfrm>
          <a:prstGeom prst="round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3748"/>
                </a:solidFill>
                <a:latin typeface="Helvetica Neue"/>
              </a:rPr>
              <a:t>Notes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Helvetica Neue"/>
              </a:rPr>
              <a:t>•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A0AEC0"/>
                </a:solidFill>
                <a:latin typeface="Helvetica Neue"/>
              </a:rPr>
              <a:t>[to be populated during Q&amp;A]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Helvetica Neue"/>
              </a:rPr>
              <a:t>•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718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Helvetica Neue"/>
              </a:rPr>
              <a:t>•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Helvetica Neue"/>
              </a:rPr>
              <a:t>•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182CE"/>
                </a:solidFill>
                <a:latin typeface="Helvetica Neue"/>
              </a:rPr>
              <a:t>•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Helvetica Neue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