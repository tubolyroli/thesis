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2"/>
    <p:sldMasterId id="2147483652" r:id="rId3"/>
    <p:sldMasterId id="2147483654" r:id="rId4"/>
  </p:sldMasterIdLst>
  <p:notesMasterIdLst>
    <p:notesMasterId r:id="rId48"/>
  </p:notesMasterIdLst>
  <p:sldIdLst>
    <p:sldId id="589" r:id="rId5"/>
    <p:sldId id="573" r:id="rId6"/>
    <p:sldId id="574" r:id="rId7"/>
    <p:sldId id="575" r:id="rId8"/>
    <p:sldId id="576" r:id="rId9"/>
    <p:sldId id="577" r:id="rId10"/>
    <p:sldId id="578" r:id="rId11"/>
    <p:sldId id="579" r:id="rId12"/>
    <p:sldId id="580" r:id="rId13"/>
    <p:sldId id="581" r:id="rId14"/>
    <p:sldId id="582" r:id="rId15"/>
    <p:sldId id="593" r:id="rId16"/>
    <p:sldId id="583" r:id="rId17"/>
    <p:sldId id="597" r:id="rId18"/>
    <p:sldId id="598" r:id="rId19"/>
    <p:sldId id="599" r:id="rId20"/>
    <p:sldId id="584" r:id="rId21"/>
    <p:sldId id="585" r:id="rId22"/>
    <p:sldId id="567" r:id="rId23"/>
    <p:sldId id="586" r:id="rId24"/>
    <p:sldId id="592" r:id="rId25"/>
    <p:sldId id="570" r:id="rId26"/>
    <p:sldId id="571" r:id="rId27"/>
    <p:sldId id="527" r:id="rId28"/>
    <p:sldId id="528" r:id="rId29"/>
    <p:sldId id="590" r:id="rId30"/>
    <p:sldId id="591" r:id="rId31"/>
    <p:sldId id="587" r:id="rId32"/>
    <p:sldId id="532" r:id="rId33"/>
    <p:sldId id="588" r:id="rId34"/>
    <p:sldId id="534" r:id="rId35"/>
    <p:sldId id="601" r:id="rId36"/>
    <p:sldId id="535" r:id="rId37"/>
    <p:sldId id="600" r:id="rId38"/>
    <p:sldId id="536" r:id="rId39"/>
    <p:sldId id="537" r:id="rId40"/>
    <p:sldId id="538" r:id="rId41"/>
    <p:sldId id="539" r:id="rId42"/>
    <p:sldId id="505" r:id="rId43"/>
    <p:sldId id="506" r:id="rId44"/>
    <p:sldId id="541" r:id="rId45"/>
    <p:sldId id="542" r:id="rId46"/>
    <p:sldId id="543" r:id="rId47"/>
  </p:sldIdLst>
  <p:sldSz cx="18288000" cy="10287000"/>
  <p:notesSz cx="10287000" cy="18288000"/>
  <p:embeddedFontLst>
    <p:embeddedFont>
      <p:font typeface="Cambria Math" panose="02040503050406030204" pitchFamily="18" charset="0"/>
      <p:regular r:id="rId49"/>
    </p:embeddedFont>
    <p:embeddedFont>
      <p:font typeface="Inter" pitchFamily="2" charset="0"/>
      <p:regular r:id="rId50"/>
      <p:bold r:id="rId51"/>
      <p:italic r:id="rId52"/>
      <p:boldItalic r:id="rId53"/>
    </p:embeddedFont>
    <p:embeddedFont>
      <p:font typeface="Inter Tight" pitchFamily="2" charset="0"/>
      <p:regular r:id="rId54"/>
      <p:bold r:id="rId55"/>
      <p:italic r:id="rId56"/>
      <p:boldItalic r:id="rId57"/>
    </p:embeddedFont>
    <p:embeddedFont>
      <p:font typeface="Inter Tight Black" pitchFamily="2" charset="0"/>
      <p:bold r:id="rId58"/>
      <p:italic r:id="rId59"/>
      <p:boldItalic r:id="rId60"/>
    </p:embeddedFont>
    <p:embeddedFont>
      <p:font typeface="Inter Tight Bold" pitchFamily="2" charset="0"/>
      <p:bold r:id="rId61"/>
      <p:italic r:id="rId62"/>
      <p:boldItalic r:id="rId63"/>
    </p:embeddedFont>
    <p:embeddedFont>
      <p:font typeface="Inter Tight ExtraBold" pitchFamily="2" charset="0"/>
      <p:bold r:id="rId64"/>
      <p:italic r:id="rId65"/>
      <p:boldItalic r:id="rId66"/>
    </p:embeddedFont>
    <p:embeddedFont>
      <p:font typeface="JetBrains Mono" panose="02000009000000000000" pitchFamily="49" charset="0"/>
      <p:regular r:id="rId67"/>
      <p:bold r:id="rId68"/>
      <p:italic r:id="rId69"/>
      <p:boldItalic r:id="rId70"/>
    </p:embeddedFont>
    <p:embeddedFont>
      <p:font typeface="Source Serif 4 14pt" panose="02040603050405020204" pitchFamily="18" charset="0"/>
      <p:regular r:id="rId71"/>
      <p:bold r:id="rId72"/>
      <p:italic r:id="rId73"/>
      <p:boldItalic r:id="rId74"/>
    </p:embeddedFont>
    <p:embeddedFont>
      <p:font typeface="Source Serif 4 14pt Black" panose="02040603050405020204" pitchFamily="18" charset="0"/>
      <p:bold r:id="rId75"/>
      <p:italic r:id="rId76"/>
      <p:boldItalic r:id="rId77"/>
    </p:embeddedFont>
    <p:embeddedFont>
      <p:font typeface="Source Serif 4 14pt ExtraBold" panose="02040603050405020204" pitchFamily="18" charset="0"/>
      <p:bold r:id="rId78"/>
      <p:italic r:id="rId79"/>
      <p:boldItalic r:id="rId80"/>
    </p:embeddedFont>
    <p:embeddedFont>
      <p:font typeface="Source Serif 4 14pt Medium" panose="02040603050405020204" pitchFamily="18" charset="0"/>
      <p:regular r:id="rId81"/>
      <p:italic r:id="rId8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6C7"/>
    <a:srgbClr val="0077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90"/>
    <p:restoredTop sz="94613"/>
  </p:normalViewPr>
  <p:slideViewPr>
    <p:cSldViewPr snapToGrid="0" snapToObjects="1">
      <p:cViewPr>
        <p:scale>
          <a:sx n="69" d="100"/>
          <a:sy n="69" d="100"/>
        </p:scale>
        <p:origin x="66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15.fntdata"/><Relationship Id="rId68" Type="http://schemas.openxmlformats.org/officeDocument/2006/relationships/font" Target="fonts/font20.fntdata"/><Relationship Id="rId84" Type="http://schemas.openxmlformats.org/officeDocument/2006/relationships/viewProps" Target="view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74" Type="http://schemas.openxmlformats.org/officeDocument/2006/relationships/font" Target="fonts/font26.fntdata"/><Relationship Id="rId79" Type="http://schemas.openxmlformats.org/officeDocument/2006/relationships/font" Target="fonts/font31.fntdata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font" Target="fonts/font16.fntdata"/><Relationship Id="rId69" Type="http://schemas.openxmlformats.org/officeDocument/2006/relationships/font" Target="fonts/font21.fntdata"/><Relationship Id="rId77" Type="http://schemas.openxmlformats.org/officeDocument/2006/relationships/font" Target="fonts/font29.fntdata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72" Type="http://schemas.openxmlformats.org/officeDocument/2006/relationships/font" Target="fonts/font24.fntdata"/><Relationship Id="rId80" Type="http://schemas.openxmlformats.org/officeDocument/2006/relationships/font" Target="fonts/font32.fntdata"/><Relationship Id="rId85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11.fntdata"/><Relationship Id="rId67" Type="http://schemas.openxmlformats.org/officeDocument/2006/relationships/font" Target="fonts/font19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70" Type="http://schemas.openxmlformats.org/officeDocument/2006/relationships/font" Target="fonts/font22.fntdata"/><Relationship Id="rId75" Type="http://schemas.openxmlformats.org/officeDocument/2006/relationships/font" Target="fonts/font27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font" Target="fonts/font17.fntdata"/><Relationship Id="rId73" Type="http://schemas.openxmlformats.org/officeDocument/2006/relationships/font" Target="fonts/font25.fntdata"/><Relationship Id="rId78" Type="http://schemas.openxmlformats.org/officeDocument/2006/relationships/font" Target="fonts/font30.fntdata"/><Relationship Id="rId81" Type="http://schemas.openxmlformats.org/officeDocument/2006/relationships/font" Target="fonts/font33.fntdata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6" Type="http://schemas.openxmlformats.org/officeDocument/2006/relationships/font" Target="fonts/font28.fntdata"/><Relationship Id="rId7" Type="http://schemas.openxmlformats.org/officeDocument/2006/relationships/slide" Target="slides/slide3.xml"/><Relationship Id="rId71" Type="http://schemas.openxmlformats.org/officeDocument/2006/relationships/font" Target="fonts/font23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font" Target="fonts/font18.fntdata"/><Relationship Id="rId61" Type="http://schemas.openxmlformats.org/officeDocument/2006/relationships/font" Target="fonts/font13.fntdata"/><Relationship Id="rId82" Type="http://schemas.openxmlformats.org/officeDocument/2006/relationships/font" Target="fonts/font3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512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54D6-44ED-EF61-EAC1-99467D8E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20219-E2CE-47B1-3A30-ADB293ABF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E7611-3E85-3777-42B4-E756B9E66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361AA-3796-EA85-B3DC-8CE2B2BA55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16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39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6B84E-7E86-F94C-6053-BE10E13E6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27E663-24B7-B8DD-7062-3E3A34592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B9BCA-D35B-A371-BA65-978AE30C7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5F01F-D153-FE3D-B134-EDC9A75B8D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12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7BB2A-38F5-C24D-BB01-A5963258B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70DBD-C797-35D3-0156-165683B03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DE7E49-14A9-5E24-F842-6B5871138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4C34B-7656-0F67-9E00-3A8E3E600B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41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E41FE-A1F1-0360-3E60-DE6617BD0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05640-B2F5-2CCC-28C5-76511113F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B5024-0B6E-7C84-DF6D-6EE47CA3E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86E6D-BDA9-EF07-1F60-6F7082CCB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51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9DFB5-EDCB-11EA-2895-FE442980D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760AC-7BCE-A8CF-10F3-0AAC6E1CB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2D9DE2-BC6C-7EDF-BE0C-D3B909D2F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CC8C0-B721-F592-C5CB-851764E94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55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5CBC5-B606-4151-0FF2-E31A9DC6B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09B32-8E24-1852-E35A-707D2442F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D10A1-D632-EB93-DA91-68F39D449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F43AC-9F97-1405-0AF4-34FE83C4BA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10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6F994-0275-B067-432F-18B3EDDBF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B50D0-C8A0-C464-F40E-7696F46EB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E99EA-09D6-6B24-0F64-C61781A27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4077E-3550-A134-5013-DBB42867F2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647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AB767-89E0-27A6-285F-23B9B5E63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4C21A-A850-4EB8-A6AA-2B55E0A0B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D6E02-5FBD-511C-DAEF-C092761F0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A3CE7-6ACE-BE56-37FF-A7AABBE04A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636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4E84B-66C6-773C-6E2A-0230C3BB3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FDB50-19DB-5702-C6B7-5BC69CD9C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74E8D8-DB4D-8570-7AE9-CD5F00CDB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07A4A-87AD-D8E6-F258-9241A76943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657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36EB-EDA5-FDA4-D3A4-503EFA26E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8BB133-AF41-2429-A1A7-5FDB6E777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7EEBE-2B0F-CDA0-7DF7-3B8287DCF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E831A-7EC2-8049-7242-D1A9E9D6FA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219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4B112-6BB4-BDA2-54A4-6C9E73FB5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15F62-18AB-9879-AB92-049C3C416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9F8F9-57B0-BC47-40C8-D81F46AE3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7D1A2-9DE6-C9FD-645D-8B7315CB1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348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81213-AF1A-122A-E35E-7B9EA3256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E25F7-B851-DE1D-52BB-3F0290A21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901C72-7F16-0A4C-9184-1367F7EA8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AB9C5-8FF3-0450-E379-6AB0E8677C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81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B1A31-B190-BDBF-0EF2-3395EAA61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C6296-36EE-2AA3-0C3C-D9B7FC59D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4634D6-A509-555B-AF73-622313772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3E59E-EB05-24DA-07E9-2EEF2769E2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386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B46C7-430E-F26A-9D47-BC758DB36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B2B85-698F-19E6-115A-840DA9F48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CD4C1-68FD-1866-E4BF-FC35D0244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2A228-D451-DA07-3880-C24D35BFC8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0815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9DC3B-9ED7-4F2F-7879-614039CF7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3598F-447C-BB6D-0C40-8E6565093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93B7A-DE7F-90B6-BE5E-6379BE3E0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52C09-D81F-C630-932A-0580AE2D18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551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A97C3-C1AD-CB8C-26EE-BFAD60BBE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1F81B-3E16-3E22-A5CD-227D80C87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81D63-E2F0-3F3C-DA35-18EC2DD30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FBCA5-67A0-7823-B349-F7E67ABE26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144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11868-1468-5A47-8F67-7E5A194A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2A636-C69E-6A3B-AD23-44D7BF39F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0D9FE-B81E-CB5B-A5C7-F28680572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43D99-6DBA-C12F-020C-73BB221E57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01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679F9-38CF-5274-3B33-CCCA56591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675AD-1110-882B-5797-2233C0C17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95900-6DB8-0650-FFAD-15BB4B5F9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CC437-A77C-C23F-BBC2-9906826DD8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642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3270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BCC29-0D5B-5665-2577-C74D7F54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B5FB4-DF8A-49EE-8331-8FFD4596B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9E99E-F746-EEE9-0CC9-0917DE275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92882-5A49-431E-E743-5CEF8B573C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844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emf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3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emf"/><Relationship Id="rId5" Type="http://schemas.openxmlformats.org/officeDocument/2006/relationships/image" Target="../media/image3.png"/><Relationship Id="rId4" Type="http://schemas.openxmlformats.org/officeDocument/2006/relationships/image" Target="../media/image3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4" name="Graphic 9104" descr="Artificial Intelligence icon"/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9380" y="5315278"/>
            <a:ext cx="5101770" cy="510177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1270000"/>
            <a:ext cx="18288000" cy="381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5640" y="380322"/>
            <a:ext cx="16456720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/>
            <a:r>
              <a:rPr lang="en-US" sz="2800" kern="0" spc="324" dirty="0">
                <a:solidFill>
                  <a:srgbClr val="0077B6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TDK PRESENTATION · 11 MAY 2026 · NETWORK AND DATA SCIENCE SECTION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6000" y="2379153"/>
            <a:ext cx="16256000" cy="1079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8800" kern="0" spc="-54" dirty="0">
                <a:solidFill>
                  <a:srgbClr val="03045E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  <a:cs typeface="Source Serif 4 14pt Medium" pitchFamily="34" charset="-120"/>
              </a:rPr>
              <a:t>Do </a:t>
            </a:r>
            <a:r>
              <a:rPr lang="en-US" sz="8800" kern="0" spc="-54" dirty="0">
                <a:solidFill>
                  <a:srgbClr val="03045E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</a:rPr>
              <a:t>LLMs</a:t>
            </a:r>
            <a:r>
              <a:rPr lang="en-US" sz="8800" kern="0" spc="-54" dirty="0">
                <a:solidFill>
                  <a:srgbClr val="0077B6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  <a:cs typeface="Source Serif 4 14pt Medium" pitchFamily="34" charset="-120"/>
              </a:rPr>
              <a:t> </a:t>
            </a:r>
            <a:r>
              <a:rPr lang="en-US" sz="8800" kern="0" spc="-54" dirty="0">
                <a:solidFill>
                  <a:srgbClr val="03045E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  <a:cs typeface="Source Serif 4 14pt Medium" pitchFamily="34" charset="-120"/>
              </a:rPr>
              <a:t>Shape the </a:t>
            </a:r>
            <a:r>
              <a:rPr lang="en-US" sz="8800" i="1" kern="0" spc="-54" dirty="0">
                <a:solidFill>
                  <a:srgbClr val="0077B6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</a:rPr>
              <a:t>Diffusion</a:t>
            </a:r>
            <a:r>
              <a:rPr lang="en-US" sz="8800" kern="0" spc="-54" dirty="0">
                <a:solidFill>
                  <a:srgbClr val="03045E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  <a:cs typeface="Source Serif 4 14pt Medium" pitchFamily="34" charset="-120"/>
              </a:rPr>
              <a:t> of New Software?</a:t>
            </a:r>
            <a:endParaRPr lang="en-US" sz="8800" dirty="0">
              <a:latin typeface="Source Serif 4 14pt Medium" panose="02040603050405020204" pitchFamily="18" charset="0"/>
              <a:ea typeface="Source Serif 4 14pt Medium" panose="0204060305040502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159000" y="5193110"/>
            <a:ext cx="139700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200" i="1" dirty="0">
                <a:solidFill>
                  <a:srgbClr val="03045E">
                    <a:alpha val="65000"/>
                  </a:srgbClr>
                </a:solidFill>
                <a:latin typeface="Source Serif 4 14pt" pitchFamily="34" charset="0"/>
                <a:ea typeface="Source Serif 4 14pt" pitchFamily="34" charset="-122"/>
                <a:cs typeface="Source Serif 4 14pt" pitchFamily="34" charset="-120"/>
              </a:rPr>
              <a:t>Training cutoffs and adoption dynamics in the Python ecosystem</a:t>
            </a:r>
            <a:endParaRPr lang="en-US" sz="3200" i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82A902-D4D5-D4E6-87D1-99863AE003DF}"/>
              </a:ext>
            </a:extLst>
          </p:cNvPr>
          <p:cNvGrpSpPr/>
          <p:nvPr/>
        </p:nvGrpSpPr>
        <p:grpSpPr>
          <a:xfrm>
            <a:off x="1398629" y="7638701"/>
            <a:ext cx="16069951" cy="1296612"/>
            <a:chOff x="3101263" y="7427687"/>
            <a:chExt cx="14624095" cy="1296612"/>
          </a:xfrm>
        </p:grpSpPr>
        <p:sp>
          <p:nvSpPr>
            <p:cNvPr id="7" name="Text 5"/>
            <p:cNvSpPr/>
            <p:nvPr/>
          </p:nvSpPr>
          <p:spPr>
            <a:xfrm>
              <a:off x="3101263" y="7427687"/>
              <a:ext cx="3175000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800" kern="0" spc="252" dirty="0">
                  <a:solidFill>
                    <a:srgbClr val="0077B6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AUTHOR</a:t>
              </a:r>
              <a:endParaRPr lang="en-US" sz="2800" dirty="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3101263" y="7872187"/>
              <a:ext cx="3175000" cy="444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3045E">
                      <a:alpha val="85000"/>
                    </a:srgbClr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Roland Tuboly</a:t>
              </a:r>
              <a:endParaRPr lang="en-US" sz="2800" dirty="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984288" y="7443155"/>
              <a:ext cx="3556000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800" kern="0" spc="252" dirty="0">
                  <a:solidFill>
                    <a:srgbClr val="0077B6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SUPERVISOR</a:t>
              </a:r>
              <a:endParaRPr lang="en-US" sz="2800" dirty="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6984288" y="7887655"/>
              <a:ext cx="3556000" cy="444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03045E">
                      <a:alpha val="85000"/>
                    </a:srgbClr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Johannes Wachs</a:t>
              </a:r>
              <a:endParaRPr lang="en-US" sz="2800" dirty="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11483263" y="7427687"/>
              <a:ext cx="5715000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2800" kern="0" spc="252" dirty="0">
                  <a:solidFill>
                    <a:srgbClr val="0077B6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PROGRAMME</a:t>
              </a:r>
              <a:endParaRPr lang="en-US" sz="2800" dirty="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0956167" y="7962299"/>
              <a:ext cx="6769191" cy="762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algn="ctr"/>
              <a:r>
                <a:rPr lang="en-US" sz="2200" dirty="0">
                  <a:solidFill>
                    <a:srgbClr val="03045E">
                      <a:alpha val="85000"/>
                    </a:srgbClr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Social Data Science MSc - </a:t>
              </a:r>
              <a:r>
                <a:rPr lang="en-US" sz="2200" dirty="0">
                  <a:solidFill>
                    <a:srgbClr val="03045E">
                      <a:alpha val="50000"/>
                    </a:srgbClr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Corvinus University of Budapest</a:t>
              </a:r>
              <a:endParaRPr lang="en-US" sz="2200" dirty="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20001" name="Divider 20001"/>
            <p:cNvSpPr/>
            <p:nvPr/>
          </p:nvSpPr>
          <p:spPr>
            <a:xfrm>
              <a:off x="6657263" y="7427687"/>
              <a:ext cx="19050" cy="1016000"/>
            </a:xfrm>
            <a:prstGeom prst="rect">
              <a:avLst/>
            </a:prstGeom>
            <a:solidFill>
              <a:srgbClr val="B0B0B0"/>
            </a:solidFill>
            <a:ln w="0">
              <a:noFill/>
            </a:ln>
          </p:spPr>
          <p:txBody>
            <a:bodyPr/>
            <a:lstStyle/>
            <a:p>
              <a:pPr algn="ctr"/>
              <a:endParaRPr lang="en-US" sz="200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20002" name="Divider 20002"/>
            <p:cNvSpPr/>
            <p:nvPr/>
          </p:nvSpPr>
          <p:spPr>
            <a:xfrm>
              <a:off x="10848263" y="7427687"/>
              <a:ext cx="19050" cy="1016000"/>
            </a:xfrm>
            <a:prstGeom prst="rect">
              <a:avLst/>
            </a:prstGeom>
            <a:solidFill>
              <a:srgbClr val="B0B0B0"/>
            </a:solidFill>
            <a:ln w="0">
              <a:noFill/>
            </a:ln>
          </p:spPr>
          <p:txBody>
            <a:bodyPr/>
            <a:lstStyle/>
            <a:p>
              <a:pPr algn="ctr"/>
              <a:endParaRPr lang="en-US" sz="200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</p:grpSp>
      <p:sp>
        <p:nvSpPr>
          <p:cNvPr id="20003" name="AccentLine"/>
          <p:cNvSpPr/>
          <p:nvPr/>
        </p:nvSpPr>
        <p:spPr>
          <a:xfrm>
            <a:off x="698500" y="1206500"/>
            <a:ext cx="16891000" cy="3175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D7CFB9C-7449-A52D-2FF1-0D650FEE08EA}"/>
              </a:ext>
            </a:extLst>
          </p:cNvPr>
          <p:cNvSpPr/>
          <p:nvPr/>
        </p:nvSpPr>
        <p:spPr>
          <a:xfrm>
            <a:off x="7397750" y="6018610"/>
            <a:ext cx="3492500" cy="3810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2800">
              <a:solidFill>
                <a:srgbClr val="03045E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8A0228-8A8B-3C7F-BEA1-C7EBE5B89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455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B9E55-3266-A82D-D0A0-7B2E9845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B2D747-E9E2-91B0-F7E0-05C0EB178F6B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185EF4-E54B-2FD2-11EA-E37C07B26B8D}"/>
              </a:ext>
            </a:extLst>
          </p:cNvPr>
          <p:cNvSpPr/>
          <p:nvPr/>
        </p:nvSpPr>
        <p:spPr>
          <a:xfrm>
            <a:off x="931365" y="580758"/>
            <a:ext cx="1687449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kern="0" spc="-33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Why software diffusion, and why now?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93E4866-5BE1-DF1D-0D24-278799170B2B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901" name="Card BG 1"/>
          <p:cNvSpPr/>
          <p:nvPr/>
        </p:nvSpPr>
        <p:spPr>
          <a:xfrm>
            <a:off x="1015999" y="5616978"/>
            <a:ext cx="7308089" cy="3293076"/>
          </a:xfrm>
          <a:prstGeom prst="roundRect">
            <a:avLst>
              <a:gd name="adj" fmla="val 5000"/>
            </a:avLst>
          </a:prstGeom>
          <a:solidFill>
            <a:srgbClr val="E8EDF3"/>
          </a:solidFill>
          <a:ln w="0">
            <a:noFill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902" name="Card BG 2"/>
          <p:cNvSpPr/>
          <p:nvPr/>
        </p:nvSpPr>
        <p:spPr>
          <a:xfrm>
            <a:off x="9646413" y="5616978"/>
            <a:ext cx="7625588" cy="3293076"/>
          </a:xfrm>
          <a:prstGeom prst="roundRect">
            <a:avLst>
              <a:gd name="adj" fmla="val 5000"/>
            </a:avLst>
          </a:prstGeom>
          <a:solidFill>
            <a:srgbClr val="DDE3EC"/>
          </a:solidFill>
          <a:ln w="0">
            <a:noFill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EDD02DF-2C18-A368-94B6-FC7B048D759D}"/>
              </a:ext>
            </a:extLst>
          </p:cNvPr>
          <p:cNvSpPr/>
          <p:nvPr/>
        </p:nvSpPr>
        <p:spPr>
          <a:xfrm>
            <a:off x="1346947" y="5808046"/>
            <a:ext cx="62622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216" dirty="0">
                <a:solidFill>
                  <a:srgbClr val="898989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THE MEASURABLE OBJECT</a:t>
            </a:r>
            <a:endParaRPr lang="en-US" sz="2000" b="1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F5FD6F8-94DB-E8E6-105F-AC063070C0B7}"/>
              </a:ext>
            </a:extLst>
          </p:cNvPr>
          <p:cNvSpPr/>
          <p:nvPr/>
        </p:nvSpPr>
        <p:spPr>
          <a:xfrm>
            <a:off x="784751" y="7614903"/>
            <a:ext cx="2638313" cy="498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65000"/>
              </a:lnSpc>
              <a:buNone/>
            </a:pP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94DD539-7C55-AA0E-A967-2B05F3F49C4E}"/>
              </a:ext>
            </a:extLst>
          </p:cNvPr>
          <p:cNvSpPr/>
          <p:nvPr/>
        </p:nvSpPr>
        <p:spPr>
          <a:xfrm>
            <a:off x="9836152" y="5826707"/>
            <a:ext cx="72456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216" dirty="0">
                <a:solidFill>
                  <a:srgbClr val="898989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WHY IT MATTERS</a:t>
            </a:r>
            <a:endParaRPr lang="en-US" sz="20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B5A14CF-DB45-BDC4-6A1F-0CFFEF5D606B}"/>
              </a:ext>
            </a:extLst>
          </p:cNvPr>
          <p:cNvSpPr/>
          <p:nvPr/>
        </p:nvSpPr>
        <p:spPr>
          <a:xfrm>
            <a:off x="9645475" y="6505112"/>
            <a:ext cx="762558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25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Productivity vs. variety </a:t>
            </a:r>
            <a:r>
              <a:rPr lang="en-US" sz="25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- Doshi &amp; Hauser</a:t>
            </a:r>
            <a:endParaRPr lang="en-US" sz="25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9B8F624-F6BC-1A2D-816F-3BEEF725CB0E}"/>
              </a:ext>
            </a:extLst>
          </p:cNvPr>
          <p:cNvSpPr/>
          <p:nvPr/>
        </p:nvSpPr>
        <p:spPr>
          <a:xfrm>
            <a:off x="9645944" y="7178353"/>
            <a:ext cx="7625588" cy="616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25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Knowledge frontier </a:t>
            </a:r>
            <a:r>
              <a:rPr lang="en-US" sz="25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- Acemoglu, Evans, Daniotti et al.</a:t>
            </a:r>
            <a:endParaRPr lang="en-US" sz="25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CDC6346-73E0-D233-5D2D-4C3922CDFBF8}"/>
              </a:ext>
            </a:extLst>
          </p:cNvPr>
          <p:cNvSpPr/>
          <p:nvPr/>
        </p:nvSpPr>
        <p:spPr>
          <a:xfrm>
            <a:off x="9645944" y="7872851"/>
            <a:ext cx="7625587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>
              <a:lnSpc>
                <a:spcPct val="155000"/>
              </a:lnSpc>
            </a:pPr>
            <a:r>
              <a:rPr lang="en-US" sz="25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Gatekeeping</a:t>
            </a:r>
            <a:r>
              <a:rPr lang="en-US" sz="25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 -</a:t>
            </a:r>
            <a:r>
              <a:rPr lang="en-US" sz="25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 del Rio-Chanona et al.</a:t>
            </a:r>
            <a:endParaRPr lang="en-US" sz="25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692A1F6-D53E-20F4-35B1-631392410190}"/>
              </a:ext>
            </a:extLst>
          </p:cNvPr>
          <p:cNvSpPr/>
          <p:nvPr/>
        </p:nvSpPr>
        <p:spPr>
          <a:xfrm>
            <a:off x="4168123" y="1681050"/>
            <a:ext cx="9951755" cy="3610655"/>
          </a:xfrm>
          <a:prstGeom prst="roundRect">
            <a:avLst>
              <a:gd name="adj" fmla="val 2778"/>
            </a:avLst>
          </a:prstGeom>
          <a:solidFill>
            <a:srgbClr val="03045E"/>
          </a:solidFill>
          <a:ln/>
        </p:spPr>
        <p:txBody>
          <a:bodyPr/>
          <a:lstStyle/>
          <a:p>
            <a:endParaRPr lang="en-US" sz="2000" dirty="0">
              <a:solidFill>
                <a:srgbClr val="03045E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4C2B0AF-C732-B45B-661C-A9B9AC3E7673}"/>
              </a:ext>
            </a:extLst>
          </p:cNvPr>
          <p:cNvSpPr/>
          <p:nvPr/>
        </p:nvSpPr>
        <p:spPr>
          <a:xfrm>
            <a:off x="4357553" y="1876312"/>
            <a:ext cx="54155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216" dirty="0">
                <a:solidFill>
                  <a:srgbClr val="0077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QUESTION</a:t>
            </a:r>
            <a:endParaRPr lang="en-US" sz="2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B09E188-188E-428A-6667-25F6DECB6CC8}"/>
              </a:ext>
            </a:extLst>
          </p:cNvPr>
          <p:cNvSpPr/>
          <p:nvPr/>
        </p:nvSpPr>
        <p:spPr>
          <a:xfrm>
            <a:off x="4168123" y="2619792"/>
            <a:ext cx="9951754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28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 training-data cutoffs create a </a:t>
            </a:r>
            <a:r>
              <a:rPr lang="en-US" sz="2800" b="1" dirty="0">
                <a:solidFill>
                  <a:srgbClr val="0077B6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persistent adoption barrier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en-US" sz="28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newly released Python libraries?</a:t>
            </a:r>
            <a:endParaRPr lang="en-US" sz="28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8D2BDA1-748D-A41E-A562-F13E4B953A74}"/>
              </a:ext>
            </a:extLst>
          </p:cNvPr>
          <p:cNvSpPr/>
          <p:nvPr/>
        </p:nvSpPr>
        <p:spPr>
          <a:xfrm>
            <a:off x="4706112" y="4424250"/>
            <a:ext cx="5257800" cy="19050"/>
          </a:xfrm>
          <a:prstGeom prst="rect">
            <a:avLst/>
          </a:prstGeom>
          <a:solidFill>
            <a:srgbClr val="03045E">
              <a:alpha val="11765"/>
            </a:srgbClr>
          </a:solidFill>
          <a:ln/>
        </p:spPr>
        <p:txBody>
          <a:bodyPr/>
          <a:lstStyle/>
          <a:p>
            <a:endParaRPr lang="en-US" sz="2000">
              <a:solidFill>
                <a:srgbClr val="03045E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C4ABCB7-584F-3CC9-5E43-71684D0D6384}"/>
              </a:ext>
            </a:extLst>
          </p:cNvPr>
          <p:cNvSpPr/>
          <p:nvPr/>
        </p:nvSpPr>
        <p:spPr>
          <a:xfrm>
            <a:off x="4168122" y="4392501"/>
            <a:ext cx="995175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>
                    <a:alpha val="50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If ChatGPT never saw your library, will developers ever find it?</a:t>
            </a:r>
            <a:endParaRPr lang="en-US" sz="24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pic>
        <p:nvPicPr>
          <p:cNvPr id="20" name="Graphic 20" descr="Research target">
            <a:extLst>
              <a:ext uri="{FF2B5EF4-FFF2-40B4-BE49-F238E27FC236}">
                <a16:creationId xmlns:a16="http://schemas.microsoft.com/office/drawing/2014/main" id="{61C21EB1-495D-0A75-F65E-29FBD1D29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97047" y="1920181"/>
            <a:ext cx="533400" cy="533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100C6F2-CA77-715A-1573-D1AF24E596F8}"/>
              </a:ext>
            </a:extLst>
          </p:cNvPr>
          <p:cNvSpPr txBox="1"/>
          <p:nvPr/>
        </p:nvSpPr>
        <p:spPr>
          <a:xfrm>
            <a:off x="2771454" y="6824333"/>
            <a:ext cx="37971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units of technological diffusion</a:t>
            </a:r>
            <a:endParaRPr lang="en-US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26E7EC-E703-9587-14B8-E31156A7959A}"/>
              </a:ext>
            </a:extLst>
          </p:cNvPr>
          <p:cNvSpPr txBox="1"/>
          <p:nvPr/>
        </p:nvSpPr>
        <p:spPr>
          <a:xfrm>
            <a:off x="5083695" y="7670410"/>
            <a:ext cx="33732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released on a specific date </a:t>
            </a:r>
            <a:endParaRPr lang="en-US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8DDB86-0369-699E-3604-7FF5619B8ECC}"/>
              </a:ext>
            </a:extLst>
          </p:cNvPr>
          <p:cNvSpPr txBox="1"/>
          <p:nvPr/>
        </p:nvSpPr>
        <p:spPr>
          <a:xfrm>
            <a:off x="2732938" y="8322687"/>
            <a:ext cx="38702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downloaded at a measurable rate</a:t>
            </a:r>
            <a:endParaRPr lang="en-US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9A47EE-F1FE-4707-0CDB-1310741E7EFC}"/>
              </a:ext>
            </a:extLst>
          </p:cNvPr>
          <p:cNvSpPr txBox="1"/>
          <p:nvPr/>
        </p:nvSpPr>
        <p:spPr>
          <a:xfrm>
            <a:off x="1072045" y="7667061"/>
            <a:ext cx="26383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in public code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BD6C44-F071-F2C8-871C-12134E2A45AC}"/>
              </a:ext>
            </a:extLst>
          </p:cNvPr>
          <p:cNvSpPr/>
          <p:nvPr/>
        </p:nvSpPr>
        <p:spPr>
          <a:xfrm>
            <a:off x="9941670" y="7233255"/>
            <a:ext cx="7034605" cy="95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txBody>
          <a:bodyPr/>
          <a:lstStyle/>
          <a:p>
            <a:endParaRPr lang="en-US" sz="2000">
              <a:solidFill>
                <a:srgbClr val="03045E"/>
              </a:solidFill>
            </a:endParaRPr>
          </a:p>
        </p:txBody>
      </p:sp>
      <p:sp>
        <p:nvSpPr>
          <p:cNvPr id="51" name="Shape 6">
            <a:extLst>
              <a:ext uri="{FF2B5EF4-FFF2-40B4-BE49-F238E27FC236}">
                <a16:creationId xmlns:a16="http://schemas.microsoft.com/office/drawing/2014/main" id="{E4A97E8F-48BC-A90E-4749-3653EA02BD0A}"/>
              </a:ext>
            </a:extLst>
          </p:cNvPr>
          <p:cNvSpPr/>
          <p:nvPr/>
        </p:nvSpPr>
        <p:spPr>
          <a:xfrm>
            <a:off x="9941670" y="7852839"/>
            <a:ext cx="7034605" cy="95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txBody>
          <a:bodyPr/>
          <a:lstStyle/>
          <a:p>
            <a:endParaRPr lang="en-US" sz="2000">
              <a:solidFill>
                <a:srgbClr val="03045E"/>
              </a:solidFill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E153AE8F-0534-4909-5398-C4BE8B6ED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94786" y="580758"/>
            <a:ext cx="720234" cy="7202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613798-1305-6EFD-18ED-2FCD0AF6E2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3821" y="5735184"/>
            <a:ext cx="543556" cy="5435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6603DA-AF23-1B66-11BB-FEEDB42663ED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681161" y="5742331"/>
            <a:ext cx="519784" cy="519784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2F16115E-873D-B6FC-6159-E24B23B6CD3F}"/>
              </a:ext>
            </a:extLst>
          </p:cNvPr>
          <p:cNvGrpSpPr/>
          <p:nvPr/>
        </p:nvGrpSpPr>
        <p:grpSpPr>
          <a:xfrm>
            <a:off x="2067351" y="7088429"/>
            <a:ext cx="647700" cy="609600"/>
            <a:chOff x="3091835" y="9051610"/>
            <a:chExt cx="647700" cy="609600"/>
          </a:xfrm>
        </p:grpSpPr>
        <p:sp>
          <p:nvSpPr>
            <p:cNvPr id="30" name="Shape 11">
              <a:extLst>
                <a:ext uri="{FF2B5EF4-FFF2-40B4-BE49-F238E27FC236}">
                  <a16:creationId xmlns:a16="http://schemas.microsoft.com/office/drawing/2014/main" id="{C1AE4A6E-F72E-2645-74B5-15F90CAF088C}"/>
                </a:ext>
              </a:extLst>
            </p:cNvPr>
            <p:cNvSpPr/>
            <p:nvPr/>
          </p:nvSpPr>
          <p:spPr>
            <a:xfrm>
              <a:off x="3129935" y="9051610"/>
              <a:ext cx="571500" cy="571500"/>
            </a:xfrm>
            <a:prstGeom prst="ellipse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12">
              <a:extLst>
                <a:ext uri="{FF2B5EF4-FFF2-40B4-BE49-F238E27FC236}">
                  <a16:creationId xmlns:a16="http://schemas.microsoft.com/office/drawing/2014/main" id="{B4082A28-C859-CC0E-6C42-0D413EF4716C}"/>
                </a:ext>
              </a:extLst>
            </p:cNvPr>
            <p:cNvSpPr/>
            <p:nvPr/>
          </p:nvSpPr>
          <p:spPr>
            <a:xfrm>
              <a:off x="3091835" y="9051610"/>
              <a:ext cx="647700" cy="609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1</a:t>
              </a:r>
              <a:endParaRPr lang="en-US" sz="18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1D797BE-8043-DE32-4E4E-6A25E77747AC}"/>
              </a:ext>
            </a:extLst>
          </p:cNvPr>
          <p:cNvGrpSpPr/>
          <p:nvPr/>
        </p:nvGrpSpPr>
        <p:grpSpPr>
          <a:xfrm>
            <a:off x="4332377" y="7746338"/>
            <a:ext cx="647700" cy="609600"/>
            <a:chOff x="8489385" y="9051610"/>
            <a:chExt cx="647700" cy="609600"/>
          </a:xfrm>
        </p:grpSpPr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E8BBF4C0-9FF9-BC8B-0F09-47311EDDBA20}"/>
                </a:ext>
              </a:extLst>
            </p:cNvPr>
            <p:cNvSpPr/>
            <p:nvPr/>
          </p:nvSpPr>
          <p:spPr>
            <a:xfrm>
              <a:off x="8527485" y="9051610"/>
              <a:ext cx="571500" cy="571500"/>
            </a:xfrm>
            <a:prstGeom prst="ellipse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15">
              <a:extLst>
                <a:ext uri="{FF2B5EF4-FFF2-40B4-BE49-F238E27FC236}">
                  <a16:creationId xmlns:a16="http://schemas.microsoft.com/office/drawing/2014/main" id="{26938999-C411-07FC-CB18-C0C12E7D5F98}"/>
                </a:ext>
              </a:extLst>
            </p:cNvPr>
            <p:cNvSpPr/>
            <p:nvPr/>
          </p:nvSpPr>
          <p:spPr>
            <a:xfrm>
              <a:off x="8489385" y="9051610"/>
              <a:ext cx="647700" cy="609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2</a:t>
              </a:r>
              <a:endParaRPr lang="en-US" sz="18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4878052-7C30-E145-A1C5-C1EC3BEB91C9}"/>
              </a:ext>
            </a:extLst>
          </p:cNvPr>
          <p:cNvGrpSpPr/>
          <p:nvPr/>
        </p:nvGrpSpPr>
        <p:grpSpPr>
          <a:xfrm>
            <a:off x="6444398" y="7088429"/>
            <a:ext cx="647700" cy="609600"/>
            <a:chOff x="13886860" y="9051610"/>
            <a:chExt cx="647700" cy="609600"/>
          </a:xfrm>
        </p:grpSpPr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C0F718C9-98F6-3A4F-6F5E-0D0A96DD6B43}"/>
                </a:ext>
              </a:extLst>
            </p:cNvPr>
            <p:cNvSpPr/>
            <p:nvPr/>
          </p:nvSpPr>
          <p:spPr>
            <a:xfrm>
              <a:off x="13924960" y="9051610"/>
              <a:ext cx="571500" cy="571500"/>
            </a:xfrm>
            <a:prstGeom prst="ellipse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18">
              <a:extLst>
                <a:ext uri="{FF2B5EF4-FFF2-40B4-BE49-F238E27FC236}">
                  <a16:creationId xmlns:a16="http://schemas.microsoft.com/office/drawing/2014/main" id="{E93F4490-5319-539F-A69F-47BFFDED119F}"/>
                </a:ext>
              </a:extLst>
            </p:cNvPr>
            <p:cNvSpPr/>
            <p:nvPr/>
          </p:nvSpPr>
          <p:spPr>
            <a:xfrm>
              <a:off x="13886860" y="9051610"/>
              <a:ext cx="647700" cy="609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3</a:t>
              </a:r>
              <a:endParaRPr lang="en-US" sz="1800" dirty="0"/>
            </a:p>
          </p:txBody>
        </p:sp>
      </p:grpSp>
      <p:sp>
        <p:nvSpPr>
          <p:cNvPr id="43" name="Shape 8">
            <a:extLst>
              <a:ext uri="{FF2B5EF4-FFF2-40B4-BE49-F238E27FC236}">
                <a16:creationId xmlns:a16="http://schemas.microsoft.com/office/drawing/2014/main" id="{17A94C4C-38AB-BB23-4F31-5957B49D147B}"/>
              </a:ext>
            </a:extLst>
          </p:cNvPr>
          <p:cNvSpPr/>
          <p:nvPr/>
        </p:nvSpPr>
        <p:spPr>
          <a:xfrm>
            <a:off x="2601064" y="6268819"/>
            <a:ext cx="4173729" cy="543555"/>
          </a:xfrm>
          <a:prstGeom prst="roundRect">
            <a:avLst>
              <a:gd name="adj" fmla="val 50000"/>
            </a:avLst>
          </a:prstGeom>
          <a:solidFill>
            <a:srgbClr val="CA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AA90B9-315B-4642-9F77-8DABC65EC1DF}"/>
              </a:ext>
            </a:extLst>
          </p:cNvPr>
          <p:cNvSpPr txBox="1"/>
          <p:nvPr/>
        </p:nvSpPr>
        <p:spPr>
          <a:xfrm>
            <a:off x="2563917" y="6325794"/>
            <a:ext cx="4235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SOFTWARE LIBRARIES</a:t>
            </a:r>
            <a:endParaRPr lang="en-US" sz="24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30318740-4073-59F4-C897-C4FCD00997DA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5F47E371-4238-74C6-A270-1460BD26B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4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588303"/>
            <a:ext cx="1687449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800" kern="0" spc="-33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Data and unit of analysis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1381125"/>
            <a:ext cx="685800" cy="38100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901" name="Card BG Sources"/>
          <p:cNvSpPr/>
          <p:nvPr/>
        </p:nvSpPr>
        <p:spPr>
          <a:xfrm>
            <a:off x="698500" y="1651000"/>
            <a:ext cx="16407656" cy="2723818"/>
          </a:xfrm>
          <a:prstGeom prst="roundRect">
            <a:avLst>
              <a:gd name="adj" fmla="val 5000"/>
            </a:avLst>
          </a:prstGeom>
          <a:solidFill>
            <a:srgbClr val="E8EDF3"/>
          </a:solidFill>
          <a:ln w="0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1879600"/>
            <a:ext cx="120630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216" dirty="0">
                <a:solidFill>
                  <a:srgbClr val="898989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SOURCES</a:t>
            </a:r>
            <a:endParaRPr lang="en-US" sz="28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902" name="Card BG Panel"/>
          <p:cNvSpPr/>
          <p:nvPr/>
        </p:nvSpPr>
        <p:spPr>
          <a:xfrm>
            <a:off x="3619500" y="7395559"/>
            <a:ext cx="11049000" cy="2004824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0">
            <a:solidFill>
              <a:srgbClr val="002060"/>
            </a:solidFill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3619500" y="8105788"/>
            <a:ext cx="11049000" cy="840352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Autofit/>
          </a:bodyPr>
          <a:lstStyle/>
          <a:p>
            <a:pPr algn="ctr">
              <a:lnSpc>
                <a:spcPct val="160000"/>
              </a:lnSpc>
            </a:pPr>
            <a:r>
              <a:rPr lang="en-US" sz="32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</a:rPr>
              <a:t>Library-week – from first release through January 2026</a:t>
            </a:r>
          </a:p>
        </p:txBody>
      </p:sp>
      <p:sp>
        <p:nvSpPr>
          <p:cNvPr id="9" name="Text 7"/>
          <p:cNvSpPr/>
          <p:nvPr/>
        </p:nvSpPr>
        <p:spPr>
          <a:xfrm>
            <a:off x="3873500" y="7513454"/>
            <a:ext cx="8123301" cy="333375"/>
          </a:xfrm>
          <a:prstGeom prst="rect">
            <a:avLst/>
          </a:prstGeom>
          <a:solidFill>
            <a:srgbClr val="F2F5F8"/>
          </a:solidFill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216" dirty="0">
                <a:solidFill>
                  <a:srgbClr val="898989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PANEL</a:t>
            </a:r>
            <a:endParaRPr lang="en-US" sz="28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98499" y="4737781"/>
            <a:ext cx="5420143" cy="2435252"/>
          </a:xfrm>
          <a:prstGeom prst="roundRect">
            <a:avLst>
              <a:gd name="adj" fmla="val 6818"/>
            </a:avLst>
          </a:prstGeom>
          <a:solidFill>
            <a:srgbClr val="F2F4F7"/>
          </a:solidFill>
          <a:ln/>
        </p:spPr>
        <p:txBody>
          <a:bodyPr/>
          <a:lstStyle/>
          <a:p>
            <a:endParaRPr lang="en-US" sz="3600">
              <a:solidFill>
                <a:srgbClr val="03045E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98499" y="4737781"/>
            <a:ext cx="5420143" cy="57076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3600">
              <a:solidFill>
                <a:srgbClr val="03045E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83203" y="5156340"/>
            <a:ext cx="4631759" cy="856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527 361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083204" y="6259814"/>
            <a:ext cx="5035438" cy="456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750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</a:t>
            </a:r>
            <a:r>
              <a:rPr lang="en-US" sz="2750" dirty="0" err="1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PyPI</a:t>
            </a:r>
            <a:r>
              <a:rPr lang="en-US" sz="2750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packages after filtering</a:t>
            </a:r>
            <a:endParaRPr lang="en-US" sz="2750" dirty="0"/>
          </a:p>
        </p:txBody>
      </p:sp>
      <p:sp>
        <p:nvSpPr>
          <p:cNvPr id="16" name="Shape 14"/>
          <p:cNvSpPr/>
          <p:nvPr/>
        </p:nvSpPr>
        <p:spPr>
          <a:xfrm>
            <a:off x="6257482" y="4737781"/>
            <a:ext cx="5420143" cy="2435252"/>
          </a:xfrm>
          <a:prstGeom prst="roundRect">
            <a:avLst>
              <a:gd name="adj" fmla="val 6818"/>
            </a:avLst>
          </a:prstGeom>
          <a:solidFill>
            <a:srgbClr val="F2F4F7"/>
          </a:solidFill>
          <a:ln/>
        </p:spPr>
        <p:txBody>
          <a:bodyPr/>
          <a:lstStyle/>
          <a:p>
            <a:endParaRPr lang="en-US" sz="3600">
              <a:solidFill>
                <a:srgbClr val="03045E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57482" y="4737781"/>
            <a:ext cx="5420143" cy="57076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3600">
              <a:solidFill>
                <a:srgbClr val="03045E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42185" y="5156340"/>
            <a:ext cx="4631759" cy="856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6000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75 313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6642185" y="6259814"/>
            <a:ext cx="4631759" cy="456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sample in the main tier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11816465" y="4737781"/>
            <a:ext cx="5420143" cy="2435252"/>
          </a:xfrm>
          <a:prstGeom prst="roundRect">
            <a:avLst>
              <a:gd name="adj" fmla="val 5882"/>
            </a:avLst>
          </a:prstGeom>
          <a:solidFill>
            <a:srgbClr val="F2F4F7"/>
          </a:solidFill>
          <a:ln/>
        </p:spPr>
        <p:txBody>
          <a:bodyPr/>
          <a:lstStyle/>
          <a:p>
            <a:endParaRPr lang="en-US" sz="3600" dirty="0">
              <a:solidFill>
                <a:srgbClr val="03045E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816465" y="4737781"/>
            <a:ext cx="5420143" cy="57076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3600">
              <a:solidFill>
                <a:srgbClr val="03045E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201168" y="5156340"/>
            <a:ext cx="4631759" cy="856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12201167" y="6283480"/>
            <a:ext cx="4631759" cy="856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800" dirty="0"/>
          </a:p>
        </p:txBody>
      </p:sp>
      <p:pic>
        <p:nvPicPr>
          <p:cNvPr id="26" name="Graphic 26" descr="Databas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06156" y="558722"/>
            <a:ext cx="720834" cy="720834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3184452" y="2432477"/>
            <a:ext cx="5007045" cy="842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30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PyPI</a:t>
            </a:r>
            <a:r>
              <a:rPr lang="en-US" sz="30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: </a:t>
            </a:r>
            <a:r>
              <a:rPr lang="en-US" sz="30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weekly downloads for every registered package</a:t>
            </a:r>
            <a:endParaRPr lang="en-US" sz="30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F7CB301-CC2F-64AC-9FF1-F8951C0DAE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29240" y1="72250" x2="35080" y2="717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306" y="2238114"/>
            <a:ext cx="2228243" cy="1984027"/>
          </a:xfrm>
          <a:prstGeom prst="rect">
            <a:avLst/>
          </a:prstGeom>
        </p:spPr>
      </p:pic>
      <p:sp>
        <p:nvSpPr>
          <p:cNvPr id="8" name="Text 6"/>
          <p:cNvSpPr/>
          <p:nvPr/>
        </p:nvSpPr>
        <p:spPr>
          <a:xfrm>
            <a:off x="11731157" y="2400247"/>
            <a:ext cx="4789228" cy="1405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30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GitHub</a:t>
            </a:r>
            <a:r>
              <a:rPr lang="en-US" sz="30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: </a:t>
            </a:r>
            <a:r>
              <a:rPr lang="en-US" sz="30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code-import counts (linked sample)</a:t>
            </a:r>
            <a:endParaRPr lang="en-US" sz="30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0A270E64-E76D-F211-D38E-6A07761C20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4519" y="2473548"/>
            <a:ext cx="1405821" cy="1405821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895B4F1-756D-6070-BFA6-A3AB91B1D61E}"/>
              </a:ext>
            </a:extLst>
          </p:cNvPr>
          <p:cNvCxnSpPr>
            <a:cxnSpLocks/>
          </p:cNvCxnSpPr>
          <p:nvPr/>
        </p:nvCxnSpPr>
        <p:spPr>
          <a:xfrm>
            <a:off x="8739786" y="1876425"/>
            <a:ext cx="0" cy="2254642"/>
          </a:xfrm>
          <a:prstGeom prst="straightConnector1">
            <a:avLst/>
          </a:prstGeom>
          <a:ln w="38100" cap="flat" cmpd="sng" algn="ctr">
            <a:solidFill>
              <a:schemeClr val="tx2">
                <a:lumMod val="50000"/>
              </a:schemeClr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18">
            <a:extLst>
              <a:ext uri="{FF2B5EF4-FFF2-40B4-BE49-F238E27FC236}">
                <a16:creationId xmlns:a16="http://schemas.microsoft.com/office/drawing/2014/main" id="{A14995D5-0439-4126-F263-07BDB49F2966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204AF03F-281A-0887-CC4A-D0BF1A7D2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19CBB2A-C81D-0E9C-9679-4B59CDD58DA9}"/>
              </a:ext>
            </a:extLst>
          </p:cNvPr>
          <p:cNvSpPr txBox="1"/>
          <p:nvPr/>
        </p:nvSpPr>
        <p:spPr>
          <a:xfrm>
            <a:off x="12201167" y="5076579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</a:rPr>
              <a:t>28 243</a:t>
            </a:r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B515373B-A01C-708E-3A92-B1BB72968181}"/>
              </a:ext>
            </a:extLst>
          </p:cNvPr>
          <p:cNvSpPr/>
          <p:nvPr/>
        </p:nvSpPr>
        <p:spPr>
          <a:xfrm>
            <a:off x="12201166" y="6254941"/>
            <a:ext cx="4631759" cy="456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to GitHub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11922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579672"/>
            <a:ext cx="1687449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800" kern="0" spc="-33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Design timeline</a:t>
            </a:r>
            <a:endParaRPr lang="en-US" sz="4800" dirty="0"/>
          </a:p>
        </p:txBody>
      </p:sp>
      <p:pic>
        <p:nvPicPr>
          <p:cNvPr id="25" name="Graphic 25" descr="Calendar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21048" y="579672"/>
            <a:ext cx="718312" cy="71831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82270CD-23D8-64FC-8F6C-69769402D664}"/>
              </a:ext>
            </a:extLst>
          </p:cNvPr>
          <p:cNvGrpSpPr/>
          <p:nvPr/>
        </p:nvGrpSpPr>
        <p:grpSpPr>
          <a:xfrm>
            <a:off x="196850" y="3718838"/>
            <a:ext cx="17894300" cy="4101287"/>
            <a:chOff x="381000" y="3718838"/>
            <a:chExt cx="17894300" cy="4101287"/>
          </a:xfrm>
        </p:grpSpPr>
        <p:sp>
          <p:nvSpPr>
            <p:cNvPr id="94" name="Right Arrow 93">
              <a:extLst>
                <a:ext uri="{FF2B5EF4-FFF2-40B4-BE49-F238E27FC236}">
                  <a16:creationId xmlns:a16="http://schemas.microsoft.com/office/drawing/2014/main" id="{FF24FC21-D5FA-7C4B-B61C-9C83D076EEBE}"/>
                </a:ext>
              </a:extLst>
            </p:cNvPr>
            <p:cNvSpPr/>
            <p:nvPr/>
          </p:nvSpPr>
          <p:spPr>
            <a:xfrm>
              <a:off x="1778000" y="5905500"/>
              <a:ext cx="14732000" cy="127000"/>
            </a:xfrm>
            <a:prstGeom prst="rightArrow">
              <a:avLst/>
            </a:prstGeom>
            <a:solidFill>
              <a:srgbClr val="03045E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sz="320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90" name="PreBand">
              <a:extLst>
                <a:ext uri="{FF2B5EF4-FFF2-40B4-BE49-F238E27FC236}">
                  <a16:creationId xmlns:a16="http://schemas.microsoft.com/office/drawing/2014/main" id="{1F376CDD-A977-1344-81DD-5CE8287A9641}"/>
                </a:ext>
              </a:extLst>
            </p:cNvPr>
            <p:cNvSpPr/>
            <p:nvPr/>
          </p:nvSpPr>
          <p:spPr>
            <a:xfrm>
              <a:off x="3048000" y="5715000"/>
              <a:ext cx="3302000" cy="508000"/>
            </a:xfrm>
            <a:prstGeom prst="rect">
              <a:avLst/>
            </a:prstGeom>
            <a:solidFill>
              <a:srgbClr val="ADE8F4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sz="320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91" name="DonutBand">
              <a:extLst>
                <a:ext uri="{FF2B5EF4-FFF2-40B4-BE49-F238E27FC236}">
                  <a16:creationId xmlns:a16="http://schemas.microsoft.com/office/drawing/2014/main" id="{A1B88A68-2563-6142-A2D9-E60CF1A3A9C8}"/>
                </a:ext>
              </a:extLst>
            </p:cNvPr>
            <p:cNvSpPr/>
            <p:nvPr/>
          </p:nvSpPr>
          <p:spPr>
            <a:xfrm>
              <a:off x="6350000" y="5715000"/>
              <a:ext cx="1016000" cy="508000"/>
            </a:xfrm>
            <a:prstGeom prst="rect">
              <a:avLst/>
            </a:prstGeom>
            <a:solidFill>
              <a:srgbClr val="AAB4C2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sz="320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92" name="PostBand">
              <a:extLst>
                <a:ext uri="{FF2B5EF4-FFF2-40B4-BE49-F238E27FC236}">
                  <a16:creationId xmlns:a16="http://schemas.microsoft.com/office/drawing/2014/main" id="{A7C8FBF0-5D63-084D-8637-4E42B2248E8F}"/>
                </a:ext>
              </a:extLst>
            </p:cNvPr>
            <p:cNvSpPr/>
            <p:nvPr/>
          </p:nvSpPr>
          <p:spPr>
            <a:xfrm>
              <a:off x="7366000" y="5715000"/>
              <a:ext cx="2540000" cy="508000"/>
            </a:xfrm>
            <a:prstGeom prst="rect">
              <a:avLst/>
            </a:prstGeom>
            <a:solidFill>
              <a:srgbClr val="CAF0F8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 sz="320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80A5B39-A743-6348-BD33-FDA0C808E412}"/>
                </a:ext>
              </a:extLst>
            </p:cNvPr>
            <p:cNvSpPr txBox="1"/>
            <p:nvPr/>
          </p:nvSpPr>
          <p:spPr>
            <a:xfrm>
              <a:off x="5872222" y="5759598"/>
              <a:ext cx="17780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Donut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FFD944F-0620-0145-80AC-5EFACA47BCE7}"/>
                </a:ext>
              </a:extLst>
            </p:cNvPr>
            <p:cNvSpPr txBox="1"/>
            <p:nvPr/>
          </p:nvSpPr>
          <p:spPr>
            <a:xfrm>
              <a:off x="381000" y="5781645"/>
              <a:ext cx="13335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l"/>
              <a:r>
                <a:rPr lang="en-US" sz="20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June 2021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B863DAD-DF97-F349-ADAF-68FFB93B70CD}"/>
                </a:ext>
              </a:extLst>
            </p:cNvPr>
            <p:cNvSpPr txBox="1"/>
            <p:nvPr/>
          </p:nvSpPr>
          <p:spPr>
            <a:xfrm>
              <a:off x="16573500" y="5781645"/>
              <a:ext cx="17018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l"/>
              <a:r>
                <a:rPr lang="en-US" sz="20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January 2026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10B92118-DF2D-334D-8659-B1AD58FADF0A}"/>
                </a:ext>
              </a:extLst>
            </p:cNvPr>
            <p:cNvSpPr txBox="1"/>
            <p:nvPr/>
          </p:nvSpPr>
          <p:spPr>
            <a:xfrm>
              <a:off x="6024963" y="4333463"/>
              <a:ext cx="2286000" cy="707886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C0392B"/>
                  </a:solidFill>
                  <a:latin typeface="Inter Tight Black" pitchFamily="2" charset="0"/>
                  <a:ea typeface="Inter Tight Black" pitchFamily="2" charset="0"/>
                  <a:cs typeface="Inter Tight Black" pitchFamily="2" charset="0"/>
                </a:rPr>
                <a:t>September 2021
Training cutoff</a:t>
              </a:r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9167742-27CA-E74D-BE8D-65C0D518AF45}"/>
                </a:ext>
              </a:extLst>
            </p:cNvPr>
            <p:cNvCxnSpPr/>
            <p:nvPr/>
          </p:nvCxnSpPr>
          <p:spPr>
            <a:xfrm>
              <a:off x="12192000" y="5085080"/>
              <a:ext cx="6350" cy="1651000"/>
            </a:xfrm>
            <a:prstGeom prst="straightConnector1">
              <a:avLst/>
            </a:prstGeom>
            <a:ln w="38100" cap="flat" cmpd="sng" algn="ctr">
              <a:solidFill>
                <a:srgbClr val="C0392B"/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B333A1C-322B-9245-B376-52A29CA60BF4}"/>
                </a:ext>
              </a:extLst>
            </p:cNvPr>
            <p:cNvSpPr txBox="1"/>
            <p:nvPr/>
          </p:nvSpPr>
          <p:spPr>
            <a:xfrm>
              <a:off x="11049000" y="4345059"/>
              <a:ext cx="2286000" cy="707886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3045E"/>
                  </a:solidFill>
                  <a:latin typeface="Inter Tight Black" pitchFamily="2" charset="0"/>
                  <a:ea typeface="Inter Tight Black" pitchFamily="2" charset="0"/>
                  <a:cs typeface="Inter Tight Black" pitchFamily="2" charset="0"/>
                </a:rPr>
                <a:t>November 2022
ChatGPT launch</a:t>
              </a:r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6777781E-4CD8-9641-9E1E-DE43620012C2}"/>
                </a:ext>
              </a:extLst>
            </p:cNvPr>
            <p:cNvCxnSpPr/>
            <p:nvPr/>
          </p:nvCxnSpPr>
          <p:spPr>
            <a:xfrm>
              <a:off x="14351000" y="5450840"/>
              <a:ext cx="6350" cy="1016000"/>
            </a:xfrm>
            <a:prstGeom prst="straightConnector1">
              <a:avLst/>
            </a:prstGeom>
            <a:ln w="12700" cap="sq" cmpd="sng" algn="ctr">
              <a:solidFill>
                <a:srgbClr val="03045E"/>
              </a:solidFill>
              <a:prstDash val="dot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11485D7-C4C7-A448-9CD5-CE462BE19C82}"/>
                </a:ext>
              </a:extLst>
            </p:cNvPr>
            <p:cNvSpPr txBox="1"/>
            <p:nvPr/>
          </p:nvSpPr>
          <p:spPr>
            <a:xfrm>
              <a:off x="13335000" y="6432938"/>
              <a:ext cx="2032000" cy="707886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March 2023
GPT-4</a:t>
              </a:r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3145D582-F590-7843-8833-22C6FBE2F39E}"/>
                </a:ext>
              </a:extLst>
            </p:cNvPr>
            <p:cNvCxnSpPr/>
            <p:nvPr/>
          </p:nvCxnSpPr>
          <p:spPr>
            <a:xfrm>
              <a:off x="12192000" y="4147820"/>
              <a:ext cx="4318000" cy="6350"/>
            </a:xfrm>
            <a:prstGeom prst="straightConnector1">
              <a:avLst/>
            </a:prstGeom>
            <a:ln w="19050" cap="flat" cmpd="sng" algn="ctr">
              <a:solidFill>
                <a:srgbClr val="0077B6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6AF2EA7-E29A-2640-8A03-0F560580650E}"/>
                </a:ext>
              </a:extLst>
            </p:cNvPr>
            <p:cNvSpPr txBox="1"/>
            <p:nvPr/>
          </p:nvSpPr>
          <p:spPr>
            <a:xfrm>
              <a:off x="12319000" y="3718838"/>
              <a:ext cx="40640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77B6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Post-AI observation window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3613301-5510-C343-9A72-0C03331C2308}"/>
                </a:ext>
              </a:extLst>
            </p:cNvPr>
            <p:cNvSpPr txBox="1"/>
            <p:nvPr/>
          </p:nvSpPr>
          <p:spPr>
            <a:xfrm>
              <a:off x="3429000" y="6195600"/>
              <a:ext cx="2540000" cy="707886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Pre-cutoff
(Treatment)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831FD13-1C7C-6B43-8134-7CE7779DC30F}"/>
                </a:ext>
              </a:extLst>
            </p:cNvPr>
            <p:cNvSpPr txBox="1"/>
            <p:nvPr/>
          </p:nvSpPr>
          <p:spPr>
            <a:xfrm>
              <a:off x="7366000" y="6195600"/>
              <a:ext cx="2540000" cy="707886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Post-cutoff
(Control)</a:t>
              </a:r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F833A910-1753-744A-8392-7041309F219B}"/>
                </a:ext>
              </a:extLst>
            </p:cNvPr>
            <p:cNvCxnSpPr>
              <a:cxnSpLocks/>
            </p:cNvCxnSpPr>
            <p:nvPr/>
          </p:nvCxnSpPr>
          <p:spPr>
            <a:xfrm>
              <a:off x="7161613" y="7291070"/>
              <a:ext cx="5030387" cy="0"/>
            </a:xfrm>
            <a:prstGeom prst="straightConnector1">
              <a:avLst/>
            </a:prstGeom>
            <a:ln w="19050" cap="flat" cmpd="sng" algn="ctr">
              <a:solidFill>
                <a:srgbClr val="898989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0644832-9AF4-6346-8092-0A0F485F54D4}"/>
                </a:ext>
              </a:extLst>
            </p:cNvPr>
            <p:cNvSpPr txBox="1"/>
            <p:nvPr/>
          </p:nvSpPr>
          <p:spPr>
            <a:xfrm>
              <a:off x="7454306" y="7420015"/>
              <a:ext cx="44450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898989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14-month latency before activation</a:t>
              </a: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8854DC5B-F331-A194-B27D-F93B4A9D38B6}"/>
                </a:ext>
              </a:extLst>
            </p:cNvPr>
            <p:cNvCxnSpPr/>
            <p:nvPr/>
          </p:nvCxnSpPr>
          <p:spPr>
            <a:xfrm>
              <a:off x="7161613" y="5144763"/>
              <a:ext cx="6350" cy="1651000"/>
            </a:xfrm>
            <a:prstGeom prst="straightConnector1">
              <a:avLst/>
            </a:prstGeom>
            <a:ln w="38100" cap="flat" cmpd="sng" algn="ctr">
              <a:solidFill>
                <a:srgbClr val="C0392B"/>
              </a:solidFill>
              <a:prstDash val="sysDot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5EDD4D9B-CCE9-A948-3650-0176A1F59D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146" y="1381020"/>
            <a:ext cx="702615" cy="34697"/>
          </a:xfrm>
          <a:prstGeom prst="rect">
            <a:avLst/>
          </a:prstGeom>
        </p:spPr>
      </p:pic>
      <p:sp>
        <p:nvSpPr>
          <p:cNvPr id="4" name="Text 18">
            <a:extLst>
              <a:ext uri="{FF2B5EF4-FFF2-40B4-BE49-F238E27FC236}">
                <a16:creationId xmlns:a16="http://schemas.microsoft.com/office/drawing/2014/main" id="{E28C002E-4F0F-55B5-5F79-E46E44513110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0F782D1-E025-6E55-10F5-D599D1EF1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4741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dfsdf">
            <a:extLst>
              <a:ext uri="{FF2B5EF4-FFF2-40B4-BE49-F238E27FC236}">
                <a16:creationId xmlns:a16="http://schemas.microsoft.com/office/drawing/2014/main" id="{3C6A7909-2ED8-04B4-FF08-7AC10C90B652}"/>
              </a:ext>
            </a:extLst>
          </p:cNvPr>
          <p:cNvSpPr>
            <a:spLocks/>
          </p:cNvSpPr>
          <p:nvPr/>
        </p:nvSpPr>
        <p:spPr>
          <a:xfrm>
            <a:off x="909256" y="2417285"/>
            <a:ext cx="9082512" cy="1561672"/>
          </a:xfrm>
          <a:prstGeom prst="roundRect">
            <a:avLst>
              <a:gd name="adj" fmla="val 1476"/>
            </a:avLst>
          </a:prstGeom>
          <a:solidFill>
            <a:srgbClr val="F5F7FB"/>
          </a:solidFill>
          <a:ln>
            <a:solidFill>
              <a:srgbClr val="002060"/>
            </a:solidFill>
          </a:ln>
          <a:effectLst/>
        </p:spPr>
        <p:txBody>
          <a:bodyPr/>
          <a:lstStyle/>
          <a:p>
            <a:endParaRPr lang="en-US" sz="280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3" name="szoveg"/>
          <p:cNvSpPr/>
          <p:nvPr/>
        </p:nvSpPr>
        <p:spPr>
          <a:xfrm>
            <a:off x="952500" y="563364"/>
            <a:ext cx="6346371" cy="77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36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Research design</a:t>
            </a:r>
            <a:endParaRPr lang="en-US" sz="4800" dirty="0"/>
          </a:p>
        </p:txBody>
      </p:sp>
      <p:sp>
        <p:nvSpPr>
          <p:cNvPr id="4" name="vonalka"/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09256" y="2816625"/>
            <a:ext cx="9082512" cy="386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Regression Discontinuity Design</a:t>
            </a:r>
            <a:endParaRPr lang="en-US" sz="44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09256" y="4547211"/>
            <a:ext cx="9082512" cy="1561672"/>
          </a:xfrm>
          <a:prstGeom prst="roundRect">
            <a:avLst>
              <a:gd name="adj" fmla="val 147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02060"/>
            </a:solidFill>
          </a:ln>
          <a:effectLst/>
        </p:spPr>
        <p:txBody>
          <a:bodyPr/>
          <a:lstStyle/>
          <a:p>
            <a:endParaRPr lang="en-US" sz="280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09256" y="4943775"/>
            <a:ext cx="9082512" cy="386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Difference-in-Discontinuities</a:t>
            </a:r>
            <a:endParaRPr lang="en-US" sz="44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09256" y="6770061"/>
            <a:ext cx="9082512" cy="1561672"/>
          </a:xfrm>
          <a:prstGeom prst="roundRect">
            <a:avLst>
              <a:gd name="adj" fmla="val 1476"/>
            </a:avLst>
          </a:prstGeom>
          <a:solidFill>
            <a:srgbClr val="F5F7FB"/>
          </a:solidFill>
          <a:ln>
            <a:solidFill>
              <a:srgbClr val="002060"/>
            </a:solidFill>
          </a:ln>
          <a:effectLst/>
        </p:spPr>
        <p:txBody>
          <a:bodyPr/>
          <a:lstStyle/>
          <a:p>
            <a:endParaRPr lang="en-US" sz="280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252156" y="6869347"/>
            <a:ext cx="9987344" cy="386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No manipulation</a:t>
            </a:r>
            <a:endParaRPr lang="en-US" sz="28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52156" y="7278956"/>
            <a:ext cx="8599714" cy="1030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Density smooth across the cutoff </a:t>
            </a:r>
            <a:r>
              <a:rPr lang="en-US" sz="20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(McCrary p = 0.43)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20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Post-cutoff libraries start ahead</a:t>
            </a:r>
            <a:r>
              <a:rPr lang="en-US" sz="2000" i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 </a:t>
            </a:r>
            <a:r>
              <a:rPr lang="en-US" sz="20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pre-AI, meaning the estimate is </a:t>
            </a:r>
            <a:r>
              <a:rPr lang="en-US" sz="20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conservative</a:t>
            </a:r>
            <a:endParaRPr lang="en-US" sz="20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0C87B07-1FC3-B9E6-A8B8-2DFB1D669C71}"/>
              </a:ext>
            </a:extLst>
          </p:cNvPr>
          <p:cNvGrpSpPr/>
          <p:nvPr/>
        </p:nvGrpSpPr>
        <p:grpSpPr>
          <a:xfrm>
            <a:off x="10194770" y="1706804"/>
            <a:ext cx="7601401" cy="5442060"/>
            <a:chOff x="11345622" y="1654929"/>
            <a:chExt cx="6994982" cy="5007907"/>
          </a:xfrm>
        </p:grpSpPr>
        <p:sp>
          <p:nvSpPr>
            <p:cNvPr id="24" name="Shape 12">
              <a:extLst>
                <a:ext uri="{FF2B5EF4-FFF2-40B4-BE49-F238E27FC236}">
                  <a16:creationId xmlns:a16="http://schemas.microsoft.com/office/drawing/2014/main" id="{7759587A-92FE-6899-7357-CAA9F2C43D81}"/>
                </a:ext>
              </a:extLst>
            </p:cNvPr>
            <p:cNvSpPr/>
            <p:nvPr/>
          </p:nvSpPr>
          <p:spPr>
            <a:xfrm>
              <a:off x="11345622" y="1654929"/>
              <a:ext cx="6994982" cy="5007907"/>
            </a:xfrm>
            <a:prstGeom prst="roundRect">
              <a:avLst>
                <a:gd name="adj" fmla="val 1476"/>
              </a:avLst>
            </a:prstGeom>
            <a:solidFill>
              <a:srgbClr val="F5F7FB"/>
            </a:solidFill>
            <a:ln/>
          </p:spPr>
          <p:txBody>
            <a:bodyPr/>
            <a:lstStyle/>
            <a:p>
              <a:endParaRPr lang="en-US" sz="280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18" name="Text 15"/>
            <p:cNvSpPr/>
            <p:nvPr/>
          </p:nvSpPr>
          <p:spPr>
            <a:xfrm>
              <a:off x="11620500" y="1822494"/>
              <a:ext cx="5886450" cy="3301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kern="0" spc="135" dirty="0">
                  <a:solidFill>
                    <a:srgbClr val="898989"/>
                  </a:solidFill>
                  <a:latin typeface="Inter Tight Black" pitchFamily="2" charset="0"/>
                  <a:ea typeface="Inter Tight Black" pitchFamily="2" charset="0"/>
                  <a:cs typeface="Inter Tight Black" pitchFamily="2" charset="0"/>
                </a:rPr>
                <a:t>MCCRARY DENSITY - NO BUNCHING (P = 0.43)</a:t>
              </a:r>
              <a:endParaRPr lang="en-US" sz="1600" dirty="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pic>
          <p:nvPicPr>
            <p:cNvPr id="23" name="Picture 22" descr="A graph showing the size of a library&#10;&#10;AI-generated content may be incorrect.">
              <a:extLst>
                <a:ext uri="{FF2B5EF4-FFF2-40B4-BE49-F238E27FC236}">
                  <a16:creationId xmlns:a16="http://schemas.microsoft.com/office/drawing/2014/main" id="{D3E0F3EA-1472-3076-D694-AE1EC677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39156" y="2313749"/>
              <a:ext cx="6616255" cy="39697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179F8A5F-DD98-33F1-097A-BD80C6ACCE7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080018" y="620514"/>
            <a:ext cx="718112" cy="718112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D77417A1-2E33-8C90-FA63-D499A67E54EC}"/>
              </a:ext>
            </a:extLst>
          </p:cNvPr>
          <p:cNvGrpSpPr/>
          <p:nvPr/>
        </p:nvGrpSpPr>
        <p:grpSpPr>
          <a:xfrm>
            <a:off x="8766546" y="7498563"/>
            <a:ext cx="8744969" cy="2048507"/>
            <a:chOff x="-438149" y="3291152"/>
            <a:chExt cx="19592119" cy="4749440"/>
          </a:xfrm>
        </p:grpSpPr>
        <p:sp>
          <p:nvSpPr>
            <p:cNvPr id="31" name="Right Arrow 30">
              <a:extLst>
                <a:ext uri="{FF2B5EF4-FFF2-40B4-BE49-F238E27FC236}">
                  <a16:creationId xmlns:a16="http://schemas.microsoft.com/office/drawing/2014/main" id="{5C52F92A-42CF-739D-15AE-C2A3CAE5AA24}"/>
                </a:ext>
              </a:extLst>
            </p:cNvPr>
            <p:cNvSpPr/>
            <p:nvPr/>
          </p:nvSpPr>
          <p:spPr>
            <a:xfrm>
              <a:off x="1778000" y="5905500"/>
              <a:ext cx="14732000" cy="127000"/>
            </a:xfrm>
            <a:prstGeom prst="rightArrow">
              <a:avLst/>
            </a:prstGeom>
            <a:solidFill>
              <a:srgbClr val="03045E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32" name="PreBand">
              <a:extLst>
                <a:ext uri="{FF2B5EF4-FFF2-40B4-BE49-F238E27FC236}">
                  <a16:creationId xmlns:a16="http://schemas.microsoft.com/office/drawing/2014/main" id="{74F481EB-21C9-69DE-C670-FD9C6593D789}"/>
                </a:ext>
              </a:extLst>
            </p:cNvPr>
            <p:cNvSpPr/>
            <p:nvPr/>
          </p:nvSpPr>
          <p:spPr>
            <a:xfrm>
              <a:off x="3048000" y="5715000"/>
              <a:ext cx="3302000" cy="508000"/>
            </a:xfrm>
            <a:prstGeom prst="rect">
              <a:avLst/>
            </a:prstGeom>
            <a:solidFill>
              <a:srgbClr val="ADE8F4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33" name="DonutBand">
              <a:extLst>
                <a:ext uri="{FF2B5EF4-FFF2-40B4-BE49-F238E27FC236}">
                  <a16:creationId xmlns:a16="http://schemas.microsoft.com/office/drawing/2014/main" id="{0CC2D1CF-CCA9-2E8C-72F7-9AD9BFE07263}"/>
                </a:ext>
              </a:extLst>
            </p:cNvPr>
            <p:cNvSpPr/>
            <p:nvPr/>
          </p:nvSpPr>
          <p:spPr>
            <a:xfrm>
              <a:off x="6350000" y="5715000"/>
              <a:ext cx="1016000" cy="508000"/>
            </a:xfrm>
            <a:prstGeom prst="rect">
              <a:avLst/>
            </a:prstGeom>
            <a:solidFill>
              <a:srgbClr val="AAB4C2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34" name="PostBand">
              <a:extLst>
                <a:ext uri="{FF2B5EF4-FFF2-40B4-BE49-F238E27FC236}">
                  <a16:creationId xmlns:a16="http://schemas.microsoft.com/office/drawing/2014/main" id="{AD759A72-AF04-B95F-FCF2-1A3B6D815B5A}"/>
                </a:ext>
              </a:extLst>
            </p:cNvPr>
            <p:cNvSpPr/>
            <p:nvPr/>
          </p:nvSpPr>
          <p:spPr>
            <a:xfrm>
              <a:off x="7366000" y="5715000"/>
              <a:ext cx="2540000" cy="508000"/>
            </a:xfrm>
            <a:prstGeom prst="rect">
              <a:avLst/>
            </a:prstGeom>
            <a:solidFill>
              <a:srgbClr val="CAF0F8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72562F1-E0D6-6677-BCE7-94CE7CCEA6A4}"/>
                </a:ext>
              </a:extLst>
            </p:cNvPr>
            <p:cNvSpPr txBox="1"/>
            <p:nvPr/>
          </p:nvSpPr>
          <p:spPr>
            <a:xfrm>
              <a:off x="5838412" y="5663029"/>
              <a:ext cx="1778001" cy="593233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Donut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2192738-08C5-EE9F-A42E-A3FAF72B61E9}"/>
                </a:ext>
              </a:extLst>
            </p:cNvPr>
            <p:cNvSpPr txBox="1"/>
            <p:nvPr/>
          </p:nvSpPr>
          <p:spPr>
            <a:xfrm>
              <a:off x="-438149" y="5660587"/>
              <a:ext cx="2152649" cy="642219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June 2021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9CF85DF-387F-1626-9F57-28E095E87FD6}"/>
                </a:ext>
              </a:extLst>
            </p:cNvPr>
            <p:cNvSpPr txBox="1"/>
            <p:nvPr/>
          </p:nvSpPr>
          <p:spPr>
            <a:xfrm>
              <a:off x="16573499" y="5667630"/>
              <a:ext cx="2580471" cy="62813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January 2026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FC72E70-D9B4-1580-4C33-3BD45B9F8D33}"/>
                </a:ext>
              </a:extLst>
            </p:cNvPr>
            <p:cNvSpPr txBox="1"/>
            <p:nvPr/>
          </p:nvSpPr>
          <p:spPr>
            <a:xfrm>
              <a:off x="5301815" y="4051417"/>
              <a:ext cx="3746795" cy="1046883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0392B"/>
                  </a:solidFill>
                  <a:latin typeface="Inter Tight Black" pitchFamily="2" charset="0"/>
                  <a:ea typeface="Inter Tight Black" pitchFamily="2" charset="0"/>
                  <a:cs typeface="Inter Tight Black" pitchFamily="2" charset="0"/>
                </a:rPr>
                <a:t>September 2021
Training cutoff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7D2F208-41B1-EB2C-D4DA-4756DBAF0601}"/>
                </a:ext>
              </a:extLst>
            </p:cNvPr>
            <p:cNvCxnSpPr/>
            <p:nvPr/>
          </p:nvCxnSpPr>
          <p:spPr>
            <a:xfrm>
              <a:off x="12192000" y="5085080"/>
              <a:ext cx="6350" cy="1651000"/>
            </a:xfrm>
            <a:prstGeom prst="straightConnector1">
              <a:avLst/>
            </a:prstGeom>
            <a:ln w="38100" cap="flat" cmpd="sng" algn="ctr">
              <a:solidFill>
                <a:srgbClr val="C0392B"/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B4B8EDA-7465-6320-FC4F-64BAB9801A05}"/>
                </a:ext>
              </a:extLst>
            </p:cNvPr>
            <p:cNvSpPr txBox="1"/>
            <p:nvPr/>
          </p:nvSpPr>
          <p:spPr>
            <a:xfrm>
              <a:off x="10241223" y="4108624"/>
              <a:ext cx="3912644" cy="1046883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3045E"/>
                  </a:solidFill>
                  <a:latin typeface="Inter Tight Black" pitchFamily="2" charset="0"/>
                  <a:ea typeface="Inter Tight Black" pitchFamily="2" charset="0"/>
                  <a:cs typeface="Inter Tight Black" pitchFamily="2" charset="0"/>
                </a:rPr>
                <a:t>November 2022
ChatGPT launch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DF9EE3D-32AB-D9CA-C5BE-009979A0EE34}"/>
                </a:ext>
              </a:extLst>
            </p:cNvPr>
            <p:cNvCxnSpPr/>
            <p:nvPr/>
          </p:nvCxnSpPr>
          <p:spPr>
            <a:xfrm>
              <a:off x="14351000" y="5450840"/>
              <a:ext cx="6350" cy="1016000"/>
            </a:xfrm>
            <a:prstGeom prst="straightConnector1">
              <a:avLst/>
            </a:prstGeom>
            <a:ln w="12700" cap="sq" cmpd="sng" algn="ctr">
              <a:solidFill>
                <a:srgbClr val="03045E"/>
              </a:solidFill>
              <a:prstDash val="dot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F5E48E3-FF95-15CC-8B68-FB0666F1EBC3}"/>
                </a:ext>
              </a:extLst>
            </p:cNvPr>
            <p:cNvSpPr txBox="1"/>
            <p:nvPr/>
          </p:nvSpPr>
          <p:spPr>
            <a:xfrm>
              <a:off x="13307725" y="6413026"/>
              <a:ext cx="2086547" cy="1046884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March 2023
GPT-4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32A36F4-F01A-BEDF-513A-2E9653EBD8E1}"/>
                </a:ext>
              </a:extLst>
            </p:cNvPr>
            <p:cNvCxnSpPr/>
            <p:nvPr/>
          </p:nvCxnSpPr>
          <p:spPr>
            <a:xfrm>
              <a:off x="12192001" y="3965175"/>
              <a:ext cx="4317999" cy="6349"/>
            </a:xfrm>
            <a:prstGeom prst="straightConnector1">
              <a:avLst/>
            </a:prstGeom>
            <a:ln w="19050" cap="flat" cmpd="sng" algn="ctr">
              <a:solidFill>
                <a:srgbClr val="0077B6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24AFFF8-2765-41DD-A467-C0BCA68D4DB0}"/>
                </a:ext>
              </a:extLst>
            </p:cNvPr>
            <p:cNvSpPr txBox="1"/>
            <p:nvPr/>
          </p:nvSpPr>
          <p:spPr>
            <a:xfrm>
              <a:off x="11871333" y="3291152"/>
              <a:ext cx="4959328" cy="642219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77B6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Post-AI observation window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6A2FA57-435F-5B73-BAB9-18616A72742B}"/>
                </a:ext>
              </a:extLst>
            </p:cNvPr>
            <p:cNvSpPr txBox="1"/>
            <p:nvPr/>
          </p:nvSpPr>
          <p:spPr>
            <a:xfrm>
              <a:off x="3429000" y="6100155"/>
              <a:ext cx="2540000" cy="1046883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Pre-cutoff
(Treatment)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9AB6305-9C5B-54C6-83BA-187985FF942E}"/>
                </a:ext>
              </a:extLst>
            </p:cNvPr>
            <p:cNvSpPr txBox="1"/>
            <p:nvPr/>
          </p:nvSpPr>
          <p:spPr>
            <a:xfrm>
              <a:off x="7366000" y="6100155"/>
              <a:ext cx="2540000" cy="1046883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Post-cutoff
(Control)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FF6EB359-895D-6B31-56C5-1C10795EB904}"/>
                </a:ext>
              </a:extLst>
            </p:cNvPr>
            <p:cNvCxnSpPr>
              <a:cxnSpLocks/>
            </p:cNvCxnSpPr>
            <p:nvPr/>
          </p:nvCxnSpPr>
          <p:spPr>
            <a:xfrm>
              <a:off x="7161613" y="7291070"/>
              <a:ext cx="5030387" cy="0"/>
            </a:xfrm>
            <a:prstGeom prst="straightConnector1">
              <a:avLst/>
            </a:prstGeom>
            <a:ln w="19050" cap="flat" cmpd="sng" algn="ctr">
              <a:solidFill>
                <a:srgbClr val="898989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5B7DB48-36C8-09F3-B644-F11A2225FE09}"/>
                </a:ext>
              </a:extLst>
            </p:cNvPr>
            <p:cNvSpPr txBox="1"/>
            <p:nvPr/>
          </p:nvSpPr>
          <p:spPr>
            <a:xfrm>
              <a:off x="6858000" y="7412462"/>
              <a:ext cx="5549309" cy="62813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98989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14-month latency before activation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119C653D-123C-EB09-EAAB-506ECDF6CB19}"/>
                </a:ext>
              </a:extLst>
            </p:cNvPr>
            <p:cNvCxnSpPr/>
            <p:nvPr/>
          </p:nvCxnSpPr>
          <p:spPr>
            <a:xfrm>
              <a:off x="7161613" y="5144763"/>
              <a:ext cx="6350" cy="1651000"/>
            </a:xfrm>
            <a:prstGeom prst="straightConnector1">
              <a:avLst/>
            </a:prstGeom>
            <a:ln w="38100" cap="flat" cmpd="sng" algn="ctr">
              <a:solidFill>
                <a:srgbClr val="C0392B"/>
              </a:solidFill>
              <a:prstDash val="sysDot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2">
            <a:extLst>
              <a:ext uri="{FF2B5EF4-FFF2-40B4-BE49-F238E27FC236}">
                <a16:creationId xmlns:a16="http://schemas.microsoft.com/office/drawing/2014/main" id="{DB638663-C2DA-A6D7-6F3F-93678FB51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18">
            <a:extLst>
              <a:ext uri="{FF2B5EF4-FFF2-40B4-BE49-F238E27FC236}">
                <a16:creationId xmlns:a16="http://schemas.microsoft.com/office/drawing/2014/main" id="{B1422580-45C1-688A-86A5-777C72CDBCD0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627877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52DE6-ECB7-AD24-5825-D8DFA20F9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8F9FE1-191D-0A5A-E011-390AA468123E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D1DB5E-0D55-77C8-DB68-D0DF7F9AB94E}"/>
              </a:ext>
            </a:extLst>
          </p:cNvPr>
          <p:cNvSpPr/>
          <p:nvPr/>
        </p:nvSpPr>
        <p:spPr>
          <a:xfrm>
            <a:off x="953498" y="572103"/>
            <a:ext cx="1687449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800" kern="0" spc="-33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Methodology – single-year RDD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8EC9EA-F3CB-5482-CDFD-2CD873EA83B0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pic>
        <p:nvPicPr>
          <p:cNvPr id="32" name="Graphic 32" descr="Method icon">
            <a:extLst>
              <a:ext uri="{FF2B5EF4-FFF2-40B4-BE49-F238E27FC236}">
                <a16:creationId xmlns:a16="http://schemas.microsoft.com/office/drawing/2014/main" id="{2C0FC54C-2F9E-02B1-8D95-872586F9D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30674" y="566679"/>
            <a:ext cx="708686" cy="708686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A37F0FE0-9BE6-5DC9-6DF5-13A152FA57DF}"/>
              </a:ext>
            </a:extLst>
          </p:cNvPr>
          <p:cNvSpPr/>
          <p:nvPr/>
        </p:nvSpPr>
        <p:spPr>
          <a:xfrm>
            <a:off x="3163825" y="1876425"/>
            <a:ext cx="11974630" cy="7648575"/>
          </a:xfrm>
          <a:prstGeom prst="roundRect">
            <a:avLst>
              <a:gd name="adj" fmla="val 2195"/>
            </a:avLst>
          </a:prstGeom>
          <a:solidFill>
            <a:srgbClr val="F2F4F7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>
              <a:solidFill>
                <a:srgbClr val="03045E"/>
              </a:solidFill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134F39B-3812-4366-81A6-296334958FBE}"/>
              </a:ext>
            </a:extLst>
          </p:cNvPr>
          <p:cNvSpPr/>
          <p:nvPr/>
        </p:nvSpPr>
        <p:spPr>
          <a:xfrm>
            <a:off x="6540513" y="1876425"/>
            <a:ext cx="5206975" cy="3810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25FFF6C-7F88-AFA5-F4A5-E106D40D7D63}"/>
              </a:ext>
            </a:extLst>
          </p:cNvPr>
          <p:cNvSpPr/>
          <p:nvPr/>
        </p:nvSpPr>
        <p:spPr>
          <a:xfrm>
            <a:off x="6933324" y="1992128"/>
            <a:ext cx="4421352" cy="563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200" b="1" kern="0" spc="180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SINGLE-YEAR RDD</a:t>
            </a:r>
            <a:endParaRPr lang="en-US" sz="32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487BAC4-EAE8-2373-D2E7-CDA72434A88F}"/>
              </a:ext>
            </a:extLst>
          </p:cNvPr>
          <p:cNvSpPr/>
          <p:nvPr/>
        </p:nvSpPr>
        <p:spPr>
          <a:xfrm>
            <a:off x="5235135" y="2555636"/>
            <a:ext cx="7817731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0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Compare libraries released just before vs. just after September 2021, within a 13-week bandwidth, with a 9-week asymmetric donut</a:t>
            </a:r>
            <a:endParaRPr lang="en-US" sz="20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03228B4-B0B5-36FA-70F1-FC7FBC1A4D81}"/>
              </a:ext>
            </a:extLst>
          </p:cNvPr>
          <p:cNvSpPr/>
          <p:nvPr/>
        </p:nvSpPr>
        <p:spPr>
          <a:xfrm>
            <a:off x="6417275" y="8238045"/>
            <a:ext cx="5453450" cy="1024537"/>
          </a:xfrm>
          <a:prstGeom prst="rect">
            <a:avLst/>
          </a:prstGeom>
          <a:solidFill>
            <a:srgbClr val="CAF0F8"/>
          </a:solidFill>
          <a:ln/>
        </p:spPr>
        <p:txBody>
          <a:bodyPr/>
          <a:lstStyle/>
          <a:p>
            <a:endParaRPr lang="en-US" sz="2800">
              <a:solidFill>
                <a:srgbClr val="03045E"/>
              </a:solidFill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51CF6EB-1989-157E-4788-58068DBE6451}"/>
              </a:ext>
            </a:extLst>
          </p:cNvPr>
          <p:cNvSpPr/>
          <p:nvPr/>
        </p:nvSpPr>
        <p:spPr>
          <a:xfrm>
            <a:off x="6433113" y="8238045"/>
            <a:ext cx="45719" cy="1024537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 sz="2000">
              <a:solidFill>
                <a:srgbClr val="03045E"/>
              </a:solidFill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5A97789-2EB6-5D00-F9E4-5CB6CE991FE4}"/>
              </a:ext>
            </a:extLst>
          </p:cNvPr>
          <p:cNvSpPr/>
          <p:nvPr/>
        </p:nvSpPr>
        <p:spPr>
          <a:xfrm>
            <a:off x="6683041" y="8374311"/>
            <a:ext cx="4240991" cy="3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96" dirty="0">
                <a:solidFill>
                  <a:srgbClr val="0096C7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POSSIBLE PROBLEM</a:t>
            </a:r>
            <a:endParaRPr lang="en-US" sz="20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E6F9A24-5C12-75CF-6DE8-9147D784F91B}"/>
              </a:ext>
            </a:extLst>
          </p:cNvPr>
          <p:cNvSpPr/>
          <p:nvPr/>
        </p:nvSpPr>
        <p:spPr>
          <a:xfrm>
            <a:off x="6683042" y="8677836"/>
            <a:ext cx="5126128" cy="584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023E8A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LLM effect + seasonality may be </a:t>
            </a:r>
            <a:r>
              <a:rPr lang="en-US" sz="2000" b="1" i="1" dirty="0">
                <a:solidFill>
                  <a:srgbClr val="023E8A"/>
                </a:solidFill>
                <a:latin typeface="Inter Tight Bold" pitchFamily="2" charset="0"/>
                <a:ea typeface="Inter Tight Bold" pitchFamily="2" charset="0"/>
                <a:cs typeface="Inter Tight Bold" pitchFamily="2" charset="0"/>
              </a:rPr>
              <a:t>confounded</a:t>
            </a:r>
            <a:endParaRPr lang="en-US" sz="20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31BF7AA1-8FF9-9B57-9343-DF35610FCAAF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E02C5F0-86F7-153C-0518-1BB4A10A7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A comparison of a graph&#10;&#10;AI-generated content may be incorrect.">
            <a:extLst>
              <a:ext uri="{FF2B5EF4-FFF2-40B4-BE49-F238E27FC236}">
                <a16:creationId xmlns:a16="http://schemas.microsoft.com/office/drawing/2014/main" id="{149A4490-0870-EE02-BC42-EC71DC94B2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518"/>
          <a:stretch>
            <a:fillRect/>
          </a:stretch>
        </p:blipFill>
        <p:spPr>
          <a:xfrm>
            <a:off x="5959510" y="3690971"/>
            <a:ext cx="6368979" cy="43883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17995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25CEC-749A-2993-9545-BDEE3A4C5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D6C4EB-6332-CB94-82A8-90C1A95EF84D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3EBFF1-AA8D-97E6-D255-8019AEE6D9F9}"/>
              </a:ext>
            </a:extLst>
          </p:cNvPr>
          <p:cNvSpPr/>
          <p:nvPr/>
        </p:nvSpPr>
        <p:spPr>
          <a:xfrm>
            <a:off x="953498" y="572103"/>
            <a:ext cx="1687449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4800" kern="0" spc="-33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Methodology – Diff-in-RDD intuition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6378F80-2E1A-89EE-5499-D87945F165B8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A06017F-A434-6D68-CAF5-EE0B5A631A41}"/>
              </a:ext>
            </a:extLst>
          </p:cNvPr>
          <p:cNvSpPr/>
          <p:nvPr/>
        </p:nvSpPr>
        <p:spPr>
          <a:xfrm>
            <a:off x="3165077" y="1876425"/>
            <a:ext cx="11957847" cy="7648575"/>
          </a:xfrm>
          <a:prstGeom prst="roundRect">
            <a:avLst>
              <a:gd name="adj" fmla="val 2195"/>
            </a:avLst>
          </a:prstGeom>
          <a:solidFill>
            <a:srgbClr val="03045E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>
              <a:solidFill>
                <a:srgbClr val="03045E"/>
              </a:solidFill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E3B4BC3-597D-B24A-A152-4C28205A50AD}"/>
              </a:ext>
            </a:extLst>
          </p:cNvPr>
          <p:cNvSpPr/>
          <p:nvPr/>
        </p:nvSpPr>
        <p:spPr>
          <a:xfrm>
            <a:off x="6540475" y="1876425"/>
            <a:ext cx="5206975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0BFE858-ACD6-2788-4CC5-6FEC07E4D58C}"/>
              </a:ext>
            </a:extLst>
          </p:cNvPr>
          <p:cNvSpPr/>
          <p:nvPr/>
        </p:nvSpPr>
        <p:spPr>
          <a:xfrm>
            <a:off x="6212569" y="2022128"/>
            <a:ext cx="5862863" cy="577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3200" b="1" kern="0" spc="180" dirty="0">
                <a:solidFill>
                  <a:srgbClr val="0077B6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DIFFERENCES-IN-RDD</a:t>
            </a:r>
            <a:endParaRPr lang="en-US" sz="32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D7ED1FA-97B3-FCA6-3597-4ADCCCBD1CA1}"/>
              </a:ext>
            </a:extLst>
          </p:cNvPr>
          <p:cNvSpPr/>
          <p:nvPr/>
        </p:nvSpPr>
        <p:spPr>
          <a:xfrm>
            <a:off x="6997675" y="2701379"/>
            <a:ext cx="4421352" cy="979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Stack 2018-2020 placebo cohorts, then subtract their jump from 2021's jump</a:t>
            </a:r>
            <a:endParaRPr lang="en-US" sz="20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A744CB5-13CD-BE89-9CE4-E9D5E6D47298}"/>
              </a:ext>
            </a:extLst>
          </p:cNvPr>
          <p:cNvGrpSpPr/>
          <p:nvPr/>
        </p:nvGrpSpPr>
        <p:grpSpPr>
          <a:xfrm>
            <a:off x="6540475" y="8734395"/>
            <a:ext cx="5206975" cy="700718"/>
            <a:chOff x="6540475" y="8734395"/>
            <a:chExt cx="5206975" cy="700718"/>
          </a:xfrm>
        </p:grpSpPr>
        <p:sp>
          <p:nvSpPr>
            <p:cNvPr id="20" name="Shape 16">
              <a:extLst>
                <a:ext uri="{FF2B5EF4-FFF2-40B4-BE49-F238E27FC236}">
                  <a16:creationId xmlns:a16="http://schemas.microsoft.com/office/drawing/2014/main" id="{5F085E5A-4777-9977-C8E6-EEB57D05AF4D}"/>
                </a:ext>
              </a:extLst>
            </p:cNvPr>
            <p:cNvSpPr/>
            <p:nvPr/>
          </p:nvSpPr>
          <p:spPr>
            <a:xfrm>
              <a:off x="6541902" y="8734395"/>
              <a:ext cx="45719" cy="700718"/>
            </a:xfrm>
            <a:prstGeom prst="rect">
              <a:avLst/>
            </a:prstGeom>
            <a:solidFill>
              <a:srgbClr val="0096C7"/>
            </a:solidFill>
            <a:ln/>
          </p:spPr>
          <p:txBody>
            <a:bodyPr/>
            <a:lstStyle/>
            <a:p>
              <a:endParaRPr lang="en-US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19" name="Shape 15">
              <a:extLst>
                <a:ext uri="{FF2B5EF4-FFF2-40B4-BE49-F238E27FC236}">
                  <a16:creationId xmlns:a16="http://schemas.microsoft.com/office/drawing/2014/main" id="{4CD7AC85-3CA5-FB5B-892B-AC0F7A90531C}"/>
                </a:ext>
              </a:extLst>
            </p:cNvPr>
            <p:cNvSpPr/>
            <p:nvPr/>
          </p:nvSpPr>
          <p:spPr>
            <a:xfrm>
              <a:off x="6540475" y="8734395"/>
              <a:ext cx="5206975" cy="700718"/>
            </a:xfrm>
            <a:prstGeom prst="rect">
              <a:avLst/>
            </a:prstGeom>
            <a:solidFill>
              <a:srgbClr val="0096C7">
                <a:alpha val="14902"/>
              </a:srgbClr>
            </a:solidFill>
            <a:ln/>
          </p:spPr>
          <p:txBody>
            <a:bodyPr/>
            <a:lstStyle/>
            <a:p>
              <a:endParaRPr lang="en-US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4EBA49E5-9E22-2E11-3A6D-D4E56227E12E}"/>
                </a:ext>
              </a:extLst>
            </p:cNvPr>
            <p:cNvSpPr/>
            <p:nvPr/>
          </p:nvSpPr>
          <p:spPr>
            <a:xfrm>
              <a:off x="6750025" y="8767760"/>
              <a:ext cx="1159303" cy="4000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kern="0" spc="96" dirty="0">
                  <a:solidFill>
                    <a:srgbClr val="0077B6"/>
                  </a:solidFill>
                  <a:latin typeface="Inter Tight Black" pitchFamily="2" charset="0"/>
                  <a:ea typeface="Inter Tight Black" pitchFamily="2" charset="0"/>
                  <a:cs typeface="Inter Tight Black" pitchFamily="2" charset="0"/>
                </a:rPr>
                <a:t>PAYOFF</a:t>
              </a:r>
              <a:endParaRPr lang="en-US" sz="1600" dirty="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1FE26829-E3B0-DCE0-4587-4DF84CFA8632}"/>
                </a:ext>
              </a:extLst>
            </p:cNvPr>
            <p:cNvSpPr/>
            <p:nvPr/>
          </p:nvSpPr>
          <p:spPr>
            <a:xfrm>
              <a:off x="6750025" y="8962391"/>
              <a:ext cx="4028922" cy="47272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000" dirty="0">
                  <a:solidFill>
                    <a:srgbClr val="FFFFFF">
                      <a:alpha val="75000"/>
                    </a:srgbClr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Residual =</a:t>
              </a:r>
              <a:r>
                <a:rPr lang="en-US" sz="2000" dirty="0">
                  <a:solidFill>
                    <a:srgbClr val="0077B6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 LLM-cutoff effect only</a:t>
              </a:r>
              <a:endParaRPr lang="en-US" sz="2000" dirty="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</p:grpSp>
      <p:pic>
        <p:nvPicPr>
          <p:cNvPr id="32" name="Graphic 32" descr="Method icon">
            <a:extLst>
              <a:ext uri="{FF2B5EF4-FFF2-40B4-BE49-F238E27FC236}">
                <a16:creationId xmlns:a16="http://schemas.microsoft.com/office/drawing/2014/main" id="{3358B7F1-2F6D-AEF3-1259-CA58923968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30674" y="566679"/>
            <a:ext cx="708686" cy="708686"/>
          </a:xfrm>
          <a:prstGeom prst="rect">
            <a:avLst/>
          </a:prstGeom>
        </p:spPr>
      </p:pic>
      <p:sp>
        <p:nvSpPr>
          <p:cNvPr id="5" name="Text 18">
            <a:extLst>
              <a:ext uri="{FF2B5EF4-FFF2-40B4-BE49-F238E27FC236}">
                <a16:creationId xmlns:a16="http://schemas.microsoft.com/office/drawing/2014/main" id="{1EC714B0-751C-F4A1-9DE2-11F1CDD5833D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0C1995F-B762-C633-2093-70EA82987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graph of a number of seasons&#10;&#10;AI-generated content may be incorrect.">
            <a:extLst>
              <a:ext uri="{FF2B5EF4-FFF2-40B4-BE49-F238E27FC236}">
                <a16:creationId xmlns:a16="http://schemas.microsoft.com/office/drawing/2014/main" id="{B4A20215-AE78-CEFB-E3D5-9F010F6D6F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12" y="3898900"/>
            <a:ext cx="7048500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07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36297-E69F-4689-1860-286D8EBF5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46042E-9A4A-37A0-EEFB-425983B2392E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C41632-05D1-311D-EA7E-6D5168EC9870}"/>
              </a:ext>
            </a:extLst>
          </p:cNvPr>
          <p:cNvSpPr/>
          <p:nvPr/>
        </p:nvSpPr>
        <p:spPr>
          <a:xfrm>
            <a:off x="953498" y="572103"/>
            <a:ext cx="1687449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4800" kern="0" spc="-33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Methodology – Diff-in-RDD specification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9CF31E1-ECCA-AEA3-46B4-AD1FA4EDE4B5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C5F340D-63E9-E9FE-05AB-A7174D259335}"/>
              </a:ext>
            </a:extLst>
          </p:cNvPr>
          <p:cNvSpPr/>
          <p:nvPr/>
        </p:nvSpPr>
        <p:spPr>
          <a:xfrm>
            <a:off x="3165077" y="1402292"/>
            <a:ext cx="11957847" cy="5519209"/>
          </a:xfrm>
          <a:prstGeom prst="roundRect">
            <a:avLst>
              <a:gd name="adj" fmla="val 2195"/>
            </a:avLst>
          </a:prstGeom>
          <a:solidFill>
            <a:srgbClr val="03045E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15" name="asfsdf">
            <a:extLst>
              <a:ext uri="{FF2B5EF4-FFF2-40B4-BE49-F238E27FC236}">
                <a16:creationId xmlns:a16="http://schemas.microsoft.com/office/drawing/2014/main" id="{E0F84392-954B-83FB-EE43-3E0A7A0A4A4E}"/>
              </a:ext>
            </a:extLst>
          </p:cNvPr>
          <p:cNvSpPr/>
          <p:nvPr/>
        </p:nvSpPr>
        <p:spPr>
          <a:xfrm>
            <a:off x="6540475" y="1402292"/>
            <a:ext cx="5206975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EF0DEA5-2F81-8123-F392-92D286B7227F}"/>
              </a:ext>
            </a:extLst>
          </p:cNvPr>
          <p:cNvSpPr/>
          <p:nvPr/>
        </p:nvSpPr>
        <p:spPr>
          <a:xfrm>
            <a:off x="6344492" y="1547995"/>
            <a:ext cx="5599017" cy="5775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3200" b="1" kern="0" spc="180" dirty="0">
                <a:solidFill>
                  <a:srgbClr val="0077B6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DIFFERENCES-IN-RDD</a:t>
            </a:r>
            <a:endParaRPr lang="en-US" sz="32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541C8-6159-FAB7-1B0D-C74449228E1C}"/>
              </a:ext>
            </a:extLst>
          </p:cNvPr>
          <p:cNvGrpSpPr/>
          <p:nvPr/>
        </p:nvGrpSpPr>
        <p:grpSpPr>
          <a:xfrm>
            <a:off x="6540475" y="5838798"/>
            <a:ext cx="5206975" cy="700718"/>
            <a:chOff x="6540475" y="8734395"/>
            <a:chExt cx="5206975" cy="700718"/>
          </a:xfrm>
        </p:grpSpPr>
        <p:sp>
          <p:nvSpPr>
            <p:cNvPr id="20" name="Shape 16">
              <a:extLst>
                <a:ext uri="{FF2B5EF4-FFF2-40B4-BE49-F238E27FC236}">
                  <a16:creationId xmlns:a16="http://schemas.microsoft.com/office/drawing/2014/main" id="{4CC3F686-92E1-CABE-063D-65FC8F8082A6}"/>
                </a:ext>
              </a:extLst>
            </p:cNvPr>
            <p:cNvSpPr/>
            <p:nvPr/>
          </p:nvSpPr>
          <p:spPr>
            <a:xfrm>
              <a:off x="6541902" y="8734395"/>
              <a:ext cx="45719" cy="700718"/>
            </a:xfrm>
            <a:prstGeom prst="rect">
              <a:avLst/>
            </a:prstGeom>
            <a:solidFill>
              <a:srgbClr val="0096C7"/>
            </a:solidFill>
            <a:ln/>
          </p:spPr>
          <p:txBody>
            <a:bodyPr/>
            <a:lstStyle/>
            <a:p>
              <a:endParaRPr lang="en-US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19" name="Shape 15">
              <a:extLst>
                <a:ext uri="{FF2B5EF4-FFF2-40B4-BE49-F238E27FC236}">
                  <a16:creationId xmlns:a16="http://schemas.microsoft.com/office/drawing/2014/main" id="{163CC520-7759-7E5F-80DE-B6000A5F3D10}"/>
                </a:ext>
              </a:extLst>
            </p:cNvPr>
            <p:cNvSpPr/>
            <p:nvPr/>
          </p:nvSpPr>
          <p:spPr>
            <a:xfrm>
              <a:off x="6540475" y="8734395"/>
              <a:ext cx="5206975" cy="700718"/>
            </a:xfrm>
            <a:prstGeom prst="rect">
              <a:avLst/>
            </a:prstGeom>
            <a:solidFill>
              <a:srgbClr val="0096C7">
                <a:alpha val="14902"/>
              </a:srgbClr>
            </a:solidFill>
            <a:ln/>
          </p:spPr>
          <p:txBody>
            <a:bodyPr/>
            <a:lstStyle/>
            <a:p>
              <a:endParaRPr lang="en-US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BF52F169-9E53-A2A8-1FEA-D5AD34882F18}"/>
                </a:ext>
              </a:extLst>
            </p:cNvPr>
            <p:cNvSpPr/>
            <p:nvPr/>
          </p:nvSpPr>
          <p:spPr>
            <a:xfrm>
              <a:off x="6750025" y="8767760"/>
              <a:ext cx="1159303" cy="4000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kern="0" spc="96" dirty="0">
                  <a:solidFill>
                    <a:srgbClr val="0077B6"/>
                  </a:solidFill>
                  <a:latin typeface="Inter Tight Black" pitchFamily="2" charset="0"/>
                  <a:ea typeface="Inter Tight Black" pitchFamily="2" charset="0"/>
                  <a:cs typeface="Inter Tight Black" pitchFamily="2" charset="0"/>
                </a:rPr>
                <a:t>PAYOFF</a:t>
              </a:r>
              <a:endParaRPr lang="en-US" sz="1600" dirty="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3A4B30E3-60EE-176E-EB23-3799F0DDF357}"/>
                </a:ext>
              </a:extLst>
            </p:cNvPr>
            <p:cNvSpPr/>
            <p:nvPr/>
          </p:nvSpPr>
          <p:spPr>
            <a:xfrm>
              <a:off x="6750025" y="8962391"/>
              <a:ext cx="4028922" cy="3238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dirty="0">
                  <a:solidFill>
                    <a:srgbClr val="FFFFFF">
                      <a:alpha val="75000"/>
                    </a:srgbClr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Residual = </a:t>
              </a:r>
              <a:r>
                <a:rPr lang="en-US" dirty="0">
                  <a:solidFill>
                    <a:srgbClr val="0077B6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pure LLM-cutoff effect</a:t>
              </a:r>
              <a:endParaRPr lang="en-US" dirty="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</p:grpSp>
      <p:pic>
        <p:nvPicPr>
          <p:cNvPr id="32" name="Graphic 32" descr="Method icon">
            <a:extLst>
              <a:ext uri="{FF2B5EF4-FFF2-40B4-BE49-F238E27FC236}">
                <a16:creationId xmlns:a16="http://schemas.microsoft.com/office/drawing/2014/main" id="{8A5F72BF-7615-B2E4-397E-FD3989FAC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30674" y="566679"/>
            <a:ext cx="708686" cy="708686"/>
          </a:xfrm>
          <a:prstGeom prst="rect">
            <a:avLst/>
          </a:prstGeom>
        </p:spPr>
      </p:pic>
      <p:sp>
        <p:nvSpPr>
          <p:cNvPr id="53" name="EquationBox">
            <a:extLst>
              <a:ext uri="{FF2B5EF4-FFF2-40B4-BE49-F238E27FC236}">
                <a16:creationId xmlns:a16="http://schemas.microsoft.com/office/drawing/2014/main" id="{4169A39E-ECA9-4BDD-AE94-CDA4A25608CF}"/>
              </a:ext>
            </a:extLst>
          </p:cNvPr>
          <p:cNvSpPr txBox="1"/>
          <p:nvPr/>
        </p:nvSpPr>
        <p:spPr>
          <a:xfrm>
            <a:off x="1338515" y="6997100"/>
            <a:ext cx="15748000" cy="1270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77B6">
                <a:alpha val="40000"/>
              </a:srgbClr>
            </a:solidFill>
          </a:ln>
          <a:effectLst>
            <a:outerShdw blurRad="38100" dist="12700" dir="5400000" algn="t" rotWithShape="0">
              <a:srgbClr val="000000">
                <a:alpha val="10000"/>
              </a:srgbClr>
            </a:outerShdw>
          </a:effectLst>
        </p:spPr>
        <p:txBody>
          <a:bodyPr wrap="square" lIns="108000" tIns="72000" rIns="108000" bIns="72000" anchor="ctr"/>
          <a:lstStyle/>
          <a:p>
            <a:pPr algn="ctr">
              <a:buNone/>
            </a:pPr>
            <a:r>
              <a:rPr lang="en-US" sz="3600" i="1" dirty="0">
                <a:solidFill>
                  <a:srgbClr val="03045E"/>
                </a:solidFill>
                <a:latin typeface="Cambria Math"/>
              </a:rPr>
              <a:t>Y</a:t>
            </a:r>
            <a:r>
              <a:rPr lang="en-US" sz="2800" i="1" baseline="-25000" dirty="0">
                <a:solidFill>
                  <a:srgbClr val="03045E"/>
                </a:solidFill>
                <a:latin typeface="Cambria Math"/>
              </a:rPr>
              <a:t>i</a:t>
            </a:r>
            <a:r>
              <a:rPr lang="en-US" sz="3600" dirty="0">
                <a:solidFill>
                  <a:srgbClr val="03045E"/>
                </a:solidFill>
                <a:latin typeface="Cambria Math"/>
              </a:rPr>
              <a:t>  =  </a:t>
            </a:r>
            <a:r>
              <a:rPr lang="en-US" sz="3600" i="1" dirty="0">
                <a:solidFill>
                  <a:srgbClr val="03045E"/>
                </a:solidFill>
                <a:latin typeface="Cambria Math"/>
              </a:rPr>
              <a:t>α</a:t>
            </a:r>
            <a:r>
              <a:rPr lang="en-US" sz="3600" dirty="0">
                <a:solidFill>
                  <a:srgbClr val="03045E"/>
                </a:solidFill>
                <a:latin typeface="Cambria Math"/>
              </a:rPr>
              <a:t>  +  </a:t>
            </a:r>
            <a:r>
              <a:rPr lang="en-US" sz="3600" i="1" dirty="0">
                <a:solidFill>
                  <a:srgbClr val="03045E"/>
                </a:solidFill>
                <a:latin typeface="Cambria Math"/>
              </a:rPr>
              <a:t>β</a:t>
            </a:r>
            <a:r>
              <a:rPr lang="en-US" sz="2800" baseline="-25000" dirty="0">
                <a:solidFill>
                  <a:srgbClr val="03045E"/>
                </a:solidFill>
                <a:latin typeface="Cambria Math"/>
              </a:rPr>
              <a:t>0</a:t>
            </a:r>
            <a:r>
              <a:rPr lang="en-US" sz="3600" i="1" dirty="0">
                <a:solidFill>
                  <a:srgbClr val="03045E"/>
                </a:solidFill>
                <a:latin typeface="Cambria Math"/>
              </a:rPr>
              <a:t>B</a:t>
            </a:r>
            <a:r>
              <a:rPr lang="en-US" sz="2800" i="1" baseline="-25000" dirty="0">
                <a:solidFill>
                  <a:srgbClr val="03045E"/>
                </a:solidFill>
                <a:latin typeface="Cambria Math"/>
              </a:rPr>
              <a:t>i</a:t>
            </a:r>
            <a:r>
              <a:rPr lang="en-US" sz="3600" dirty="0">
                <a:solidFill>
                  <a:srgbClr val="03045E"/>
                </a:solidFill>
                <a:latin typeface="Cambria Math"/>
              </a:rPr>
              <a:t>  +  </a:t>
            </a:r>
            <a:r>
              <a:rPr lang="en-US" sz="3600" i="1" dirty="0">
                <a:solidFill>
                  <a:srgbClr val="03045E"/>
                </a:solidFill>
                <a:latin typeface="Cambria Math"/>
              </a:rPr>
              <a:t>β</a:t>
            </a:r>
            <a:r>
              <a:rPr lang="en-US" sz="2800" baseline="-25000" dirty="0">
                <a:solidFill>
                  <a:srgbClr val="03045E"/>
                </a:solidFill>
                <a:latin typeface="Cambria Math"/>
              </a:rPr>
              <a:t>1</a:t>
            </a:r>
            <a:r>
              <a:rPr lang="en-US" sz="3600" i="1" dirty="0">
                <a:solidFill>
                  <a:srgbClr val="03045E"/>
                </a:solidFill>
                <a:latin typeface="Cambria Math"/>
              </a:rPr>
              <a:t>D</a:t>
            </a:r>
            <a:r>
              <a:rPr lang="en-US" sz="2800" i="1" baseline="-25000" dirty="0">
                <a:solidFill>
                  <a:srgbClr val="03045E"/>
                </a:solidFill>
                <a:latin typeface="Cambria Math"/>
              </a:rPr>
              <a:t>i</a:t>
            </a:r>
            <a:r>
              <a:rPr lang="en-US" sz="3600" dirty="0">
                <a:solidFill>
                  <a:srgbClr val="03045E"/>
                </a:solidFill>
                <a:latin typeface="Cambria Math"/>
              </a:rPr>
              <a:t>  +  </a:t>
            </a:r>
            <a:r>
              <a:rPr lang="en-US" sz="3600" i="1" dirty="0">
                <a:solidFill>
                  <a:srgbClr val="03045E"/>
                </a:solidFill>
                <a:latin typeface="Cambria Math"/>
              </a:rPr>
              <a:t>β</a:t>
            </a:r>
            <a:r>
              <a:rPr lang="en-US" sz="2800" baseline="-25000" dirty="0">
                <a:solidFill>
                  <a:srgbClr val="03045E"/>
                </a:solidFill>
                <a:latin typeface="Cambria Math"/>
              </a:rPr>
              <a:t>2</a:t>
            </a:r>
            <a:r>
              <a:rPr lang="en-US" sz="3600" dirty="0">
                <a:solidFill>
                  <a:srgbClr val="03045E"/>
                </a:solidFill>
                <a:latin typeface="Cambria Math"/>
              </a:rPr>
              <a:t> 𝟙</a:t>
            </a:r>
            <a:r>
              <a:rPr lang="en-US" sz="2800" baseline="-25000" dirty="0">
                <a:solidFill>
                  <a:srgbClr val="03045E"/>
                </a:solidFill>
                <a:latin typeface="Cambria Math"/>
              </a:rPr>
              <a:t>2021,i</a:t>
            </a:r>
            <a:r>
              <a:rPr lang="en-US" sz="3600" dirty="0">
                <a:solidFill>
                  <a:srgbClr val="03045E"/>
                </a:solidFill>
                <a:latin typeface="Cambria Math"/>
              </a:rPr>
              <a:t>  +  </a:t>
            </a:r>
            <a:r>
              <a:rPr lang="en-US" sz="3600" i="1" dirty="0">
                <a:solidFill>
                  <a:srgbClr val="0077B6"/>
                </a:solidFill>
                <a:latin typeface="Cambria Math"/>
              </a:rPr>
              <a:t>β</a:t>
            </a:r>
            <a:r>
              <a:rPr lang="en-US" sz="2800" b="1" i="1" baseline="-25000" dirty="0">
                <a:solidFill>
                  <a:srgbClr val="0077B6"/>
                </a:solidFill>
                <a:latin typeface="Cambria Math"/>
              </a:rPr>
              <a:t>3</a:t>
            </a:r>
            <a:r>
              <a:rPr lang="en-US" sz="3600" i="1" dirty="0">
                <a:solidFill>
                  <a:srgbClr val="0077B6"/>
                </a:solidFill>
                <a:latin typeface="Cambria Math"/>
              </a:rPr>
              <a:t>(D</a:t>
            </a:r>
            <a:r>
              <a:rPr lang="en-US" sz="2800" b="1" i="1" baseline="-25000" dirty="0">
                <a:solidFill>
                  <a:srgbClr val="0077B6"/>
                </a:solidFill>
                <a:latin typeface="Cambria Math"/>
              </a:rPr>
              <a:t>i</a:t>
            </a:r>
            <a:r>
              <a:rPr lang="en-US" sz="3600" i="1" dirty="0">
                <a:solidFill>
                  <a:srgbClr val="0077B6"/>
                </a:solidFill>
                <a:latin typeface="Cambria Math"/>
              </a:rPr>
              <a:t> × 𝟙</a:t>
            </a:r>
            <a:r>
              <a:rPr lang="en-US" sz="2800" b="1" i="1" baseline="-25000" dirty="0">
                <a:solidFill>
                  <a:srgbClr val="0077B6"/>
                </a:solidFill>
                <a:latin typeface="Cambria Math"/>
              </a:rPr>
              <a:t>2021,i</a:t>
            </a:r>
            <a:r>
              <a:rPr lang="en-US" sz="3600" i="1" dirty="0">
                <a:solidFill>
                  <a:srgbClr val="0077B6"/>
                </a:solidFill>
                <a:latin typeface="Cambria Math"/>
              </a:rPr>
              <a:t>)</a:t>
            </a:r>
            <a:r>
              <a:rPr lang="en-US" sz="3600" i="1" dirty="0">
                <a:solidFill>
                  <a:srgbClr val="03045E"/>
                </a:solidFill>
                <a:latin typeface="Cambria Math"/>
              </a:rPr>
              <a:t>  </a:t>
            </a:r>
            <a:r>
              <a:rPr lang="en-US" sz="3600" dirty="0">
                <a:solidFill>
                  <a:srgbClr val="03045E"/>
                </a:solidFill>
                <a:latin typeface="Cambria Math"/>
              </a:rPr>
              <a:t>+  </a:t>
            </a:r>
            <a:r>
              <a:rPr lang="en-US" sz="3600" i="1" dirty="0">
                <a:solidFill>
                  <a:srgbClr val="03045E"/>
                </a:solidFill>
                <a:latin typeface="Cambria Math"/>
              </a:rPr>
              <a:t>g</a:t>
            </a:r>
            <a:r>
              <a:rPr lang="en-US" sz="3600" dirty="0">
                <a:solidFill>
                  <a:srgbClr val="03045E"/>
                </a:solidFill>
                <a:latin typeface="Cambria Math"/>
              </a:rPr>
              <a:t>(</a:t>
            </a:r>
            <a:r>
              <a:rPr lang="en-US" sz="3600" i="1" dirty="0">
                <a:solidFill>
                  <a:srgbClr val="03045E"/>
                </a:solidFill>
                <a:latin typeface="Cambria Math"/>
              </a:rPr>
              <a:t>r</a:t>
            </a:r>
            <a:r>
              <a:rPr lang="en-US" sz="2800" i="1" baseline="-25000" dirty="0">
                <a:solidFill>
                  <a:srgbClr val="03045E"/>
                </a:solidFill>
                <a:latin typeface="Cambria Math"/>
              </a:rPr>
              <a:t>i</a:t>
            </a:r>
            <a:r>
              <a:rPr lang="en-US" sz="3600" dirty="0">
                <a:solidFill>
                  <a:srgbClr val="03045E"/>
                </a:solidFill>
                <a:latin typeface="Cambria Math"/>
              </a:rPr>
              <a:t>)  +  </a:t>
            </a:r>
            <a:r>
              <a:rPr lang="en-US" sz="3600" i="1" dirty="0">
                <a:solidFill>
                  <a:srgbClr val="03045E"/>
                </a:solidFill>
                <a:latin typeface="Cambria Math"/>
              </a:rPr>
              <a:t>ε</a:t>
            </a:r>
            <a:r>
              <a:rPr lang="en-US" sz="2800" i="1" baseline="-25000" dirty="0">
                <a:solidFill>
                  <a:srgbClr val="03045E"/>
                </a:solidFill>
                <a:latin typeface="Cambria Math"/>
              </a:rPr>
              <a:t>i</a:t>
            </a:r>
          </a:p>
        </p:txBody>
      </p:sp>
      <p:sp>
        <p:nvSpPr>
          <p:cNvPr id="54" name="CLine0">
            <a:extLst>
              <a:ext uri="{FF2B5EF4-FFF2-40B4-BE49-F238E27FC236}">
                <a16:creationId xmlns:a16="http://schemas.microsoft.com/office/drawing/2014/main" id="{15C3FBF0-A2E4-0E51-EF61-2FABA4EA3B24}"/>
              </a:ext>
            </a:extLst>
          </p:cNvPr>
          <p:cNvSpPr/>
          <p:nvPr/>
        </p:nvSpPr>
        <p:spPr>
          <a:xfrm>
            <a:off x="3281842" y="7971361"/>
            <a:ext cx="12700" cy="1301585"/>
          </a:xfrm>
          <a:prstGeom prst="rect">
            <a:avLst/>
          </a:prstGeom>
          <a:solidFill>
            <a:srgbClr val="03045E">
              <a:alpha val="4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CDot0">
            <a:extLst>
              <a:ext uri="{FF2B5EF4-FFF2-40B4-BE49-F238E27FC236}">
                <a16:creationId xmlns:a16="http://schemas.microsoft.com/office/drawing/2014/main" id="{C9E02163-98F9-F126-9976-A11DD11137BD}"/>
              </a:ext>
            </a:extLst>
          </p:cNvPr>
          <p:cNvSpPr/>
          <p:nvPr/>
        </p:nvSpPr>
        <p:spPr>
          <a:xfrm>
            <a:off x="3237918" y="7878710"/>
            <a:ext cx="101600" cy="101600"/>
          </a:xfrm>
          <a:prstGeom prst="ellipse">
            <a:avLst/>
          </a:prstGeom>
          <a:solidFill>
            <a:srgbClr val="03045E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CLabel0">
            <a:extLst>
              <a:ext uri="{FF2B5EF4-FFF2-40B4-BE49-F238E27FC236}">
                <a16:creationId xmlns:a16="http://schemas.microsoft.com/office/drawing/2014/main" id="{697F2A2B-FE1D-9FB4-EA3B-3212395D89D2}"/>
              </a:ext>
            </a:extLst>
          </p:cNvPr>
          <p:cNvSpPr txBox="1"/>
          <p:nvPr/>
        </p:nvSpPr>
        <p:spPr>
          <a:xfrm>
            <a:off x="2018718" y="9226990"/>
            <a:ext cx="2540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18000" rIns="18000" bIns="18000" anchor="t"/>
          <a:lstStyle/>
          <a:p>
            <a:pPr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3045E">
                    <a:alpha val="8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log(1 + post-AI downloads)</a:t>
            </a:r>
          </a:p>
        </p:txBody>
      </p:sp>
      <p:sp>
        <p:nvSpPr>
          <p:cNvPr id="57" name="CLine1">
            <a:extLst>
              <a:ext uri="{FF2B5EF4-FFF2-40B4-BE49-F238E27FC236}">
                <a16:creationId xmlns:a16="http://schemas.microsoft.com/office/drawing/2014/main" id="{79CBDAB3-AEC6-6AE6-A9B0-4608FEC19A95}"/>
              </a:ext>
            </a:extLst>
          </p:cNvPr>
          <p:cNvSpPr/>
          <p:nvPr/>
        </p:nvSpPr>
        <p:spPr>
          <a:xfrm>
            <a:off x="5539932" y="7976689"/>
            <a:ext cx="12700" cy="1111167"/>
          </a:xfrm>
          <a:prstGeom prst="rect">
            <a:avLst/>
          </a:prstGeom>
          <a:solidFill>
            <a:srgbClr val="03045E">
              <a:alpha val="4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CDot1">
            <a:extLst>
              <a:ext uri="{FF2B5EF4-FFF2-40B4-BE49-F238E27FC236}">
                <a16:creationId xmlns:a16="http://schemas.microsoft.com/office/drawing/2014/main" id="{66829526-8014-7AF4-F805-4560B12995B5}"/>
              </a:ext>
            </a:extLst>
          </p:cNvPr>
          <p:cNvSpPr/>
          <p:nvPr/>
        </p:nvSpPr>
        <p:spPr>
          <a:xfrm>
            <a:off x="5495392" y="7874028"/>
            <a:ext cx="101600" cy="101600"/>
          </a:xfrm>
          <a:prstGeom prst="ellipse">
            <a:avLst/>
          </a:prstGeom>
          <a:solidFill>
            <a:srgbClr val="03045E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CLabel1">
            <a:extLst>
              <a:ext uri="{FF2B5EF4-FFF2-40B4-BE49-F238E27FC236}">
                <a16:creationId xmlns:a16="http://schemas.microsoft.com/office/drawing/2014/main" id="{F6720081-43D8-FB57-5EA7-4E4B0CFFD46C}"/>
              </a:ext>
            </a:extLst>
          </p:cNvPr>
          <p:cNvSpPr txBox="1"/>
          <p:nvPr/>
        </p:nvSpPr>
        <p:spPr>
          <a:xfrm>
            <a:off x="3780319" y="9029100"/>
            <a:ext cx="3515168" cy="1397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18000" rIns="18000" bIns="18000" anchor="t"/>
          <a:lstStyle/>
          <a:p>
            <a:pPr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3045E">
                    <a:alpha val="8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pre-AI 52-wk downloads (baseline)</a:t>
            </a:r>
          </a:p>
        </p:txBody>
      </p:sp>
      <p:sp>
        <p:nvSpPr>
          <p:cNvPr id="60" name="CLine2">
            <a:extLst>
              <a:ext uri="{FF2B5EF4-FFF2-40B4-BE49-F238E27FC236}">
                <a16:creationId xmlns:a16="http://schemas.microsoft.com/office/drawing/2014/main" id="{70B69C4D-78FC-78A8-2963-EF3DFB41CE07}"/>
              </a:ext>
            </a:extLst>
          </p:cNvPr>
          <p:cNvSpPr/>
          <p:nvPr/>
        </p:nvSpPr>
        <p:spPr>
          <a:xfrm>
            <a:off x="7014125" y="7962690"/>
            <a:ext cx="12700" cy="808182"/>
          </a:xfrm>
          <a:prstGeom prst="rect">
            <a:avLst/>
          </a:prstGeom>
          <a:solidFill>
            <a:srgbClr val="03045E">
              <a:alpha val="4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CDot2">
            <a:extLst>
              <a:ext uri="{FF2B5EF4-FFF2-40B4-BE49-F238E27FC236}">
                <a16:creationId xmlns:a16="http://schemas.microsoft.com/office/drawing/2014/main" id="{B75B29BB-0589-1245-FAEE-FFE2ECD53329}"/>
              </a:ext>
            </a:extLst>
          </p:cNvPr>
          <p:cNvSpPr/>
          <p:nvPr/>
        </p:nvSpPr>
        <p:spPr>
          <a:xfrm>
            <a:off x="6969675" y="7874028"/>
            <a:ext cx="101600" cy="101600"/>
          </a:xfrm>
          <a:prstGeom prst="ellipse">
            <a:avLst/>
          </a:prstGeom>
          <a:solidFill>
            <a:srgbClr val="03045E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CLabel2">
            <a:extLst>
              <a:ext uri="{FF2B5EF4-FFF2-40B4-BE49-F238E27FC236}">
                <a16:creationId xmlns:a16="http://schemas.microsoft.com/office/drawing/2014/main" id="{79718515-EFFB-5BD0-3A19-E0ADFEB8ED41}"/>
              </a:ext>
            </a:extLst>
          </p:cNvPr>
          <p:cNvSpPr txBox="1"/>
          <p:nvPr/>
        </p:nvSpPr>
        <p:spPr>
          <a:xfrm>
            <a:off x="5750475" y="8756888"/>
            <a:ext cx="2540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18000" rIns="18000" bIns="18000" anchor="t"/>
          <a:lstStyle/>
          <a:p>
            <a:pPr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3045E">
                    <a:alpha val="8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post-cutoff indicator</a:t>
            </a:r>
          </a:p>
        </p:txBody>
      </p:sp>
      <p:sp>
        <p:nvSpPr>
          <p:cNvPr id="63" name="CLine3">
            <a:extLst>
              <a:ext uri="{FF2B5EF4-FFF2-40B4-BE49-F238E27FC236}">
                <a16:creationId xmlns:a16="http://schemas.microsoft.com/office/drawing/2014/main" id="{5AFB7A7A-73F5-6A60-0E3C-28A653F469A8}"/>
              </a:ext>
            </a:extLst>
          </p:cNvPr>
          <p:cNvSpPr/>
          <p:nvPr/>
        </p:nvSpPr>
        <p:spPr>
          <a:xfrm>
            <a:off x="8597441" y="7973421"/>
            <a:ext cx="12700" cy="1292649"/>
          </a:xfrm>
          <a:prstGeom prst="rect">
            <a:avLst/>
          </a:prstGeom>
          <a:solidFill>
            <a:srgbClr val="03045E">
              <a:alpha val="4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CDot3">
            <a:extLst>
              <a:ext uri="{FF2B5EF4-FFF2-40B4-BE49-F238E27FC236}">
                <a16:creationId xmlns:a16="http://schemas.microsoft.com/office/drawing/2014/main" id="{E3F9C5FC-7980-1798-1C28-37C4F87887E7}"/>
              </a:ext>
            </a:extLst>
          </p:cNvPr>
          <p:cNvSpPr/>
          <p:nvPr/>
        </p:nvSpPr>
        <p:spPr>
          <a:xfrm>
            <a:off x="8552991" y="7877029"/>
            <a:ext cx="101600" cy="101600"/>
          </a:xfrm>
          <a:prstGeom prst="ellipse">
            <a:avLst/>
          </a:prstGeom>
          <a:solidFill>
            <a:srgbClr val="03045E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CLabel3">
            <a:extLst>
              <a:ext uri="{FF2B5EF4-FFF2-40B4-BE49-F238E27FC236}">
                <a16:creationId xmlns:a16="http://schemas.microsoft.com/office/drawing/2014/main" id="{9DC996DA-7166-0AB4-9AA6-77562D22E748}"/>
              </a:ext>
            </a:extLst>
          </p:cNvPr>
          <p:cNvSpPr txBox="1"/>
          <p:nvPr/>
        </p:nvSpPr>
        <p:spPr>
          <a:xfrm>
            <a:off x="7182061" y="9295771"/>
            <a:ext cx="2830760" cy="1397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18000" rIns="18000" bIns="18000" anchor="t"/>
          <a:lstStyle/>
          <a:p>
            <a:pPr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3045E">
                    <a:alpha val="8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2021 cohort (vs 2018–2020 placebo)</a:t>
            </a:r>
          </a:p>
        </p:txBody>
      </p:sp>
      <p:sp>
        <p:nvSpPr>
          <p:cNvPr id="66" name="CLine4">
            <a:extLst>
              <a:ext uri="{FF2B5EF4-FFF2-40B4-BE49-F238E27FC236}">
                <a16:creationId xmlns:a16="http://schemas.microsoft.com/office/drawing/2014/main" id="{211C825E-5F13-670C-67F1-C95E5A2BEB39}"/>
              </a:ext>
            </a:extLst>
          </p:cNvPr>
          <p:cNvSpPr/>
          <p:nvPr/>
        </p:nvSpPr>
        <p:spPr>
          <a:xfrm>
            <a:off x="11239535" y="8001534"/>
            <a:ext cx="12700" cy="1010152"/>
          </a:xfrm>
          <a:prstGeom prst="rect">
            <a:avLst/>
          </a:prstGeom>
          <a:solidFill>
            <a:srgbClr val="0077B6">
              <a:alpha val="4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CDot4">
            <a:extLst>
              <a:ext uri="{FF2B5EF4-FFF2-40B4-BE49-F238E27FC236}">
                <a16:creationId xmlns:a16="http://schemas.microsoft.com/office/drawing/2014/main" id="{B5572416-986A-EF6E-DE69-A3CFB86E4019}"/>
              </a:ext>
            </a:extLst>
          </p:cNvPr>
          <p:cNvSpPr/>
          <p:nvPr/>
        </p:nvSpPr>
        <p:spPr>
          <a:xfrm>
            <a:off x="11193307" y="7911500"/>
            <a:ext cx="101600" cy="101600"/>
          </a:xfrm>
          <a:prstGeom prst="ellipse">
            <a:avLst/>
          </a:prstGeom>
          <a:solidFill>
            <a:srgbClr val="0077B6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CLabel4">
            <a:extLst>
              <a:ext uri="{FF2B5EF4-FFF2-40B4-BE49-F238E27FC236}">
                <a16:creationId xmlns:a16="http://schemas.microsoft.com/office/drawing/2014/main" id="{6DAD8F96-A30F-6C9A-6414-6757A203C479}"/>
              </a:ext>
            </a:extLst>
          </p:cNvPr>
          <p:cNvSpPr txBox="1"/>
          <p:nvPr/>
        </p:nvSpPr>
        <p:spPr>
          <a:xfrm>
            <a:off x="9486523" y="9016397"/>
            <a:ext cx="3515168" cy="1397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18000" rIns="18000" bIns="18000" anchor="t"/>
          <a:lstStyle/>
          <a:p>
            <a:pPr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77B6">
                    <a:alpha val="85000"/>
                  </a:srgbClr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2021-specific excess jump (coeff. of interest)</a:t>
            </a:r>
          </a:p>
        </p:txBody>
      </p:sp>
      <p:sp>
        <p:nvSpPr>
          <p:cNvPr id="69" name="CLine5">
            <a:extLst>
              <a:ext uri="{FF2B5EF4-FFF2-40B4-BE49-F238E27FC236}">
                <a16:creationId xmlns:a16="http://schemas.microsoft.com/office/drawing/2014/main" id="{D75721AC-D1F4-CBFB-5B6D-7B63C0239BC6}"/>
              </a:ext>
            </a:extLst>
          </p:cNvPr>
          <p:cNvSpPr/>
          <p:nvPr/>
        </p:nvSpPr>
        <p:spPr>
          <a:xfrm>
            <a:off x="13841257" y="8013100"/>
            <a:ext cx="12700" cy="1431744"/>
          </a:xfrm>
          <a:prstGeom prst="rect">
            <a:avLst/>
          </a:prstGeom>
          <a:solidFill>
            <a:srgbClr val="03045E">
              <a:alpha val="4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CDot5">
            <a:extLst>
              <a:ext uri="{FF2B5EF4-FFF2-40B4-BE49-F238E27FC236}">
                <a16:creationId xmlns:a16="http://schemas.microsoft.com/office/drawing/2014/main" id="{2CDB9EC4-7CA1-9F6D-CA18-B6BD7279CADE}"/>
              </a:ext>
            </a:extLst>
          </p:cNvPr>
          <p:cNvSpPr/>
          <p:nvPr/>
        </p:nvSpPr>
        <p:spPr>
          <a:xfrm>
            <a:off x="13797011" y="7911500"/>
            <a:ext cx="101600" cy="101600"/>
          </a:xfrm>
          <a:prstGeom prst="ellipse">
            <a:avLst/>
          </a:prstGeom>
          <a:solidFill>
            <a:srgbClr val="03045E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CLabel5">
            <a:extLst>
              <a:ext uri="{FF2B5EF4-FFF2-40B4-BE49-F238E27FC236}">
                <a16:creationId xmlns:a16="http://schemas.microsoft.com/office/drawing/2014/main" id="{F122B9AB-A629-92CE-5D2E-928DE2019ECD}"/>
              </a:ext>
            </a:extLst>
          </p:cNvPr>
          <p:cNvSpPr txBox="1"/>
          <p:nvPr/>
        </p:nvSpPr>
        <p:spPr>
          <a:xfrm>
            <a:off x="12583957" y="9381525"/>
            <a:ext cx="2540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18000" rIns="18000" bIns="18000" anchor="t"/>
          <a:lstStyle/>
          <a:p>
            <a:pPr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3045E">
                    <a:alpha val="8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running-variable slopes</a:t>
            </a:r>
          </a:p>
        </p:txBody>
      </p:sp>
      <p:sp>
        <p:nvSpPr>
          <p:cNvPr id="72" name="FooterNote2">
            <a:extLst>
              <a:ext uri="{FF2B5EF4-FFF2-40B4-BE49-F238E27FC236}">
                <a16:creationId xmlns:a16="http://schemas.microsoft.com/office/drawing/2014/main" id="{FDAA02C8-D8A9-1C18-027B-633E74CDBE67}"/>
              </a:ext>
            </a:extLst>
          </p:cNvPr>
          <p:cNvSpPr txBox="1"/>
          <p:nvPr/>
        </p:nvSpPr>
        <p:spPr>
          <a:xfrm>
            <a:off x="12938552" y="6997100"/>
            <a:ext cx="4231953" cy="4064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0" rIns="108000" bIns="0" anchor="ctr"/>
          <a:lstStyle/>
          <a:p>
            <a:pPr algn="l">
              <a:buNone/>
            </a:pPr>
            <a:r>
              <a:rPr lang="en-US" sz="1500" i="1" dirty="0">
                <a:solidFill>
                  <a:schemeClr val="accent6">
                    <a:lumMod val="10000"/>
                  </a:scheme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(triangular kernel, h=13, year×week clustered SE)</a:t>
            </a:r>
          </a:p>
        </p:txBody>
      </p:sp>
      <p:sp>
        <p:nvSpPr>
          <p:cNvPr id="73" name="CLine5">
            <a:extLst>
              <a:ext uri="{FF2B5EF4-FFF2-40B4-BE49-F238E27FC236}">
                <a16:creationId xmlns:a16="http://schemas.microsoft.com/office/drawing/2014/main" id="{31479629-51BB-24D2-5E6D-A45196228989}"/>
              </a:ext>
            </a:extLst>
          </p:cNvPr>
          <p:cNvSpPr/>
          <p:nvPr/>
        </p:nvSpPr>
        <p:spPr>
          <a:xfrm>
            <a:off x="15200157" y="8010605"/>
            <a:ext cx="12700" cy="1075690"/>
          </a:xfrm>
          <a:prstGeom prst="rect">
            <a:avLst/>
          </a:prstGeom>
          <a:solidFill>
            <a:srgbClr val="03045E">
              <a:alpha val="4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CDot5">
            <a:extLst>
              <a:ext uri="{FF2B5EF4-FFF2-40B4-BE49-F238E27FC236}">
                <a16:creationId xmlns:a16="http://schemas.microsoft.com/office/drawing/2014/main" id="{F91B12EB-E789-A464-9B77-5A425B6536E5}"/>
              </a:ext>
            </a:extLst>
          </p:cNvPr>
          <p:cNvSpPr/>
          <p:nvPr/>
        </p:nvSpPr>
        <p:spPr>
          <a:xfrm>
            <a:off x="15155911" y="7911500"/>
            <a:ext cx="101600" cy="101600"/>
          </a:xfrm>
          <a:prstGeom prst="ellipse">
            <a:avLst/>
          </a:prstGeom>
          <a:solidFill>
            <a:srgbClr val="03045E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CLabel5">
            <a:extLst>
              <a:ext uri="{FF2B5EF4-FFF2-40B4-BE49-F238E27FC236}">
                <a16:creationId xmlns:a16="http://schemas.microsoft.com/office/drawing/2014/main" id="{5A68A644-4859-9504-290B-41DB86A89550}"/>
              </a:ext>
            </a:extLst>
          </p:cNvPr>
          <p:cNvSpPr txBox="1"/>
          <p:nvPr/>
        </p:nvSpPr>
        <p:spPr>
          <a:xfrm>
            <a:off x="13942857" y="9029100"/>
            <a:ext cx="2540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18000" rIns="18000" bIns="18000" anchor="t"/>
          <a:lstStyle/>
          <a:p>
            <a:pPr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3045E">
                    <a:alpha val="8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error term</a:t>
            </a:r>
          </a:p>
        </p:txBody>
      </p:sp>
      <p:sp>
        <p:nvSpPr>
          <p:cNvPr id="50" name="CLine2">
            <a:extLst>
              <a:ext uri="{FF2B5EF4-FFF2-40B4-BE49-F238E27FC236}">
                <a16:creationId xmlns:a16="http://schemas.microsoft.com/office/drawing/2014/main" id="{18025E28-9D1E-F494-6322-263BAF8097AD}"/>
              </a:ext>
            </a:extLst>
          </p:cNvPr>
          <p:cNvSpPr/>
          <p:nvPr/>
        </p:nvSpPr>
        <p:spPr>
          <a:xfrm>
            <a:off x="4290470" y="7969176"/>
            <a:ext cx="12700" cy="808182"/>
          </a:xfrm>
          <a:prstGeom prst="rect">
            <a:avLst/>
          </a:prstGeom>
          <a:solidFill>
            <a:srgbClr val="03045E">
              <a:alpha val="45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CDot2">
            <a:extLst>
              <a:ext uri="{FF2B5EF4-FFF2-40B4-BE49-F238E27FC236}">
                <a16:creationId xmlns:a16="http://schemas.microsoft.com/office/drawing/2014/main" id="{AC62434E-1099-0703-1A7C-B2A1D9C0CA63}"/>
              </a:ext>
            </a:extLst>
          </p:cNvPr>
          <p:cNvSpPr/>
          <p:nvPr/>
        </p:nvSpPr>
        <p:spPr>
          <a:xfrm>
            <a:off x="4247444" y="7874028"/>
            <a:ext cx="101600" cy="101600"/>
          </a:xfrm>
          <a:prstGeom prst="ellipse">
            <a:avLst/>
          </a:prstGeom>
          <a:solidFill>
            <a:srgbClr val="03045E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CLabel2">
            <a:extLst>
              <a:ext uri="{FF2B5EF4-FFF2-40B4-BE49-F238E27FC236}">
                <a16:creationId xmlns:a16="http://schemas.microsoft.com/office/drawing/2014/main" id="{765B6C05-6BD6-7CDA-7908-1416C6D384C9}"/>
              </a:ext>
            </a:extLst>
          </p:cNvPr>
          <p:cNvSpPr txBox="1"/>
          <p:nvPr/>
        </p:nvSpPr>
        <p:spPr>
          <a:xfrm>
            <a:off x="3028244" y="8785311"/>
            <a:ext cx="2540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18000" tIns="18000" rIns="18000" bIns="18000" anchor="t"/>
          <a:lstStyle/>
          <a:p>
            <a:pPr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03045E">
                    <a:alpha val="8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constant</a:t>
            </a:r>
          </a:p>
        </p:txBody>
      </p:sp>
      <p:sp>
        <p:nvSpPr>
          <p:cNvPr id="7" name="Text 18">
            <a:extLst>
              <a:ext uri="{FF2B5EF4-FFF2-40B4-BE49-F238E27FC236}">
                <a16:creationId xmlns:a16="http://schemas.microsoft.com/office/drawing/2014/main" id="{992973D9-0B10-9DCD-1DED-11EDF0280127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17868B4-37A3-A4C0-8C29-AAF593BEF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graph of a number of seasons&#10;&#10;AI-generated content may be incorrect.">
            <a:extLst>
              <a:ext uri="{FF2B5EF4-FFF2-40B4-BE49-F238E27FC236}">
                <a16:creationId xmlns:a16="http://schemas.microsoft.com/office/drawing/2014/main" id="{7C548750-AC0F-AF84-4D0F-DF694C96E2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12" y="2109877"/>
            <a:ext cx="7048500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28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7FF0C-6257-E852-4DCF-1E3EBFD8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BA216C-A65E-8C8A-D33B-AF153D4C6E06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E2B8C7-EA93-24D1-3981-41CBB997EBAD}"/>
              </a:ext>
            </a:extLst>
          </p:cNvPr>
          <p:cNvSpPr/>
          <p:nvPr/>
        </p:nvSpPr>
        <p:spPr>
          <a:xfrm>
            <a:off x="953498" y="572103"/>
            <a:ext cx="1687449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4800" kern="0" spc="-33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Methodology – Diff-in-RDD specification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2AB6A6A-0009-3111-C39C-79A9A8F12D50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pic>
        <p:nvPicPr>
          <p:cNvPr id="32" name="Graphic 32" descr="Method icon">
            <a:extLst>
              <a:ext uri="{FF2B5EF4-FFF2-40B4-BE49-F238E27FC236}">
                <a16:creationId xmlns:a16="http://schemas.microsoft.com/office/drawing/2014/main" id="{41902D6C-84B5-7FC1-DF92-DF9143012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30674" y="566679"/>
            <a:ext cx="708686" cy="708686"/>
          </a:xfrm>
          <a:prstGeom prst="rect">
            <a:avLst/>
          </a:prstGeom>
        </p:spPr>
      </p:pic>
      <p:sp>
        <p:nvSpPr>
          <p:cNvPr id="53" name="EquationBox">
            <a:extLst>
              <a:ext uri="{FF2B5EF4-FFF2-40B4-BE49-F238E27FC236}">
                <a16:creationId xmlns:a16="http://schemas.microsoft.com/office/drawing/2014/main" id="{E370F03F-34B9-C0EF-4312-5DA4F439F4F8}"/>
              </a:ext>
            </a:extLst>
          </p:cNvPr>
          <p:cNvSpPr txBox="1"/>
          <p:nvPr/>
        </p:nvSpPr>
        <p:spPr>
          <a:xfrm>
            <a:off x="889000" y="2667000"/>
            <a:ext cx="16510000" cy="1397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77B6">
                <a:alpha val="40000"/>
              </a:srgbClr>
            </a:solidFill>
          </a:ln>
          <a:effectLst>
            <a:outerShdw blurRad="38100" dist="12700" dir="5400000" algn="t" rotWithShape="0">
              <a:srgbClr val="000000">
                <a:alpha val="10000"/>
              </a:srgbClr>
            </a:outerShdw>
          </a:effectLst>
        </p:spPr>
        <p:txBody>
          <a:bodyPr wrap="square" lIns="108000" tIns="72000" rIns="108000" bIns="72000" anchor="ctr" anchorCtr="0"/>
          <a:lstStyle/>
          <a:p>
            <a:pPr algn="ctr">
              <a:buNone/>
            </a:pPr>
            <a:r>
              <a:rPr lang="en-US" sz="3600" i="1" spc="3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Y</a:t>
            </a:r>
            <a:r>
              <a:rPr lang="en-US" sz="2800" i="1" spc="300" baseline="-250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i</a:t>
            </a:r>
            <a:r>
              <a:rPr lang="en-US" sz="3600" i="1" spc="3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  =  α  +  β</a:t>
            </a:r>
            <a:r>
              <a:rPr lang="en-US" sz="2800" i="1" spc="300" baseline="-250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0</a:t>
            </a:r>
            <a:r>
              <a:rPr lang="en-US" sz="3600" i="1" spc="3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B</a:t>
            </a:r>
            <a:r>
              <a:rPr lang="en-US" sz="2800" i="1" spc="300" baseline="-250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i</a:t>
            </a:r>
            <a:r>
              <a:rPr lang="en-US" sz="3600" i="1" spc="3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  +  β</a:t>
            </a:r>
            <a:r>
              <a:rPr lang="en-US" sz="2800" i="1" spc="300" baseline="-250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1</a:t>
            </a:r>
            <a:r>
              <a:rPr lang="en-US" sz="3600" i="1" spc="3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D</a:t>
            </a:r>
            <a:r>
              <a:rPr lang="en-US" sz="2800" i="1" spc="300" baseline="-250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i</a:t>
            </a:r>
            <a:r>
              <a:rPr lang="en-US" sz="3600" i="1" spc="3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  +  β</a:t>
            </a:r>
            <a:r>
              <a:rPr lang="en-US" sz="2800" i="1" spc="300" baseline="-250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2</a:t>
            </a:r>
            <a:r>
              <a:rPr lang="en-US" sz="3600" i="1" spc="3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 </a:t>
            </a:r>
            <a:r>
              <a:rPr lang="en-US" sz="3600" spc="3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𝟙</a:t>
            </a:r>
            <a:r>
              <a:rPr lang="en-US" sz="2800" spc="300" baseline="-250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2021,i</a:t>
            </a:r>
            <a:r>
              <a:rPr lang="en-US" sz="3600" spc="3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 </a:t>
            </a:r>
            <a:r>
              <a:rPr lang="en-US" sz="3600" i="1" spc="3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 +  </a:t>
            </a:r>
            <a:r>
              <a:rPr lang="en-US" sz="3600" b="1" i="1" spc="300" dirty="0">
                <a:solidFill>
                  <a:srgbClr val="0077B6"/>
                </a:solidFill>
                <a:latin typeface="Source Serif 4 14pt ExtraBold" panose="02040603050405020204" pitchFamily="18" charset="0"/>
                <a:ea typeface="Source Serif 4 14pt ExtraBold" panose="02040603050405020204" pitchFamily="18" charset="0"/>
                <a:cs typeface="JetBrains Mono Thin" panose="02000009000000000000" pitchFamily="49" charset="0"/>
              </a:rPr>
              <a:t>β</a:t>
            </a:r>
            <a:r>
              <a:rPr lang="en-US" sz="2800" b="1" i="1" spc="300" baseline="-25000" dirty="0">
                <a:solidFill>
                  <a:srgbClr val="0077B6"/>
                </a:solidFill>
                <a:latin typeface="Source Serif 4 14pt ExtraBold" panose="02040603050405020204" pitchFamily="18" charset="0"/>
                <a:ea typeface="Source Serif 4 14pt ExtraBold" panose="02040603050405020204" pitchFamily="18" charset="0"/>
                <a:cs typeface="JetBrains Mono Thin" panose="02000009000000000000" pitchFamily="49" charset="0"/>
              </a:rPr>
              <a:t>3</a:t>
            </a:r>
            <a:r>
              <a:rPr lang="en-US" sz="3600" b="1" i="1" spc="300" dirty="0">
                <a:solidFill>
                  <a:srgbClr val="0077B6"/>
                </a:solidFill>
                <a:latin typeface="Source Serif 4 14pt ExtraBold" panose="02040603050405020204" pitchFamily="18" charset="0"/>
                <a:ea typeface="Source Serif 4 14pt ExtraBold" panose="02040603050405020204" pitchFamily="18" charset="0"/>
                <a:cs typeface="JetBrains Mono Thin" panose="02000009000000000000" pitchFamily="49" charset="0"/>
              </a:rPr>
              <a:t>(D</a:t>
            </a:r>
            <a:r>
              <a:rPr lang="en-US" sz="2800" b="1" i="1" spc="300" baseline="-25000" dirty="0">
                <a:solidFill>
                  <a:srgbClr val="0077B6"/>
                </a:solidFill>
                <a:latin typeface="Source Serif 4 14pt ExtraBold" panose="02040603050405020204" pitchFamily="18" charset="0"/>
                <a:ea typeface="Source Serif 4 14pt ExtraBold" panose="02040603050405020204" pitchFamily="18" charset="0"/>
                <a:cs typeface="JetBrains Mono Thin" panose="02000009000000000000" pitchFamily="49" charset="0"/>
              </a:rPr>
              <a:t>i</a:t>
            </a:r>
            <a:r>
              <a:rPr lang="en-US" sz="3600" b="1" i="1" spc="300" dirty="0">
                <a:solidFill>
                  <a:srgbClr val="0077B6"/>
                </a:solidFill>
                <a:latin typeface="Source Serif 4 14pt ExtraBold" panose="02040603050405020204" pitchFamily="18" charset="0"/>
                <a:ea typeface="Source Serif 4 14pt ExtraBold" panose="02040603050405020204" pitchFamily="18" charset="0"/>
                <a:cs typeface="JetBrains Mono Thin" panose="02000009000000000000" pitchFamily="49" charset="0"/>
              </a:rPr>
              <a:t> × 𝟙</a:t>
            </a:r>
            <a:r>
              <a:rPr lang="en-US" sz="2800" b="1" i="1" spc="300" baseline="-25000" dirty="0">
                <a:solidFill>
                  <a:srgbClr val="0077B6"/>
                </a:solidFill>
                <a:latin typeface="Source Serif 4 14pt ExtraBold" panose="02040603050405020204" pitchFamily="18" charset="0"/>
                <a:ea typeface="Source Serif 4 14pt ExtraBold" panose="02040603050405020204" pitchFamily="18" charset="0"/>
                <a:cs typeface="JetBrains Mono Thin" panose="02000009000000000000" pitchFamily="49" charset="0"/>
              </a:rPr>
              <a:t>2021,i</a:t>
            </a:r>
            <a:r>
              <a:rPr lang="en-US" sz="3600" b="1" i="1" spc="300" dirty="0">
                <a:solidFill>
                  <a:srgbClr val="0077B6"/>
                </a:solidFill>
                <a:latin typeface="Source Serif 4 14pt ExtraBold" panose="02040603050405020204" pitchFamily="18" charset="0"/>
                <a:ea typeface="Source Serif 4 14pt ExtraBold" panose="02040603050405020204" pitchFamily="18" charset="0"/>
                <a:cs typeface="JetBrains Mono Thin" panose="02000009000000000000" pitchFamily="49" charset="0"/>
              </a:rPr>
              <a:t>)</a:t>
            </a:r>
            <a:r>
              <a:rPr lang="en-US" sz="3600" b="1" i="1" spc="300" dirty="0">
                <a:solidFill>
                  <a:srgbClr val="03045E"/>
                </a:solidFill>
                <a:latin typeface="Source Serif 4 14pt ExtraBold" panose="02040603050405020204" pitchFamily="18" charset="0"/>
                <a:ea typeface="Source Serif 4 14pt ExtraBold" panose="02040603050405020204" pitchFamily="18" charset="0"/>
                <a:cs typeface="JetBrains Mono Thin" panose="02000009000000000000" pitchFamily="49" charset="0"/>
              </a:rPr>
              <a:t>  </a:t>
            </a:r>
            <a:r>
              <a:rPr lang="en-US" sz="3600" i="1" spc="3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+  g(r</a:t>
            </a:r>
            <a:r>
              <a:rPr lang="en-US" sz="2800" i="1" spc="300" baseline="-250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i</a:t>
            </a:r>
            <a:r>
              <a:rPr lang="en-US" sz="3600" i="1" spc="3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)  +  ε</a:t>
            </a:r>
            <a:r>
              <a:rPr lang="en-US" sz="2800" i="1" spc="300" baseline="-25000" dirty="0">
                <a:solidFill>
                  <a:srgbClr val="03045E"/>
                </a:solidFill>
                <a:latin typeface="Source Serif 4 14pt" panose="02040603050405020204" pitchFamily="18" charset="0"/>
                <a:ea typeface="Source Serif 4 14pt" panose="02040603050405020204" pitchFamily="18" charset="0"/>
                <a:cs typeface="JetBrains Mono Thin" panose="02000009000000000000" pitchFamily="49" charset="0"/>
              </a:rPr>
              <a:t>i</a:t>
            </a:r>
          </a:p>
        </p:txBody>
      </p:sp>
      <p:sp>
        <p:nvSpPr>
          <p:cNvPr id="72" name="FooterNote2">
            <a:extLst>
              <a:ext uri="{FF2B5EF4-FFF2-40B4-BE49-F238E27FC236}">
                <a16:creationId xmlns:a16="http://schemas.microsoft.com/office/drawing/2014/main" id="{CCF9DD93-6EB9-FBE9-97E8-91E5D7A91CF9}"/>
              </a:ext>
            </a:extLst>
          </p:cNvPr>
          <p:cNvSpPr txBox="1"/>
          <p:nvPr/>
        </p:nvSpPr>
        <p:spPr>
          <a:xfrm>
            <a:off x="12402296" y="4140200"/>
            <a:ext cx="5234642" cy="279400"/>
          </a:xfrm>
          <a:prstGeom prst="rect">
            <a:avLst/>
          </a:prstGeom>
          <a:noFill/>
          <a:ln>
            <a:noFill/>
          </a:ln>
        </p:spPr>
        <p:txBody>
          <a:bodyPr wrap="square" lIns="108000" tIns="0" rIns="108000" bIns="0" anchor="t" anchorCtr="0"/>
          <a:lstStyle/>
          <a:p>
            <a:pPr algn="l">
              <a:buNone/>
            </a:pPr>
            <a:r>
              <a:rPr lang="en-US" i="1" dirty="0">
                <a:solidFill>
                  <a:schemeClr val="accent6">
                    <a:lumMod val="10000"/>
                  </a:scheme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(triangular kernel, h=13, year×week clustered SE)</a:t>
            </a:r>
          </a:p>
        </p:txBody>
      </p:sp>
      <p:sp>
        <p:nvSpPr>
          <p:cNvPr id="7" name="Text 18">
            <a:extLst>
              <a:ext uri="{FF2B5EF4-FFF2-40B4-BE49-F238E27FC236}">
                <a16:creationId xmlns:a16="http://schemas.microsoft.com/office/drawing/2014/main" id="{D0A5F99A-20D2-3FF8-AABF-7CFEB4474BF6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8631B46-A53F-ACA3-B11C-F156E9D18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lumnRule">
            <a:extLst>
              <a:ext uri="{FF2B5EF4-FFF2-40B4-BE49-F238E27FC236}">
                <a16:creationId xmlns:a16="http://schemas.microsoft.com/office/drawing/2014/main" id="{56BDF8B4-CB65-A048-BDD7-BEDAF944AA70}"/>
              </a:ext>
            </a:extLst>
          </p:cNvPr>
          <p:cNvSpPr/>
          <p:nvPr/>
        </p:nvSpPr>
        <p:spPr>
          <a:xfrm>
            <a:off x="7493000" y="4927600"/>
            <a:ext cx="15240" cy="3962400"/>
          </a:xfrm>
          <a:prstGeom prst="rect">
            <a:avLst/>
          </a:prstGeom>
          <a:solidFill>
            <a:srgbClr val="0096C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400"/>
          </a:p>
        </p:txBody>
      </p:sp>
      <p:sp>
        <p:nvSpPr>
          <p:cNvPr id="6" name="TermRow0">
            <a:extLst>
              <a:ext uri="{FF2B5EF4-FFF2-40B4-BE49-F238E27FC236}">
                <a16:creationId xmlns:a16="http://schemas.microsoft.com/office/drawing/2014/main" id="{0E823665-C0FB-7C41-9B59-5F0BE99BFF84}"/>
              </a:ext>
            </a:extLst>
          </p:cNvPr>
          <p:cNvSpPr txBox="1"/>
          <p:nvPr/>
        </p:nvSpPr>
        <p:spPr>
          <a:xfrm>
            <a:off x="4241800" y="4826000"/>
            <a:ext cx="3048000" cy="520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/>
            <a:r>
              <a:rPr lang="en-US" sz="2800" dirty="0">
                <a:solidFill>
                  <a:srgbClr val="0F2A47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</a:rPr>
              <a:t>Yᵢ</a:t>
            </a:r>
          </a:p>
        </p:txBody>
      </p:sp>
      <p:sp>
        <p:nvSpPr>
          <p:cNvPr id="9" name="DescRow0">
            <a:extLst>
              <a:ext uri="{FF2B5EF4-FFF2-40B4-BE49-F238E27FC236}">
                <a16:creationId xmlns:a16="http://schemas.microsoft.com/office/drawing/2014/main" id="{80614E0E-26EB-FE4B-B070-3F89DF06122F}"/>
              </a:ext>
            </a:extLst>
          </p:cNvPr>
          <p:cNvSpPr txBox="1"/>
          <p:nvPr/>
        </p:nvSpPr>
        <p:spPr>
          <a:xfrm>
            <a:off x="7797800" y="4826000"/>
            <a:ext cx="9144000" cy="520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dirty="0">
                <a:solidFill>
                  <a:srgbClr val="0F2A47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log(1 + post-AI downloads)</a:t>
            </a:r>
          </a:p>
        </p:txBody>
      </p:sp>
      <p:sp>
        <p:nvSpPr>
          <p:cNvPr id="10" name="TermRow1">
            <a:extLst>
              <a:ext uri="{FF2B5EF4-FFF2-40B4-BE49-F238E27FC236}">
                <a16:creationId xmlns:a16="http://schemas.microsoft.com/office/drawing/2014/main" id="{3D07D5A7-36E5-6344-9DE6-CE87A9020020}"/>
              </a:ext>
            </a:extLst>
          </p:cNvPr>
          <p:cNvSpPr txBox="1"/>
          <p:nvPr/>
        </p:nvSpPr>
        <p:spPr>
          <a:xfrm>
            <a:off x="4241800" y="5346700"/>
            <a:ext cx="3048000" cy="520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/>
            <a:r>
              <a:rPr lang="en-US" sz="2800" dirty="0">
                <a:solidFill>
                  <a:srgbClr val="0F2A47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</a:rPr>
              <a:t>α</a:t>
            </a:r>
          </a:p>
        </p:txBody>
      </p:sp>
      <p:sp>
        <p:nvSpPr>
          <p:cNvPr id="11" name="DescRow1">
            <a:extLst>
              <a:ext uri="{FF2B5EF4-FFF2-40B4-BE49-F238E27FC236}">
                <a16:creationId xmlns:a16="http://schemas.microsoft.com/office/drawing/2014/main" id="{5DAC61B8-812E-BD4B-94BF-E372D8AC2B16}"/>
              </a:ext>
            </a:extLst>
          </p:cNvPr>
          <p:cNvSpPr txBox="1"/>
          <p:nvPr/>
        </p:nvSpPr>
        <p:spPr>
          <a:xfrm>
            <a:off x="7797800" y="5346700"/>
            <a:ext cx="9144000" cy="5207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sz="2800">
                <a:solidFill>
                  <a:srgbClr val="0F2A47"/>
                </a:solidFill>
                <a:latin typeface="Calibri"/>
                <a:cs typeface="Calibri"/>
              </a:defRPr>
            </a:lvl1pPr>
          </a:lstStyle>
          <a:p>
            <a:r>
              <a:rPr lang="en-US" dirty="0">
                <a:latin typeface="Inter Tight" pitchFamily="2" charset="0"/>
                <a:ea typeface="Inter Tight" pitchFamily="2" charset="0"/>
                <a:cs typeface="Inter Tight" pitchFamily="2" charset="0"/>
              </a:rPr>
              <a:t>constant</a:t>
            </a:r>
          </a:p>
        </p:txBody>
      </p:sp>
      <p:sp>
        <p:nvSpPr>
          <p:cNvPr id="12" name="TermRow2">
            <a:extLst>
              <a:ext uri="{FF2B5EF4-FFF2-40B4-BE49-F238E27FC236}">
                <a16:creationId xmlns:a16="http://schemas.microsoft.com/office/drawing/2014/main" id="{795D4531-94F8-9B49-A87F-0D6305B4DDC5}"/>
              </a:ext>
            </a:extLst>
          </p:cNvPr>
          <p:cNvSpPr txBox="1"/>
          <p:nvPr/>
        </p:nvSpPr>
        <p:spPr>
          <a:xfrm>
            <a:off x="4241800" y="5867400"/>
            <a:ext cx="3048000" cy="520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/>
            <a:r>
              <a:rPr lang="el-GR" sz="2800">
                <a:solidFill>
                  <a:srgbClr val="0F2A47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</a:rPr>
              <a:t>β₀</a:t>
            </a:r>
            <a:r>
              <a:rPr lang="en-US" sz="2800">
                <a:solidFill>
                  <a:srgbClr val="0F2A47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</a:rPr>
              <a:t>Bᵢ</a:t>
            </a:r>
          </a:p>
        </p:txBody>
      </p:sp>
      <p:sp>
        <p:nvSpPr>
          <p:cNvPr id="13" name="DescRow2">
            <a:extLst>
              <a:ext uri="{FF2B5EF4-FFF2-40B4-BE49-F238E27FC236}">
                <a16:creationId xmlns:a16="http://schemas.microsoft.com/office/drawing/2014/main" id="{53BFC153-1A44-1D4A-B4C7-F7008C5B2A88}"/>
              </a:ext>
            </a:extLst>
          </p:cNvPr>
          <p:cNvSpPr txBox="1"/>
          <p:nvPr/>
        </p:nvSpPr>
        <p:spPr>
          <a:xfrm>
            <a:off x="7797800" y="5867400"/>
            <a:ext cx="9144000" cy="5207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sz="2800">
                <a:solidFill>
                  <a:srgbClr val="0F2A47"/>
                </a:solidFill>
                <a:latin typeface="Calibri"/>
                <a:cs typeface="Calibri"/>
              </a:defRPr>
            </a:lvl1pPr>
          </a:lstStyle>
          <a:p>
            <a:r>
              <a:rPr lang="en-US" dirty="0">
                <a:latin typeface="Inter Tight" pitchFamily="2" charset="0"/>
                <a:ea typeface="Inter Tight" pitchFamily="2" charset="0"/>
                <a:cs typeface="Inter Tight" pitchFamily="2" charset="0"/>
              </a:rPr>
              <a:t>pre-AI 52-wk downloads (baseline)</a:t>
            </a:r>
          </a:p>
        </p:txBody>
      </p:sp>
      <p:sp>
        <p:nvSpPr>
          <p:cNvPr id="14" name="TermRow3">
            <a:extLst>
              <a:ext uri="{FF2B5EF4-FFF2-40B4-BE49-F238E27FC236}">
                <a16:creationId xmlns:a16="http://schemas.microsoft.com/office/drawing/2014/main" id="{C6BAEDFD-A680-6F4E-9BD0-D2EA65148E2B}"/>
              </a:ext>
            </a:extLst>
          </p:cNvPr>
          <p:cNvSpPr txBox="1"/>
          <p:nvPr/>
        </p:nvSpPr>
        <p:spPr>
          <a:xfrm>
            <a:off x="4241800" y="6388100"/>
            <a:ext cx="3048000" cy="520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/>
            <a:r>
              <a:rPr lang="el-GR" sz="2800">
                <a:solidFill>
                  <a:srgbClr val="0F2A47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</a:rPr>
              <a:t>β₁</a:t>
            </a:r>
            <a:r>
              <a:rPr lang="en-US" sz="2800">
                <a:solidFill>
                  <a:srgbClr val="0F2A47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</a:rPr>
              <a:t>Dᵢ</a:t>
            </a:r>
          </a:p>
        </p:txBody>
      </p:sp>
      <p:sp>
        <p:nvSpPr>
          <p:cNvPr id="15" name="DescRow3">
            <a:extLst>
              <a:ext uri="{FF2B5EF4-FFF2-40B4-BE49-F238E27FC236}">
                <a16:creationId xmlns:a16="http://schemas.microsoft.com/office/drawing/2014/main" id="{F0F20019-4A94-4446-B939-0265852A64BB}"/>
              </a:ext>
            </a:extLst>
          </p:cNvPr>
          <p:cNvSpPr txBox="1"/>
          <p:nvPr/>
        </p:nvSpPr>
        <p:spPr>
          <a:xfrm>
            <a:off x="7797800" y="6388100"/>
            <a:ext cx="9144000" cy="520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>
                <a:solidFill>
                  <a:srgbClr val="0F2A47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post-cutoff indicator</a:t>
            </a:r>
          </a:p>
        </p:txBody>
      </p:sp>
      <p:sp>
        <p:nvSpPr>
          <p:cNvPr id="16" name="TermRow4">
            <a:extLst>
              <a:ext uri="{FF2B5EF4-FFF2-40B4-BE49-F238E27FC236}">
                <a16:creationId xmlns:a16="http://schemas.microsoft.com/office/drawing/2014/main" id="{74AB6B8D-AAE3-CE45-B644-24093654B07E}"/>
              </a:ext>
            </a:extLst>
          </p:cNvPr>
          <p:cNvSpPr txBox="1"/>
          <p:nvPr/>
        </p:nvSpPr>
        <p:spPr>
          <a:xfrm>
            <a:off x="4241800" y="6908800"/>
            <a:ext cx="3048000" cy="520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/>
            <a:r>
              <a:rPr lang="el-GR" sz="2800" dirty="0">
                <a:solidFill>
                  <a:srgbClr val="0F2A47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</a:rPr>
              <a:t>β₂ 𝟙</a:t>
            </a:r>
            <a:r>
              <a:rPr lang="hu-HU" sz="2800" baseline="-25000" dirty="0">
                <a:solidFill>
                  <a:srgbClr val="0F2A47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</a:rPr>
              <a:t>2021,i</a:t>
            </a:r>
            <a:endParaRPr lang="en-US" sz="2800" baseline="-25000" dirty="0">
              <a:solidFill>
                <a:srgbClr val="0F2A47"/>
              </a:solidFill>
              <a:latin typeface="Source Serif 4 14pt Medium" panose="02040603050405020204" pitchFamily="18" charset="0"/>
              <a:ea typeface="Source Serif 4 14pt Medium" panose="02040603050405020204" pitchFamily="18" charset="0"/>
            </a:endParaRPr>
          </a:p>
        </p:txBody>
      </p:sp>
      <p:sp>
        <p:nvSpPr>
          <p:cNvPr id="17" name="DescRow4">
            <a:extLst>
              <a:ext uri="{FF2B5EF4-FFF2-40B4-BE49-F238E27FC236}">
                <a16:creationId xmlns:a16="http://schemas.microsoft.com/office/drawing/2014/main" id="{7CA63858-C148-A24E-9253-95874B7B49A3}"/>
              </a:ext>
            </a:extLst>
          </p:cNvPr>
          <p:cNvSpPr txBox="1"/>
          <p:nvPr/>
        </p:nvSpPr>
        <p:spPr>
          <a:xfrm>
            <a:off x="7797800" y="6908800"/>
            <a:ext cx="9144000" cy="520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dirty="0">
                <a:solidFill>
                  <a:srgbClr val="0F2A47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2021 cohort (vs 2018–2020 placebo)</a:t>
            </a:r>
          </a:p>
        </p:txBody>
      </p:sp>
      <p:sp>
        <p:nvSpPr>
          <p:cNvPr id="18" name="TermRow5">
            <a:extLst>
              <a:ext uri="{FF2B5EF4-FFF2-40B4-BE49-F238E27FC236}">
                <a16:creationId xmlns:a16="http://schemas.microsoft.com/office/drawing/2014/main" id="{2B88EF29-3757-1648-A7CA-C2BB43E0EBDF}"/>
              </a:ext>
            </a:extLst>
          </p:cNvPr>
          <p:cNvSpPr txBox="1"/>
          <p:nvPr/>
        </p:nvSpPr>
        <p:spPr>
          <a:xfrm>
            <a:off x="4241800" y="7429500"/>
            <a:ext cx="3048000" cy="520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/>
            <a:r>
              <a:rPr lang="el-GR" sz="2800" b="1" dirty="0">
                <a:solidFill>
                  <a:srgbClr val="0096C7"/>
                </a:solidFill>
                <a:latin typeface="Source Serif 4 14pt ExtraBold" panose="02040603050405020204" pitchFamily="18" charset="0"/>
                <a:ea typeface="Source Serif 4 14pt ExtraBold" panose="02040603050405020204" pitchFamily="18" charset="0"/>
              </a:rPr>
              <a:t>β₃(</a:t>
            </a:r>
            <a:r>
              <a:rPr lang="en-US" sz="2800" b="1" dirty="0">
                <a:solidFill>
                  <a:srgbClr val="0096C7"/>
                </a:solidFill>
                <a:latin typeface="Source Serif 4 14pt ExtraBold" panose="02040603050405020204" pitchFamily="18" charset="0"/>
                <a:ea typeface="Source Serif 4 14pt ExtraBold" panose="02040603050405020204" pitchFamily="18" charset="0"/>
              </a:rPr>
              <a:t>Dᵢ × 𝟙₂₀₂₁</a:t>
            </a:r>
            <a:r>
              <a:rPr lang="en-US" sz="2800" b="1" baseline="-25000" dirty="0">
                <a:solidFill>
                  <a:srgbClr val="0096C7"/>
                </a:solidFill>
                <a:latin typeface="Source Serif 4 14pt ExtraBold" panose="02040603050405020204" pitchFamily="18" charset="0"/>
                <a:ea typeface="Source Serif 4 14pt ExtraBold" panose="02040603050405020204" pitchFamily="18" charset="0"/>
              </a:rPr>
              <a:t>,</a:t>
            </a:r>
            <a:r>
              <a:rPr lang="en-US" sz="2800" b="1" baseline="-25000" dirty="0" err="1">
                <a:solidFill>
                  <a:srgbClr val="0096C7"/>
                </a:solidFill>
                <a:latin typeface="Source Serif 4 14pt ExtraBold" panose="02040603050405020204" pitchFamily="18" charset="0"/>
                <a:ea typeface="Source Serif 4 14pt ExtraBold" panose="02040603050405020204" pitchFamily="18" charset="0"/>
              </a:rPr>
              <a:t>i</a:t>
            </a:r>
            <a:r>
              <a:rPr lang="en-US" sz="2800" b="1" dirty="0">
                <a:solidFill>
                  <a:srgbClr val="0096C7"/>
                </a:solidFill>
                <a:latin typeface="Source Serif 4 14pt ExtraBold" panose="02040603050405020204" pitchFamily="18" charset="0"/>
                <a:ea typeface="Source Serif 4 14pt ExtraBold" panose="02040603050405020204" pitchFamily="18" charset="0"/>
              </a:rPr>
              <a:t>)</a:t>
            </a:r>
          </a:p>
        </p:txBody>
      </p:sp>
      <p:sp>
        <p:nvSpPr>
          <p:cNvPr id="19" name="DescRow5">
            <a:extLst>
              <a:ext uri="{FF2B5EF4-FFF2-40B4-BE49-F238E27FC236}">
                <a16:creationId xmlns:a16="http://schemas.microsoft.com/office/drawing/2014/main" id="{65950E1D-8B8D-8D43-95B4-A0FC968E53AE}"/>
              </a:ext>
            </a:extLst>
          </p:cNvPr>
          <p:cNvSpPr txBox="1"/>
          <p:nvPr/>
        </p:nvSpPr>
        <p:spPr>
          <a:xfrm>
            <a:off x="7797800" y="7429500"/>
            <a:ext cx="9144000" cy="5207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sz="2800">
                <a:solidFill>
                  <a:srgbClr val="0F2A47"/>
                </a:solidFill>
                <a:latin typeface="Calibri"/>
                <a:cs typeface="Calibri"/>
              </a:defRPr>
            </a:lvl1pPr>
          </a:lstStyle>
          <a:p>
            <a:r>
              <a:rPr lang="en-US" b="1" dirty="0">
                <a:solidFill>
                  <a:srgbClr val="0096C7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2021-specific excess jump (</a:t>
            </a:r>
            <a:r>
              <a:rPr lang="en-US" b="1" dirty="0" err="1">
                <a:solidFill>
                  <a:srgbClr val="0096C7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coeff</a:t>
            </a:r>
            <a:r>
              <a:rPr lang="en-US" b="1" dirty="0">
                <a:solidFill>
                  <a:srgbClr val="0096C7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. of interest)</a:t>
            </a:r>
          </a:p>
        </p:txBody>
      </p:sp>
      <p:sp>
        <p:nvSpPr>
          <p:cNvPr id="20" name="TermRow6">
            <a:extLst>
              <a:ext uri="{FF2B5EF4-FFF2-40B4-BE49-F238E27FC236}">
                <a16:creationId xmlns:a16="http://schemas.microsoft.com/office/drawing/2014/main" id="{8B628574-8BE9-E644-8DB4-AC302912A99E}"/>
              </a:ext>
            </a:extLst>
          </p:cNvPr>
          <p:cNvSpPr txBox="1"/>
          <p:nvPr/>
        </p:nvSpPr>
        <p:spPr>
          <a:xfrm>
            <a:off x="4241800" y="7950200"/>
            <a:ext cx="3048000" cy="520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/>
            <a:r>
              <a:rPr lang="en-US" sz="2800" dirty="0">
                <a:solidFill>
                  <a:srgbClr val="0F2A47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</a:rPr>
              <a:t>g(rᵢ)</a:t>
            </a:r>
          </a:p>
        </p:txBody>
      </p:sp>
      <p:sp>
        <p:nvSpPr>
          <p:cNvPr id="21" name="DescRow6">
            <a:extLst>
              <a:ext uri="{FF2B5EF4-FFF2-40B4-BE49-F238E27FC236}">
                <a16:creationId xmlns:a16="http://schemas.microsoft.com/office/drawing/2014/main" id="{F9B81D68-B5A7-154A-8A73-C294D0B04D91}"/>
              </a:ext>
            </a:extLst>
          </p:cNvPr>
          <p:cNvSpPr txBox="1"/>
          <p:nvPr/>
        </p:nvSpPr>
        <p:spPr>
          <a:xfrm>
            <a:off x="7797800" y="7950200"/>
            <a:ext cx="9144000" cy="520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dirty="0">
                <a:solidFill>
                  <a:srgbClr val="0F2A47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running-variable slopes</a:t>
            </a:r>
          </a:p>
        </p:txBody>
      </p:sp>
      <p:sp>
        <p:nvSpPr>
          <p:cNvPr id="22" name="TermRow7">
            <a:extLst>
              <a:ext uri="{FF2B5EF4-FFF2-40B4-BE49-F238E27FC236}">
                <a16:creationId xmlns:a16="http://schemas.microsoft.com/office/drawing/2014/main" id="{6C8F915E-E04A-1F45-B4B7-185ED9ECF6D0}"/>
              </a:ext>
            </a:extLst>
          </p:cNvPr>
          <p:cNvSpPr txBox="1"/>
          <p:nvPr/>
        </p:nvSpPr>
        <p:spPr>
          <a:xfrm>
            <a:off x="4241800" y="8470900"/>
            <a:ext cx="3048000" cy="520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r"/>
            <a:r>
              <a:rPr lang="el-GR" sz="2800">
                <a:solidFill>
                  <a:srgbClr val="0F2A47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</a:rPr>
              <a:t>ε</a:t>
            </a:r>
            <a:r>
              <a:rPr lang="en-US" sz="2800">
                <a:solidFill>
                  <a:srgbClr val="0F2A47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</a:rPr>
              <a:t>ᵢ</a:t>
            </a:r>
          </a:p>
        </p:txBody>
      </p:sp>
      <p:sp>
        <p:nvSpPr>
          <p:cNvPr id="23" name="DescRow7">
            <a:extLst>
              <a:ext uri="{FF2B5EF4-FFF2-40B4-BE49-F238E27FC236}">
                <a16:creationId xmlns:a16="http://schemas.microsoft.com/office/drawing/2014/main" id="{5E33ECED-3B85-9248-8069-9309893F4ED1}"/>
              </a:ext>
            </a:extLst>
          </p:cNvPr>
          <p:cNvSpPr txBox="1"/>
          <p:nvPr/>
        </p:nvSpPr>
        <p:spPr>
          <a:xfrm>
            <a:off x="7797800" y="8470900"/>
            <a:ext cx="9144000" cy="520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2800" dirty="0">
                <a:solidFill>
                  <a:srgbClr val="0F2A47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error term</a:t>
            </a:r>
          </a:p>
        </p:txBody>
      </p:sp>
    </p:spTree>
    <p:extLst>
      <p:ext uri="{BB962C8B-B14F-4D97-AF65-F5344CB8AC3E}">
        <p14:creationId xmlns:p14="http://schemas.microsoft.com/office/powerpoint/2010/main" val="1564153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571500"/>
            <a:ext cx="10762718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36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Results – Activation dynamics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52500" y="1654104"/>
            <a:ext cx="11576685" cy="584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2400" b="1" kern="0" spc="135" dirty="0">
                <a:solidFill>
                  <a:srgbClr val="898989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DIFFUSION GAP OVER TIME </a:t>
            </a:r>
            <a:r>
              <a:rPr lang="en-US" sz="2400" b="1" i="1" kern="0" spc="135" dirty="0">
                <a:solidFill>
                  <a:srgbClr val="898989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(weekly-average downloads)</a:t>
            </a:r>
          </a:p>
          <a:p>
            <a:endParaRPr lang="en-US" sz="24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1817325" y="2212211"/>
            <a:ext cx="5518175" cy="2058738"/>
          </a:xfrm>
          <a:prstGeom prst="roundRect">
            <a:avLst>
              <a:gd name="adj" fmla="val 1346"/>
            </a:avLst>
          </a:prstGeom>
          <a:solidFill>
            <a:srgbClr val="F5F7FB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Text 8"/>
          <p:cNvSpPr/>
          <p:nvPr/>
        </p:nvSpPr>
        <p:spPr>
          <a:xfrm>
            <a:off x="11988775" y="2257588"/>
            <a:ext cx="5346724" cy="43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Before ChatGPT</a:t>
            </a:r>
            <a:endParaRPr lang="en-US" sz="28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039825" y="2855797"/>
            <a:ext cx="5244619" cy="1611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flat through Nov 2022 </a:t>
            </a: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Wingdings" pitchFamily="2" charset="2"/>
              </a:rPr>
              <a:t> </a:t>
            </a: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cutoff has no effect without a mass interface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1817325" y="5496502"/>
            <a:ext cx="5518175" cy="2032034"/>
          </a:xfrm>
          <a:prstGeom prst="roundRect">
            <a:avLst>
              <a:gd name="adj" fmla="val 1621"/>
            </a:avLst>
          </a:prstGeom>
          <a:solidFill>
            <a:srgbClr val="F5F7FB"/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 sz="2800"/>
          </a:p>
        </p:txBody>
      </p:sp>
      <p:sp>
        <p:nvSpPr>
          <p:cNvPr id="14" name="Text 11"/>
          <p:cNvSpPr/>
          <p:nvPr/>
        </p:nvSpPr>
        <p:spPr>
          <a:xfrm>
            <a:off x="11988774" y="5560309"/>
            <a:ext cx="5346723" cy="491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After ChatGPT</a:t>
            </a:r>
            <a:endParaRPr lang="en-US" sz="28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817325" y="6163491"/>
            <a:ext cx="5518174" cy="1526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widens monotonically to </a:t>
            </a:r>
            <a:r>
              <a:rPr lang="en-US" sz="24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5:1</a:t>
            </a:r>
          </a:p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Jan 2026, with no sign of closing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952500" y="7810500"/>
            <a:ext cx="5346650" cy="12192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952500" y="7810500"/>
            <a:ext cx="5346650" cy="3810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200150" y="7931271"/>
            <a:ext cx="499689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kern="0" spc="108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MONTHS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200150" y="8393862"/>
            <a:ext cx="499689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dirty="0">
                <a:solidFill>
                  <a:srgbClr val="C0392B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+136%*</a:t>
            </a:r>
            <a:endParaRPr lang="en-US" sz="4050" dirty="0"/>
          </a:p>
        </p:txBody>
      </p:sp>
      <p:sp>
        <p:nvSpPr>
          <p:cNvPr id="23" name="Shape 20"/>
          <p:cNvSpPr/>
          <p:nvPr/>
        </p:nvSpPr>
        <p:spPr>
          <a:xfrm>
            <a:off x="6470600" y="7810500"/>
            <a:ext cx="5346725" cy="12192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470600" y="7810500"/>
            <a:ext cx="5346725" cy="3810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718250" y="7931271"/>
            <a:ext cx="499696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kern="0" spc="108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MONTHS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6718250" y="8393862"/>
            <a:ext cx="499696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dirty="0">
                <a:solidFill>
                  <a:srgbClr val="C0392B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+287%*</a:t>
            </a:r>
            <a:endParaRPr lang="en-US" sz="4050" dirty="0"/>
          </a:p>
        </p:txBody>
      </p:sp>
      <p:sp>
        <p:nvSpPr>
          <p:cNvPr id="27" name="Shape 24"/>
          <p:cNvSpPr/>
          <p:nvPr/>
        </p:nvSpPr>
        <p:spPr>
          <a:xfrm>
            <a:off x="11988775" y="7810500"/>
            <a:ext cx="5346725" cy="1219200"/>
          </a:xfrm>
          <a:prstGeom prst="rect">
            <a:avLst/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1988775" y="7810500"/>
            <a:ext cx="5346725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2236425" y="7931271"/>
            <a:ext cx="499696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kern="0" spc="108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JAN 2026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12236425" y="8393862"/>
            <a:ext cx="499696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dirty="0">
                <a:solidFill>
                  <a:srgbClr val="C0392B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+430%*</a:t>
            </a:r>
            <a:endParaRPr lang="en-US" sz="4050" dirty="0"/>
          </a:p>
        </p:txBody>
      </p:sp>
      <p:sp>
        <p:nvSpPr>
          <p:cNvPr id="31" name="Text 28"/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33" name="Picture 32" descr="A graph of a graph showing the growth of a stock market&#10;&#10;AI-generated content may be incorrect.">
            <a:extLst>
              <a:ext uri="{FF2B5EF4-FFF2-40B4-BE49-F238E27FC236}">
                <a16:creationId xmlns:a16="http://schemas.microsoft.com/office/drawing/2014/main" id="{7EB3C8B7-53EB-3825-53A5-AD422C030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224471"/>
            <a:ext cx="10608129" cy="53040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1BADE68-3399-7374-4BA6-67D2EE0BE6A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052034" y="677052"/>
            <a:ext cx="718376" cy="7183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59379A-D6D6-B970-5D25-6A941852D8C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14037734" y="4346314"/>
            <a:ext cx="1066800" cy="106680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7F11B5FA-A546-F6AA-08A7-735E68AB4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3E5142-7F10-8F7F-D507-1918A00B558D}"/>
              </a:ext>
            </a:extLst>
          </p:cNvPr>
          <p:cNvSpPr txBox="1"/>
          <p:nvPr/>
        </p:nvSpPr>
        <p:spPr>
          <a:xfrm>
            <a:off x="7908034" y="9308213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C0392B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*mean aggregate volumes, descriptive, not cumulative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1358742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E9E05001-2A4E-20DB-29B6-DF8B7575D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1" y="571500"/>
            <a:ext cx="1333724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4800" kern="0" spc="-36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Results – Mechanism, GitHub imports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52500" y="1905001"/>
            <a:ext cx="8077200" cy="3652838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52500" y="1905000"/>
            <a:ext cx="8077200" cy="47625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295400" y="2168927"/>
            <a:ext cx="7613142" cy="607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3200" b="1" kern="0" spc="150" dirty="0">
                <a:solidFill>
                  <a:srgbClr val="898989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PYPI DOWNLOADS: FLOW</a:t>
            </a:r>
            <a:endParaRPr lang="en-US" sz="32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95400" y="2465267"/>
            <a:ext cx="7613142" cy="1790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3700" kern="0" spc="-270" dirty="0">
                <a:solidFill>
                  <a:srgbClr val="C0392B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−7%</a:t>
            </a:r>
            <a:endParaRPr lang="en-US" sz="13700" dirty="0"/>
          </a:p>
        </p:txBody>
      </p:sp>
      <p:sp>
        <p:nvSpPr>
          <p:cNvPr id="10" name="Text 7"/>
          <p:cNvSpPr/>
          <p:nvPr/>
        </p:nvSpPr>
        <p:spPr>
          <a:xfrm>
            <a:off x="1295400" y="4243736"/>
            <a:ext cx="761314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135000"/>
              </a:lnSpc>
            </a:pPr>
            <a:r>
              <a:rPr lang="en-US" sz="26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Post-cutoff libraries receive fewer downloads overall</a:t>
            </a:r>
          </a:p>
          <a:p>
            <a:pPr algn="ctr">
              <a:lnSpc>
                <a:spcPct val="135000"/>
              </a:lnSpc>
            </a:pPr>
            <a:r>
              <a:rPr lang="en-US" sz="26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general adoption is suppressed</a:t>
            </a:r>
            <a:endParaRPr lang="en-US" sz="2600" b="1" dirty="0">
              <a:latin typeface="Inter Tight Black" pitchFamily="2" charset="0"/>
              <a:ea typeface="Inter Tight Black" pitchFamily="2" charset="0"/>
              <a:cs typeface="Inter Tight Black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258300" y="1905001"/>
            <a:ext cx="8077200" cy="3652838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258300" y="1905000"/>
            <a:ext cx="8077200" cy="47625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601200" y="2169122"/>
            <a:ext cx="7613142" cy="607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3200" b="1" kern="0" spc="150" dirty="0">
                <a:solidFill>
                  <a:srgbClr val="898989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GITHUB IMPORTS: STOCK</a:t>
            </a:r>
            <a:endParaRPr lang="en-US" sz="32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601200" y="2396257"/>
            <a:ext cx="7613142" cy="192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3701" kern="0" spc="-270" dirty="0">
                <a:solidFill>
                  <a:srgbClr val="0077B6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+2.1%</a:t>
            </a:r>
            <a:endParaRPr lang="en-US" sz="13701" dirty="0"/>
          </a:p>
        </p:txBody>
      </p:sp>
      <p:sp>
        <p:nvSpPr>
          <p:cNvPr id="15" name="Text 12"/>
          <p:cNvSpPr/>
          <p:nvPr/>
        </p:nvSpPr>
        <p:spPr>
          <a:xfrm>
            <a:off x="9283699" y="4260950"/>
            <a:ext cx="8077200" cy="1043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lang="en-US" sz="26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Post-cutoff libraries maintain a slight edge in imports</a:t>
            </a:r>
          </a:p>
          <a:p>
            <a:pPr algn="ctr">
              <a:lnSpc>
                <a:spcPct val="135000"/>
              </a:lnSpc>
            </a:pPr>
            <a:r>
              <a:rPr lang="en-US" sz="26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later libraries &gt; LLMs suggestions </a:t>
            </a:r>
          </a:p>
        </p:txBody>
      </p:sp>
      <p:sp>
        <p:nvSpPr>
          <p:cNvPr id="22" name="Text 19"/>
          <p:cNvSpPr/>
          <p:nvPr/>
        </p:nvSpPr>
        <p:spPr>
          <a:xfrm>
            <a:off x="952500" y="9363075"/>
            <a:ext cx="168744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Diff-in-RDD · baseline-adjusted · </a:t>
            </a:r>
            <a:r>
              <a:rPr lang="en-US" b="1" dirty="0" err="1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PyPI</a:t>
            </a:r>
            <a:r>
              <a:rPr lang="en-US" b="1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 &lt; 0.001, N = 75,313 · GitHub: p = 0.022, N = 6,582</a:t>
            </a:r>
          </a:p>
        </p:txBody>
      </p:sp>
      <p:sp>
        <p:nvSpPr>
          <p:cNvPr id="23" name="Text 20"/>
          <p:cNvSpPr/>
          <p:nvPr/>
        </p:nvSpPr>
        <p:spPr>
          <a:xfrm>
            <a:off x="504827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29BF4B7-54BC-0BAC-4679-2B60F95D2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7452" y="616850"/>
            <a:ext cx="728453" cy="72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17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BB960-C9CC-1F46-78D6-2D2D66A38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977888C0-1DB2-4D45-618B-FEC190202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B1F77FB-4501-5B6A-71C1-02703269958B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4400E4-E9B9-8890-5D72-386241BEAE34}"/>
              </a:ext>
            </a:extLst>
          </p:cNvPr>
          <p:cNvSpPr/>
          <p:nvPr/>
        </p:nvSpPr>
        <p:spPr>
          <a:xfrm>
            <a:off x="952501" y="571500"/>
            <a:ext cx="1297865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4800" kern="0" spc="-36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Results – Mechanism, GitHub imports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4BF2795-4F84-D965-1AE6-D90C4EC1B04D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D03A4C5-9B28-EF4F-694E-0D6105247678}"/>
              </a:ext>
            </a:extLst>
          </p:cNvPr>
          <p:cNvSpPr/>
          <p:nvPr/>
        </p:nvSpPr>
        <p:spPr>
          <a:xfrm>
            <a:off x="952500" y="5769634"/>
            <a:ext cx="8077200" cy="3445022"/>
          </a:xfrm>
          <a:prstGeom prst="roundRect">
            <a:avLst>
              <a:gd name="adj" fmla="val 714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A494A7D-7C86-5D1F-A4E9-60A61FB02B21}"/>
              </a:ext>
            </a:extLst>
          </p:cNvPr>
          <p:cNvSpPr/>
          <p:nvPr/>
        </p:nvSpPr>
        <p:spPr>
          <a:xfrm>
            <a:off x="1333501" y="6103928"/>
            <a:ext cx="763276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3200" b="1" kern="0" spc="150" dirty="0">
                <a:solidFill>
                  <a:srgbClr val="898989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DIRECTIONAL EVIDENCE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847E800-8D60-7C10-CCA3-7BC872B39EF3}"/>
              </a:ext>
            </a:extLst>
          </p:cNvPr>
          <p:cNvSpPr/>
          <p:nvPr/>
        </p:nvSpPr>
        <p:spPr>
          <a:xfrm>
            <a:off x="1285589" y="6892211"/>
            <a:ext cx="7632764" cy="2552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imports on the matched subsample</a:t>
            </a:r>
          </a:p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signs stable across baseline-adjusted specs</a:t>
            </a: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BUT GitHub is underpowered relative to </a:t>
            </a:r>
            <a:r>
              <a:rPr lang="en-US" sz="2800" b="1" dirty="0" err="1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PyPI</a:t>
            </a:r>
            <a:endParaRPr lang="en-US" sz="2800" b="1" dirty="0">
              <a:solidFill>
                <a:srgbClr val="03045E"/>
              </a:solidFill>
              <a:latin typeface="Inter Tight Black" pitchFamily="2" charset="0"/>
              <a:ea typeface="Inter Tight Black" pitchFamily="2" charset="0"/>
              <a:cs typeface="Inter Tight Black" pitchFamily="2" charset="0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B0D1D0A-26F2-07A3-D2FC-1FF6831D7F12}"/>
              </a:ext>
            </a:extLst>
          </p:cNvPr>
          <p:cNvSpPr/>
          <p:nvPr/>
        </p:nvSpPr>
        <p:spPr>
          <a:xfrm>
            <a:off x="9258300" y="5769634"/>
            <a:ext cx="8077200" cy="3445022"/>
          </a:xfrm>
          <a:prstGeom prst="roundRect">
            <a:avLst>
              <a:gd name="adj" fmla="val 714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114C114-6361-84E0-A60A-E4FBC885A370}"/>
              </a:ext>
            </a:extLst>
          </p:cNvPr>
          <p:cNvSpPr/>
          <p:nvPr/>
        </p:nvSpPr>
        <p:spPr>
          <a:xfrm>
            <a:off x="9601200" y="6103928"/>
            <a:ext cx="763276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3200" b="1" kern="0" spc="150" dirty="0">
                <a:solidFill>
                  <a:srgbClr val="898989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INTERPRETATION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8F24224-575F-10BF-C662-BC9B94040D38}"/>
              </a:ext>
            </a:extLst>
          </p:cNvPr>
          <p:cNvSpPr/>
          <p:nvPr/>
        </p:nvSpPr>
        <p:spPr>
          <a:xfrm>
            <a:off x="952500" y="9363075"/>
            <a:ext cx="168744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Diff-in-RDD · baseline-adjusted · </a:t>
            </a:r>
            <a:r>
              <a:rPr lang="en-US" b="1" dirty="0" err="1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PyPI</a:t>
            </a:r>
            <a:r>
              <a:rPr lang="en-US" b="1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 &lt; 0.001, N = 75,313 · GitHub: p = 0.022, N = 6,582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75C786A-FE7C-ED32-B3CB-64F81E4E8965}"/>
              </a:ext>
            </a:extLst>
          </p:cNvPr>
          <p:cNvSpPr/>
          <p:nvPr/>
        </p:nvSpPr>
        <p:spPr>
          <a:xfrm>
            <a:off x="504827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FD278D1-28A4-A2EF-40AF-FCB093DFD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7452" y="616850"/>
            <a:ext cx="728453" cy="728453"/>
          </a:xfrm>
          <a:prstGeom prst="rect">
            <a:avLst/>
          </a:prstGeom>
        </p:spPr>
      </p:pic>
      <p:sp>
        <p:nvSpPr>
          <p:cNvPr id="27" name="Shape 4">
            <a:extLst>
              <a:ext uri="{FF2B5EF4-FFF2-40B4-BE49-F238E27FC236}">
                <a16:creationId xmlns:a16="http://schemas.microsoft.com/office/drawing/2014/main" id="{0AF86A6B-201B-7586-1C6A-B77CCCB46C31}"/>
              </a:ext>
            </a:extLst>
          </p:cNvPr>
          <p:cNvSpPr/>
          <p:nvPr/>
        </p:nvSpPr>
        <p:spPr>
          <a:xfrm>
            <a:off x="9258300" y="5793444"/>
            <a:ext cx="8077200" cy="47625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8D9942-D2D0-6A5D-0B50-DB31C6C5343E}"/>
              </a:ext>
            </a:extLst>
          </p:cNvPr>
          <p:cNvSpPr txBox="1"/>
          <p:nvPr/>
        </p:nvSpPr>
        <p:spPr>
          <a:xfrm>
            <a:off x="9244616" y="6892211"/>
            <a:ext cx="8077200" cy="1955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Opposite signs suggest </a:t>
            </a: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LLMs affect</a:t>
            </a: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tool discovery </a:t>
            </a:r>
            <a:r>
              <a:rPr lang="en-US" sz="28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(</a:t>
            </a:r>
            <a:r>
              <a:rPr lang="en-US" sz="2800" dirty="0" err="1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PyPI</a:t>
            </a:r>
            <a:r>
              <a:rPr lang="en-US" sz="28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 – flow)</a:t>
            </a:r>
          </a:p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more than ongoing usage 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(GitHub – stock)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FDD5AB09-5A45-50EA-81E6-7EF14ECDBA0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1000"/>
          </a:blip>
          <a:srcRect l="3679" t="-625" r="-1365" b="625"/>
          <a:stretch>
            <a:fillRect/>
          </a:stretch>
        </p:blipFill>
        <p:spPr>
          <a:xfrm>
            <a:off x="877856" y="1939154"/>
            <a:ext cx="16733520" cy="3744375"/>
          </a:xfrm>
          <a:prstGeom prst="rect">
            <a:avLst/>
          </a:prstGeom>
        </p:spPr>
      </p:pic>
      <p:sp>
        <p:nvSpPr>
          <p:cNvPr id="67" name="Shape 4">
            <a:extLst>
              <a:ext uri="{FF2B5EF4-FFF2-40B4-BE49-F238E27FC236}">
                <a16:creationId xmlns:a16="http://schemas.microsoft.com/office/drawing/2014/main" id="{33F80FC2-F669-F468-F2FA-C47EBC431020}"/>
              </a:ext>
            </a:extLst>
          </p:cNvPr>
          <p:cNvSpPr/>
          <p:nvPr/>
        </p:nvSpPr>
        <p:spPr>
          <a:xfrm>
            <a:off x="952500" y="5792405"/>
            <a:ext cx="8077200" cy="47625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1FF02BF-599C-6560-6D4F-B87F0310E141}"/>
              </a:ext>
            </a:extLst>
          </p:cNvPr>
          <p:cNvGrpSpPr/>
          <p:nvPr/>
        </p:nvGrpSpPr>
        <p:grpSpPr>
          <a:xfrm>
            <a:off x="4672693" y="1974977"/>
            <a:ext cx="8942614" cy="3619094"/>
            <a:chOff x="4494958" y="1974977"/>
            <a:chExt cx="8942614" cy="3619094"/>
          </a:xfrm>
        </p:grpSpPr>
        <p:sp>
          <p:nvSpPr>
            <p:cNvPr id="6" name="Shape 12">
              <a:extLst>
                <a:ext uri="{FF2B5EF4-FFF2-40B4-BE49-F238E27FC236}">
                  <a16:creationId xmlns:a16="http://schemas.microsoft.com/office/drawing/2014/main" id="{106842B6-358C-89AF-8EE7-D2A826567D30}"/>
                </a:ext>
              </a:extLst>
            </p:cNvPr>
            <p:cNvSpPr/>
            <p:nvPr/>
          </p:nvSpPr>
          <p:spPr>
            <a:xfrm>
              <a:off x="4494958" y="1974977"/>
              <a:ext cx="8942614" cy="3619094"/>
            </a:xfrm>
            <a:prstGeom prst="roundRect">
              <a:avLst>
                <a:gd name="adj" fmla="val 147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02060"/>
              </a:solidFill>
            </a:ln>
            <a:effectLst/>
          </p:spPr>
          <p:txBody>
            <a:bodyPr/>
            <a:lstStyle/>
            <a:p>
              <a:pPr algn="ctr"/>
              <a:endParaRPr lang="en-US" sz="2800" dirty="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7" name="Text 13">
              <a:extLst>
                <a:ext uri="{FF2B5EF4-FFF2-40B4-BE49-F238E27FC236}">
                  <a16:creationId xmlns:a16="http://schemas.microsoft.com/office/drawing/2014/main" id="{C638B8BA-707F-BE17-FCD3-436B75CE729F}"/>
                </a:ext>
              </a:extLst>
            </p:cNvPr>
            <p:cNvSpPr/>
            <p:nvPr/>
          </p:nvSpPr>
          <p:spPr>
            <a:xfrm>
              <a:off x="4494958" y="2134569"/>
              <a:ext cx="8942614" cy="60051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4800" b="1" dirty="0">
                  <a:solidFill>
                    <a:srgbClr val="03045E"/>
                  </a:solidFill>
                  <a:latin typeface="Inter Tight ExtraBold" pitchFamily="2" charset="0"/>
                  <a:ea typeface="Inter Tight ExtraBold" pitchFamily="2" charset="0"/>
                  <a:cs typeface="Inter Tight ExtraBold" pitchFamily="2" charset="0"/>
                </a:rPr>
                <a:t>  Robustness</a:t>
              </a:r>
              <a:endParaRPr lang="en-US" sz="4800" b="1" dirty="0">
                <a:latin typeface="Inter Tight ExtraBold" pitchFamily="2" charset="0"/>
                <a:ea typeface="Inter Tight ExtraBold" pitchFamily="2" charset="0"/>
                <a:cs typeface="Inter Tight ExtraBold" pitchFamily="2" charset="0"/>
              </a:endParaRPr>
            </a:p>
          </p:txBody>
        </p:sp>
        <p:sp>
          <p:nvSpPr>
            <p:cNvPr id="8" name="Text 14">
              <a:extLst>
                <a:ext uri="{FF2B5EF4-FFF2-40B4-BE49-F238E27FC236}">
                  <a16:creationId xmlns:a16="http://schemas.microsoft.com/office/drawing/2014/main" id="{4B2277C7-7AA0-1C5A-82E5-069D2FC637DD}"/>
                </a:ext>
              </a:extLst>
            </p:cNvPr>
            <p:cNvSpPr/>
            <p:nvPr/>
          </p:nvSpPr>
          <p:spPr>
            <a:xfrm>
              <a:off x="4494958" y="2969960"/>
              <a:ext cx="8942614" cy="10755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lnSpc>
                  <a:spcPct val="140000"/>
                </a:lnSpc>
                <a:buNone/>
              </a:pPr>
              <a:r>
                <a:rPr lang="en-US" sz="28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  Sign + significance stable across bandwidths</a:t>
              </a:r>
            </a:p>
            <a:p>
              <a:pPr marL="0" indent="0" algn="ctr">
                <a:lnSpc>
                  <a:spcPct val="140000"/>
                </a:lnSpc>
                <a:buNone/>
              </a:pPr>
              <a:r>
                <a:rPr lang="en-US" sz="28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h ∈ {10, 13, 18, 26, 39, 52} weeks</a:t>
              </a:r>
            </a:p>
            <a:p>
              <a:pPr marL="0" indent="0" algn="ctr">
                <a:lnSpc>
                  <a:spcPct val="140000"/>
                </a:lnSpc>
                <a:buNone/>
              </a:pPr>
              <a:r>
                <a:rPr lang="en-US" sz="28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  <a:sym typeface="Wingdings" pitchFamily="2" charset="2"/>
                </a:rPr>
                <a:t>  </a:t>
              </a:r>
              <a:r>
                <a:rPr lang="en-US" sz="28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 permutation test confirms (p &lt; 0.05)</a:t>
              </a:r>
            </a:p>
            <a:p>
              <a:pPr marL="0" indent="0" algn="ctr">
                <a:lnSpc>
                  <a:spcPct val="140000"/>
                </a:lnSpc>
                <a:buNone/>
              </a:pPr>
              <a:r>
                <a:rPr lang="en-US" sz="2800" dirty="0">
                  <a:solidFill>
                    <a:srgbClr val="03045E"/>
                  </a:solidFill>
                  <a:latin typeface="Inter Tight" pitchFamily="2" charset="0"/>
                  <a:ea typeface="Inter Tight" pitchFamily="2" charset="0"/>
                  <a:cs typeface="Inter Tight" pitchFamily="2" charset="0"/>
                </a:rPr>
                <a:t>week of 27 Sept 2021 is special</a:t>
              </a:r>
              <a:endParaRPr lang="en-US" sz="2800" dirty="0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1146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3">
            <a:extLst>
              <a:ext uri="{FF2B5EF4-FFF2-40B4-BE49-F238E27FC236}">
                <a16:creationId xmlns:a16="http://schemas.microsoft.com/office/drawing/2014/main" id="{EB53B46F-F825-F324-BE05-537DF95E346A}"/>
              </a:ext>
            </a:extLst>
          </p:cNvPr>
          <p:cNvSpPr/>
          <p:nvPr/>
        </p:nvSpPr>
        <p:spPr>
          <a:xfrm>
            <a:off x="730982" y="3824818"/>
            <a:ext cx="16826035" cy="1502875"/>
          </a:xfrm>
          <a:prstGeom prst="roundRect">
            <a:avLst>
              <a:gd name="adj" fmla="val 223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99" y="571500"/>
            <a:ext cx="1109606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36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Implications: The Knowledge Wall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601897C-09CA-671E-6838-6FF2622D2725}"/>
              </a:ext>
            </a:extLst>
          </p:cNvPr>
          <p:cNvGrpSpPr/>
          <p:nvPr/>
        </p:nvGrpSpPr>
        <p:grpSpPr>
          <a:xfrm>
            <a:off x="730982" y="2121089"/>
            <a:ext cx="16826036" cy="1544891"/>
            <a:chOff x="892580" y="2121089"/>
            <a:chExt cx="16826036" cy="1544891"/>
          </a:xfrm>
        </p:grpSpPr>
        <p:sp>
          <p:nvSpPr>
            <p:cNvPr id="25" name="Shape 7">
              <a:extLst>
                <a:ext uri="{FF2B5EF4-FFF2-40B4-BE49-F238E27FC236}">
                  <a16:creationId xmlns:a16="http://schemas.microsoft.com/office/drawing/2014/main" id="{B2F1EFEB-6D62-7A79-30DC-EFE8B03D36CE}"/>
                </a:ext>
              </a:extLst>
            </p:cNvPr>
            <p:cNvSpPr/>
            <p:nvPr/>
          </p:nvSpPr>
          <p:spPr>
            <a:xfrm>
              <a:off x="892580" y="2121089"/>
              <a:ext cx="16826036" cy="1544891"/>
            </a:xfrm>
            <a:prstGeom prst="rect">
              <a:avLst/>
            </a:prstGeom>
            <a:solidFill>
              <a:srgbClr val="CAF0F8"/>
            </a:solidFill>
            <a:ln>
              <a:noFill/>
            </a:ln>
          </p:spPr>
          <p:txBody>
            <a:bodyPr/>
            <a:lstStyle/>
            <a:p>
              <a:endParaRPr lang="en-US" sz="280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10" name="Shape 7"/>
            <p:cNvSpPr/>
            <p:nvPr/>
          </p:nvSpPr>
          <p:spPr>
            <a:xfrm>
              <a:off x="892581" y="2295269"/>
              <a:ext cx="97476" cy="1196529"/>
            </a:xfrm>
            <a:prstGeom prst="rect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</p:grpSp>
      <p:sp>
        <p:nvSpPr>
          <p:cNvPr id="12" name="Text 9"/>
          <p:cNvSpPr/>
          <p:nvPr/>
        </p:nvSpPr>
        <p:spPr>
          <a:xfrm>
            <a:off x="915356" y="4200862"/>
            <a:ext cx="979464" cy="578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kern="0" spc="-72" dirty="0">
                <a:solidFill>
                  <a:srgbClr val="0077B6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01</a:t>
            </a:r>
            <a:endParaRPr lang="en-US" sz="44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886906" y="4086022"/>
            <a:ext cx="8001997" cy="566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Durable advantage</a:t>
            </a:r>
            <a:endParaRPr lang="en-US" sz="40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886906" y="4624167"/>
            <a:ext cx="12976576" cy="6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Tools present in LLM training data gain persistent visibility that compounds over time</a:t>
            </a:r>
            <a:endParaRPr lang="en-US" sz="24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D05AEAE-B97F-F3C3-C9C6-07C48F4D550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994716" y="571500"/>
            <a:ext cx="723900" cy="72390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4105EE6-86F7-EC59-45CA-B2C8423D3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0C0CF4-93FD-4702-2EA9-2E87DEACD2EF}"/>
              </a:ext>
            </a:extLst>
          </p:cNvPr>
          <p:cNvSpPr txBox="1"/>
          <p:nvPr/>
        </p:nvSpPr>
        <p:spPr>
          <a:xfrm>
            <a:off x="828459" y="2544075"/>
            <a:ext cx="16728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Training-data cutoff creates a latent barrier, activated by mass LLM adoption</a:t>
            </a:r>
          </a:p>
        </p:txBody>
      </p:sp>
    </p:spTree>
    <p:extLst>
      <p:ext uri="{BB962C8B-B14F-4D97-AF65-F5344CB8AC3E}">
        <p14:creationId xmlns:p14="http://schemas.microsoft.com/office/powerpoint/2010/main" val="2581894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6DED0-490C-3FAA-1C76-567916661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3">
            <a:extLst>
              <a:ext uri="{FF2B5EF4-FFF2-40B4-BE49-F238E27FC236}">
                <a16:creationId xmlns:a16="http://schemas.microsoft.com/office/drawing/2014/main" id="{1E6D3AD7-156D-B94E-240C-FFA949439C2B}"/>
              </a:ext>
            </a:extLst>
          </p:cNvPr>
          <p:cNvSpPr/>
          <p:nvPr/>
        </p:nvSpPr>
        <p:spPr>
          <a:xfrm>
            <a:off x="730982" y="3824818"/>
            <a:ext cx="16826035" cy="2954111"/>
          </a:xfrm>
          <a:prstGeom prst="roundRect">
            <a:avLst>
              <a:gd name="adj" fmla="val 223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A41ADF8-E3FB-530A-2026-12B8D759383A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21B24C-2F81-5609-A4DA-183FA54EA771}"/>
              </a:ext>
            </a:extLst>
          </p:cNvPr>
          <p:cNvSpPr/>
          <p:nvPr/>
        </p:nvSpPr>
        <p:spPr>
          <a:xfrm>
            <a:off x="952499" y="571500"/>
            <a:ext cx="1109606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36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Implications: The Knowledge Wall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B65D38A-E86D-BE88-35C4-5FBFF3ED2C6B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6358D9E-1807-EE39-9E79-840A1D296FE1}"/>
              </a:ext>
            </a:extLst>
          </p:cNvPr>
          <p:cNvGrpSpPr/>
          <p:nvPr/>
        </p:nvGrpSpPr>
        <p:grpSpPr>
          <a:xfrm>
            <a:off x="730982" y="2121089"/>
            <a:ext cx="16826036" cy="1544891"/>
            <a:chOff x="892580" y="2121089"/>
            <a:chExt cx="16826036" cy="1544891"/>
          </a:xfrm>
        </p:grpSpPr>
        <p:sp>
          <p:nvSpPr>
            <p:cNvPr id="25" name="Shape 7">
              <a:extLst>
                <a:ext uri="{FF2B5EF4-FFF2-40B4-BE49-F238E27FC236}">
                  <a16:creationId xmlns:a16="http://schemas.microsoft.com/office/drawing/2014/main" id="{E8D07E8B-2840-F506-FAA6-D9B8DA7A0C97}"/>
                </a:ext>
              </a:extLst>
            </p:cNvPr>
            <p:cNvSpPr/>
            <p:nvPr/>
          </p:nvSpPr>
          <p:spPr>
            <a:xfrm>
              <a:off x="892580" y="2121089"/>
              <a:ext cx="16826036" cy="1544891"/>
            </a:xfrm>
            <a:prstGeom prst="rect">
              <a:avLst/>
            </a:prstGeom>
            <a:solidFill>
              <a:srgbClr val="CAF0F8"/>
            </a:solidFill>
            <a:ln>
              <a:noFill/>
            </a:ln>
          </p:spPr>
          <p:txBody>
            <a:bodyPr/>
            <a:lstStyle/>
            <a:p>
              <a:endParaRPr lang="en-US" sz="280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05128C9B-4634-15A7-66A1-AFAAAE3E4107}"/>
                </a:ext>
              </a:extLst>
            </p:cNvPr>
            <p:cNvSpPr/>
            <p:nvPr/>
          </p:nvSpPr>
          <p:spPr>
            <a:xfrm>
              <a:off x="892581" y="2295269"/>
              <a:ext cx="97476" cy="1196529"/>
            </a:xfrm>
            <a:prstGeom prst="rect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</p:grpSp>
      <p:sp>
        <p:nvSpPr>
          <p:cNvPr id="12" name="Text 9">
            <a:extLst>
              <a:ext uri="{FF2B5EF4-FFF2-40B4-BE49-F238E27FC236}">
                <a16:creationId xmlns:a16="http://schemas.microsoft.com/office/drawing/2014/main" id="{5A8028D9-7406-457B-4325-8CB8D61D67B8}"/>
              </a:ext>
            </a:extLst>
          </p:cNvPr>
          <p:cNvSpPr/>
          <p:nvPr/>
        </p:nvSpPr>
        <p:spPr>
          <a:xfrm>
            <a:off x="915356" y="4200862"/>
            <a:ext cx="979464" cy="578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kern="0" spc="-72" dirty="0">
                <a:solidFill>
                  <a:srgbClr val="0077B6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01</a:t>
            </a:r>
            <a:endParaRPr lang="en-US" sz="44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7026B8F-E031-AE82-DFF3-BAD294450480}"/>
              </a:ext>
            </a:extLst>
          </p:cNvPr>
          <p:cNvSpPr/>
          <p:nvPr/>
        </p:nvSpPr>
        <p:spPr>
          <a:xfrm>
            <a:off x="1886906" y="4086022"/>
            <a:ext cx="8001997" cy="566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Durable advantage</a:t>
            </a:r>
            <a:endParaRPr lang="en-US" sz="40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F409027-E571-1D53-BC2D-A671BDA2676C}"/>
              </a:ext>
            </a:extLst>
          </p:cNvPr>
          <p:cNvSpPr/>
          <p:nvPr/>
        </p:nvSpPr>
        <p:spPr>
          <a:xfrm>
            <a:off x="1886906" y="4624167"/>
            <a:ext cx="12976576" cy="6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Tools present in LLM training data gain persistent visibility that compounds over time</a:t>
            </a:r>
            <a:endParaRPr lang="en-US" sz="24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A771D95-20D6-D3B7-2CA5-D92C3A64032C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70CE6F1-DD5F-7788-22A7-1D0B7E83BFF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994716" y="571500"/>
            <a:ext cx="723900" cy="72390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99520E8-6AC3-7EF2-28FA-5B7B2F902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2EC6CA-907F-98B8-B8FE-9DF17722E5D7}"/>
              </a:ext>
            </a:extLst>
          </p:cNvPr>
          <p:cNvSpPr txBox="1"/>
          <p:nvPr/>
        </p:nvSpPr>
        <p:spPr>
          <a:xfrm>
            <a:off x="828459" y="2544075"/>
            <a:ext cx="16728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Training-data cutoff creates a latent barrier, activated by mass LLM adoption</a:t>
            </a: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DFB13BB8-D8B4-B612-5A56-2AFAADE9BDC7}"/>
              </a:ext>
            </a:extLst>
          </p:cNvPr>
          <p:cNvSpPr/>
          <p:nvPr/>
        </p:nvSpPr>
        <p:spPr>
          <a:xfrm>
            <a:off x="952499" y="5476753"/>
            <a:ext cx="979464" cy="578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kern="0" spc="-72" dirty="0">
                <a:solidFill>
                  <a:srgbClr val="0077B6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02</a:t>
            </a:r>
            <a:endParaRPr lang="en-US" sz="44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1542CCE7-CD0D-C89A-7198-68E521245918}"/>
              </a:ext>
            </a:extLst>
          </p:cNvPr>
          <p:cNvSpPr/>
          <p:nvPr/>
        </p:nvSpPr>
        <p:spPr>
          <a:xfrm>
            <a:off x="1924049" y="5347371"/>
            <a:ext cx="8001993" cy="6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Possibilities</a:t>
            </a:r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88FDE76F-45EF-B9B1-5382-D230674E0A3B}"/>
              </a:ext>
            </a:extLst>
          </p:cNvPr>
          <p:cNvSpPr/>
          <p:nvPr/>
        </p:nvSpPr>
        <p:spPr>
          <a:xfrm>
            <a:off x="1924049" y="5918585"/>
            <a:ext cx="15632968" cy="6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Same logic could apply to research papers, blog posts, documentation; not just code – methodological transferability</a:t>
            </a:r>
          </a:p>
          <a:p>
            <a:pPr marL="0" indent="0" algn="l">
              <a:lnSpc>
                <a:spcPct val="140000"/>
              </a:lnSpc>
              <a:buNone/>
            </a:pPr>
            <a:endParaRPr lang="en-US" sz="2400" dirty="0">
              <a:solidFill>
                <a:srgbClr val="03045E"/>
              </a:solidFill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49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E64EE-FFF8-849A-7C2B-27F61852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3">
            <a:extLst>
              <a:ext uri="{FF2B5EF4-FFF2-40B4-BE49-F238E27FC236}">
                <a16:creationId xmlns:a16="http://schemas.microsoft.com/office/drawing/2014/main" id="{93BA0417-D9DC-D955-908E-E87CDD380B6B}"/>
              </a:ext>
            </a:extLst>
          </p:cNvPr>
          <p:cNvSpPr/>
          <p:nvPr/>
        </p:nvSpPr>
        <p:spPr>
          <a:xfrm>
            <a:off x="730982" y="3824818"/>
            <a:ext cx="16826035" cy="4086441"/>
          </a:xfrm>
          <a:prstGeom prst="roundRect">
            <a:avLst>
              <a:gd name="adj" fmla="val 223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39A32B4-FE4D-50C6-81CA-987191AF3D28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A7FA3B-F3B2-6812-B704-B9870855D3C3}"/>
              </a:ext>
            </a:extLst>
          </p:cNvPr>
          <p:cNvSpPr/>
          <p:nvPr/>
        </p:nvSpPr>
        <p:spPr>
          <a:xfrm>
            <a:off x="952499" y="571500"/>
            <a:ext cx="1109606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36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Implications: The Knowledge Wall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603A1CF-ECBF-E917-B121-E6A105E16373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A42C48-FE3E-3B18-1D0C-B8487027D7D5}"/>
              </a:ext>
            </a:extLst>
          </p:cNvPr>
          <p:cNvGrpSpPr/>
          <p:nvPr/>
        </p:nvGrpSpPr>
        <p:grpSpPr>
          <a:xfrm>
            <a:off x="730982" y="2121089"/>
            <a:ext cx="16826036" cy="1544891"/>
            <a:chOff x="892580" y="2121089"/>
            <a:chExt cx="16826036" cy="1544891"/>
          </a:xfrm>
        </p:grpSpPr>
        <p:sp>
          <p:nvSpPr>
            <p:cNvPr id="25" name="Shape 7">
              <a:extLst>
                <a:ext uri="{FF2B5EF4-FFF2-40B4-BE49-F238E27FC236}">
                  <a16:creationId xmlns:a16="http://schemas.microsoft.com/office/drawing/2014/main" id="{120C4142-8CC2-1741-BB7F-87C10B81FA0D}"/>
                </a:ext>
              </a:extLst>
            </p:cNvPr>
            <p:cNvSpPr/>
            <p:nvPr/>
          </p:nvSpPr>
          <p:spPr>
            <a:xfrm>
              <a:off x="892580" y="2121089"/>
              <a:ext cx="16826036" cy="1544891"/>
            </a:xfrm>
            <a:prstGeom prst="rect">
              <a:avLst/>
            </a:prstGeom>
            <a:solidFill>
              <a:srgbClr val="CAF0F8"/>
            </a:solidFill>
            <a:ln>
              <a:noFill/>
            </a:ln>
          </p:spPr>
          <p:txBody>
            <a:bodyPr/>
            <a:lstStyle/>
            <a:p>
              <a:endParaRPr lang="en-US" sz="280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D8BA5262-C770-519F-0212-31124B9F6186}"/>
                </a:ext>
              </a:extLst>
            </p:cNvPr>
            <p:cNvSpPr/>
            <p:nvPr/>
          </p:nvSpPr>
          <p:spPr>
            <a:xfrm>
              <a:off x="892581" y="2295269"/>
              <a:ext cx="97476" cy="1196529"/>
            </a:xfrm>
            <a:prstGeom prst="rect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</p:grpSp>
      <p:sp>
        <p:nvSpPr>
          <p:cNvPr id="12" name="Text 9">
            <a:extLst>
              <a:ext uri="{FF2B5EF4-FFF2-40B4-BE49-F238E27FC236}">
                <a16:creationId xmlns:a16="http://schemas.microsoft.com/office/drawing/2014/main" id="{F2D40131-1F5D-C1E8-9E9E-B0604460512C}"/>
              </a:ext>
            </a:extLst>
          </p:cNvPr>
          <p:cNvSpPr/>
          <p:nvPr/>
        </p:nvSpPr>
        <p:spPr>
          <a:xfrm>
            <a:off x="915356" y="4200862"/>
            <a:ext cx="979464" cy="578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kern="0" spc="-72" dirty="0">
                <a:solidFill>
                  <a:srgbClr val="0077B6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01</a:t>
            </a:r>
            <a:endParaRPr lang="en-US" sz="44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1EF948E-428B-E037-E6A8-B0A64D106A41}"/>
              </a:ext>
            </a:extLst>
          </p:cNvPr>
          <p:cNvSpPr/>
          <p:nvPr/>
        </p:nvSpPr>
        <p:spPr>
          <a:xfrm>
            <a:off x="1886906" y="4086022"/>
            <a:ext cx="8001997" cy="566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Durable advantage</a:t>
            </a:r>
            <a:endParaRPr lang="en-US" sz="40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0556084-2C1A-5A7C-1F01-93468D96CC51}"/>
              </a:ext>
            </a:extLst>
          </p:cNvPr>
          <p:cNvSpPr/>
          <p:nvPr/>
        </p:nvSpPr>
        <p:spPr>
          <a:xfrm>
            <a:off x="1886906" y="4624167"/>
            <a:ext cx="12976576" cy="6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Tools present in LLM training data gain persistent visibility that compounds over time</a:t>
            </a:r>
            <a:endParaRPr lang="en-US" sz="24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0EA0DE2-C37B-01FB-CC8F-A27DA4300D98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C8374CA-7790-71A2-2B46-75D20D5EF7C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994716" y="571500"/>
            <a:ext cx="723900" cy="72390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79A41AD-321A-0D08-B4C4-7545E65EC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59DAFB-8E06-5A07-7538-2753D9F453A0}"/>
              </a:ext>
            </a:extLst>
          </p:cNvPr>
          <p:cNvSpPr txBox="1"/>
          <p:nvPr/>
        </p:nvSpPr>
        <p:spPr>
          <a:xfrm>
            <a:off x="828459" y="2544075"/>
            <a:ext cx="16728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Training-data cutoff creates a latent barrier, activated by mass LLM adoption</a:t>
            </a: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8391D81F-2552-BE8F-08CF-AEC5AC071382}"/>
              </a:ext>
            </a:extLst>
          </p:cNvPr>
          <p:cNvSpPr/>
          <p:nvPr/>
        </p:nvSpPr>
        <p:spPr>
          <a:xfrm>
            <a:off x="952499" y="5476753"/>
            <a:ext cx="979464" cy="578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kern="0" spc="-72" dirty="0">
                <a:solidFill>
                  <a:srgbClr val="0077B6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02</a:t>
            </a:r>
            <a:endParaRPr lang="en-US" sz="44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22FA81DD-07A6-AACC-7D3C-8B2797457A63}"/>
              </a:ext>
            </a:extLst>
          </p:cNvPr>
          <p:cNvSpPr/>
          <p:nvPr/>
        </p:nvSpPr>
        <p:spPr>
          <a:xfrm>
            <a:off x="1924049" y="5347371"/>
            <a:ext cx="8001993" cy="6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Possibilities</a:t>
            </a:r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2DACCC5D-DB9A-E818-FE44-EAD742831190}"/>
              </a:ext>
            </a:extLst>
          </p:cNvPr>
          <p:cNvSpPr/>
          <p:nvPr/>
        </p:nvSpPr>
        <p:spPr>
          <a:xfrm>
            <a:off x="1924049" y="5918585"/>
            <a:ext cx="15632968" cy="6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Same logic could apply to research papers, blog posts, documentation; not just code – methodological transferability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A8505F6-4E77-8820-4698-C0B89E420614}"/>
              </a:ext>
            </a:extLst>
          </p:cNvPr>
          <p:cNvSpPr/>
          <p:nvPr/>
        </p:nvSpPr>
        <p:spPr>
          <a:xfrm>
            <a:off x="952497" y="6682168"/>
            <a:ext cx="979464" cy="578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kern="0" spc="-72" dirty="0">
                <a:solidFill>
                  <a:srgbClr val="0077B6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03</a:t>
            </a:r>
            <a:endParaRPr lang="en-US" sz="44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E078C8E-78FC-C323-CF7A-FB776D73158A}"/>
              </a:ext>
            </a:extLst>
          </p:cNvPr>
          <p:cNvSpPr/>
          <p:nvPr/>
        </p:nvSpPr>
        <p:spPr>
          <a:xfrm>
            <a:off x="1924047" y="6550722"/>
            <a:ext cx="8001995" cy="781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Policy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A785423-25FA-DA66-B55F-6A043F5CD74B}"/>
              </a:ext>
            </a:extLst>
          </p:cNvPr>
          <p:cNvSpPr/>
          <p:nvPr/>
        </p:nvSpPr>
        <p:spPr>
          <a:xfrm>
            <a:off x="1924046" y="7028106"/>
            <a:ext cx="12401553" cy="1949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indent="0">
              <a:lnSpc>
                <a:spcPct val="160000"/>
              </a:lnSpc>
              <a:buNone/>
            </a:pPr>
            <a:r>
              <a:rPr lang="en-US" sz="24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Raises questions about AI knowledge updates and the costs of being outside the wall</a:t>
            </a:r>
          </a:p>
        </p:txBody>
      </p:sp>
    </p:spTree>
    <p:extLst>
      <p:ext uri="{BB962C8B-B14F-4D97-AF65-F5344CB8AC3E}">
        <p14:creationId xmlns:p14="http://schemas.microsoft.com/office/powerpoint/2010/main" val="1775696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4B991-9B6D-D69B-518F-2E22A027D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FC3A0008-5687-4655-219E-968CA3D9E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Shape 23">
            <a:extLst>
              <a:ext uri="{FF2B5EF4-FFF2-40B4-BE49-F238E27FC236}">
                <a16:creationId xmlns:a16="http://schemas.microsoft.com/office/drawing/2014/main" id="{EFBF0D9F-188D-E4DD-2CC3-67731803959E}"/>
              </a:ext>
            </a:extLst>
          </p:cNvPr>
          <p:cNvSpPr/>
          <p:nvPr/>
        </p:nvSpPr>
        <p:spPr>
          <a:xfrm>
            <a:off x="730982" y="3824818"/>
            <a:ext cx="16826035" cy="5324691"/>
          </a:xfrm>
          <a:prstGeom prst="roundRect">
            <a:avLst>
              <a:gd name="adj" fmla="val 223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654D74A-BC7D-5CDB-55D4-321697E13688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E85368-71BD-3841-3FFF-9F3135493D53}"/>
              </a:ext>
            </a:extLst>
          </p:cNvPr>
          <p:cNvSpPr/>
          <p:nvPr/>
        </p:nvSpPr>
        <p:spPr>
          <a:xfrm>
            <a:off x="952499" y="571500"/>
            <a:ext cx="1109606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36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Implications: The Knowledge Wall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BEB868B-D18E-9252-48E0-3EDDE59E46AA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F72FFE-42B1-C6D0-ED65-DD65FB264DE6}"/>
              </a:ext>
            </a:extLst>
          </p:cNvPr>
          <p:cNvGrpSpPr/>
          <p:nvPr/>
        </p:nvGrpSpPr>
        <p:grpSpPr>
          <a:xfrm>
            <a:off x="730982" y="2121089"/>
            <a:ext cx="16826036" cy="1544891"/>
            <a:chOff x="892580" y="2121089"/>
            <a:chExt cx="16826036" cy="1544891"/>
          </a:xfrm>
        </p:grpSpPr>
        <p:sp>
          <p:nvSpPr>
            <p:cNvPr id="25" name="Shape 7">
              <a:extLst>
                <a:ext uri="{FF2B5EF4-FFF2-40B4-BE49-F238E27FC236}">
                  <a16:creationId xmlns:a16="http://schemas.microsoft.com/office/drawing/2014/main" id="{A7DC3BEF-DDBE-BE19-0178-17993FD66570}"/>
                </a:ext>
              </a:extLst>
            </p:cNvPr>
            <p:cNvSpPr/>
            <p:nvPr/>
          </p:nvSpPr>
          <p:spPr>
            <a:xfrm>
              <a:off x="892580" y="2121089"/>
              <a:ext cx="16826036" cy="1544891"/>
            </a:xfrm>
            <a:prstGeom prst="rect">
              <a:avLst/>
            </a:prstGeom>
            <a:solidFill>
              <a:srgbClr val="CAF0F8"/>
            </a:solidFill>
            <a:ln>
              <a:noFill/>
            </a:ln>
          </p:spPr>
          <p:txBody>
            <a:bodyPr/>
            <a:lstStyle/>
            <a:p>
              <a:endParaRPr lang="en-US" sz="280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CEC3741A-63CA-1F32-9560-954009F30BBF}"/>
                </a:ext>
              </a:extLst>
            </p:cNvPr>
            <p:cNvSpPr/>
            <p:nvPr/>
          </p:nvSpPr>
          <p:spPr>
            <a:xfrm>
              <a:off x="892581" y="2295269"/>
              <a:ext cx="97476" cy="1196529"/>
            </a:xfrm>
            <a:prstGeom prst="rect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>
                <a:latin typeface="Inter Tight" pitchFamily="2" charset="0"/>
                <a:ea typeface="Inter Tight" pitchFamily="2" charset="0"/>
                <a:cs typeface="Inter Tight" pitchFamily="2" charset="0"/>
              </a:endParaRPr>
            </a:p>
          </p:txBody>
        </p:sp>
      </p:grpSp>
      <p:sp>
        <p:nvSpPr>
          <p:cNvPr id="12" name="Text 9">
            <a:extLst>
              <a:ext uri="{FF2B5EF4-FFF2-40B4-BE49-F238E27FC236}">
                <a16:creationId xmlns:a16="http://schemas.microsoft.com/office/drawing/2014/main" id="{7D0D2AB0-1E9E-D67D-D533-88BA1122C3A5}"/>
              </a:ext>
            </a:extLst>
          </p:cNvPr>
          <p:cNvSpPr/>
          <p:nvPr/>
        </p:nvSpPr>
        <p:spPr>
          <a:xfrm>
            <a:off x="915356" y="4200862"/>
            <a:ext cx="979464" cy="578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kern="0" spc="-72" dirty="0">
                <a:solidFill>
                  <a:srgbClr val="0077B6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01</a:t>
            </a:r>
            <a:endParaRPr lang="en-US" sz="44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62D8D83-2742-4EFF-D327-6F5C47DEEA77}"/>
              </a:ext>
            </a:extLst>
          </p:cNvPr>
          <p:cNvSpPr/>
          <p:nvPr/>
        </p:nvSpPr>
        <p:spPr>
          <a:xfrm>
            <a:off x="1886906" y="4086022"/>
            <a:ext cx="8001997" cy="566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Durable advantage</a:t>
            </a:r>
            <a:endParaRPr lang="en-US" sz="40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86F3410-3713-F3C5-DD2D-BC0815C2E51C}"/>
              </a:ext>
            </a:extLst>
          </p:cNvPr>
          <p:cNvSpPr/>
          <p:nvPr/>
        </p:nvSpPr>
        <p:spPr>
          <a:xfrm>
            <a:off x="1886906" y="4624167"/>
            <a:ext cx="12976576" cy="6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Tools present in LLM training data gain persistent visibility that compounds over time</a:t>
            </a:r>
            <a:endParaRPr lang="en-US" sz="24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46DB017-0F01-104B-0A11-3401E975AA02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80DE524-AFE5-555C-BB09-430761ECF90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994716" y="571500"/>
            <a:ext cx="723900" cy="723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05DA6A-22EB-A671-76FD-4A9AFEFD1E87}"/>
              </a:ext>
            </a:extLst>
          </p:cNvPr>
          <p:cNvSpPr txBox="1"/>
          <p:nvPr/>
        </p:nvSpPr>
        <p:spPr>
          <a:xfrm>
            <a:off x="828459" y="2544075"/>
            <a:ext cx="16728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Training-data cutoff creates a latent barrier, activated by mass LLM adoption</a:t>
            </a: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FA98A11D-A7A4-B321-FA0A-D4280657C9DB}"/>
              </a:ext>
            </a:extLst>
          </p:cNvPr>
          <p:cNvSpPr/>
          <p:nvPr/>
        </p:nvSpPr>
        <p:spPr>
          <a:xfrm>
            <a:off x="952499" y="5476753"/>
            <a:ext cx="979464" cy="578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kern="0" spc="-72" dirty="0">
                <a:solidFill>
                  <a:srgbClr val="0077B6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02</a:t>
            </a:r>
            <a:endParaRPr lang="en-US" sz="44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C5C12B2F-C642-13C7-B52C-12E2EE9195B2}"/>
              </a:ext>
            </a:extLst>
          </p:cNvPr>
          <p:cNvSpPr/>
          <p:nvPr/>
        </p:nvSpPr>
        <p:spPr>
          <a:xfrm>
            <a:off x="1924049" y="5347371"/>
            <a:ext cx="8001993" cy="6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Possibilities</a:t>
            </a:r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E75D3A29-BB61-DCDD-1F9C-0EAC825F9248}"/>
              </a:ext>
            </a:extLst>
          </p:cNvPr>
          <p:cNvSpPr/>
          <p:nvPr/>
        </p:nvSpPr>
        <p:spPr>
          <a:xfrm>
            <a:off x="1924048" y="5918585"/>
            <a:ext cx="15411453" cy="667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Same logic could apply to research papers, blog posts, documentation; not just code – methodological transferability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C39FCBA-D084-9E44-4E2F-782CAFBC0F40}"/>
              </a:ext>
            </a:extLst>
          </p:cNvPr>
          <p:cNvSpPr/>
          <p:nvPr/>
        </p:nvSpPr>
        <p:spPr>
          <a:xfrm>
            <a:off x="952497" y="6682168"/>
            <a:ext cx="979464" cy="578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kern="0" spc="-72" dirty="0">
                <a:solidFill>
                  <a:srgbClr val="0077B6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03</a:t>
            </a:r>
            <a:endParaRPr lang="en-US" sz="44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51424D3-E230-01E5-3B34-9CB6A8BC02C3}"/>
              </a:ext>
            </a:extLst>
          </p:cNvPr>
          <p:cNvSpPr/>
          <p:nvPr/>
        </p:nvSpPr>
        <p:spPr>
          <a:xfrm>
            <a:off x="1924047" y="6550722"/>
            <a:ext cx="8001995" cy="781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Policy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6A15F7F-C488-CDC3-B13B-36FCC00C521F}"/>
              </a:ext>
            </a:extLst>
          </p:cNvPr>
          <p:cNvSpPr/>
          <p:nvPr/>
        </p:nvSpPr>
        <p:spPr>
          <a:xfrm>
            <a:off x="1924046" y="7028106"/>
            <a:ext cx="12401553" cy="781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indent="0">
              <a:lnSpc>
                <a:spcPct val="160000"/>
              </a:lnSpc>
              <a:buNone/>
            </a:pPr>
            <a:r>
              <a:rPr lang="en-US" sz="24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Raises questions about AI knowledge updates and the costs of being outside the wall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7A3F63-9FA5-04A2-60F1-682B918224B3}"/>
              </a:ext>
            </a:extLst>
          </p:cNvPr>
          <p:cNvSpPr txBox="1"/>
          <p:nvPr/>
        </p:nvSpPr>
        <p:spPr>
          <a:xfrm>
            <a:off x="1886905" y="8431034"/>
            <a:ext cx="137511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AI-relevant libraries are NOT differentially suppressed (p = 0.18) – the barrier is broad rather than topical</a:t>
            </a: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158BF5D8-B4B7-1104-3B94-A6721E814085}"/>
              </a:ext>
            </a:extLst>
          </p:cNvPr>
          <p:cNvSpPr/>
          <p:nvPr/>
        </p:nvSpPr>
        <p:spPr>
          <a:xfrm>
            <a:off x="952497" y="8002286"/>
            <a:ext cx="979464" cy="578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kern="0" spc="-72" dirty="0">
                <a:solidFill>
                  <a:srgbClr val="0077B6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04</a:t>
            </a:r>
            <a:endParaRPr lang="en-US" sz="4400" dirty="0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9C275512-0CE5-586A-1D38-2852AA07F3EF}"/>
              </a:ext>
            </a:extLst>
          </p:cNvPr>
          <p:cNvSpPr/>
          <p:nvPr/>
        </p:nvSpPr>
        <p:spPr>
          <a:xfrm>
            <a:off x="1924046" y="7785802"/>
            <a:ext cx="8001995" cy="553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Breadth</a:t>
            </a:r>
            <a:endParaRPr lang="en-US" sz="3700" b="1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373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91C8A255-DA11-8C09-2E1D-3183B28AD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52500" y="564409"/>
            <a:ext cx="16874490" cy="96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800" kern="0" spc="-33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Limitations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1381125"/>
            <a:ext cx="685800" cy="381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15" name="LimitationCard_0">
            <a:extLst>
              <a:ext uri="{FF2B5EF4-FFF2-40B4-BE49-F238E27FC236}">
                <a16:creationId xmlns:a16="http://schemas.microsoft.com/office/drawing/2014/main" id="{3E92C9D0-E5B9-EE4F-B197-4BA49C6859DF}"/>
              </a:ext>
            </a:extLst>
          </p:cNvPr>
          <p:cNvSpPr/>
          <p:nvPr/>
        </p:nvSpPr>
        <p:spPr>
          <a:xfrm>
            <a:off x="952500" y="1841500"/>
            <a:ext cx="8001000" cy="3619500"/>
          </a:xfrm>
          <a:prstGeom prst="rect">
            <a:avLst/>
          </a:prstGeom>
          <a:solidFill>
            <a:srgbClr val="F5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6" name="LimitationBar_0">
            <a:extLst>
              <a:ext uri="{FF2B5EF4-FFF2-40B4-BE49-F238E27FC236}">
                <a16:creationId xmlns:a16="http://schemas.microsoft.com/office/drawing/2014/main" id="{56BC3ED3-7D21-7642-8D42-0F37931E25F2}"/>
              </a:ext>
            </a:extLst>
          </p:cNvPr>
          <p:cNvSpPr/>
          <p:nvPr/>
        </p:nvSpPr>
        <p:spPr>
          <a:xfrm>
            <a:off x="952500" y="1841500"/>
            <a:ext cx="50800" cy="3619500"/>
          </a:xfrm>
          <a:prstGeom prst="rect">
            <a:avLst/>
          </a:prstGeom>
          <a:solidFill>
            <a:srgbClr val="0077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8" name="LimitationBody_0">
            <a:extLst>
              <a:ext uri="{FF2B5EF4-FFF2-40B4-BE49-F238E27FC236}">
                <a16:creationId xmlns:a16="http://schemas.microsoft.com/office/drawing/2014/main" id="{F1E23B61-277B-6442-81FF-5EAA67C72084}"/>
              </a:ext>
            </a:extLst>
          </p:cNvPr>
          <p:cNvSpPr txBox="1"/>
          <p:nvPr/>
        </p:nvSpPr>
        <p:spPr>
          <a:xfrm>
            <a:off x="1003300" y="3242405"/>
            <a:ext cx="7950200" cy="2222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ctr">
              <a:lnSpc>
                <a:spcPct val="155000"/>
              </a:lnSpc>
            </a:pPr>
            <a:r>
              <a:rPr lang="en-US" sz="29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One language, one cutoff, one year of treatment</a:t>
            </a:r>
          </a:p>
          <a:p>
            <a:pPr marL="0" indent="0" algn="ctr">
              <a:lnSpc>
                <a:spcPct val="155000"/>
              </a:lnSpc>
              <a:buNone/>
            </a:pPr>
            <a:r>
              <a:rPr lang="en-US" sz="32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external validity is local</a:t>
            </a:r>
          </a:p>
        </p:txBody>
      </p:sp>
      <p:sp>
        <p:nvSpPr>
          <p:cNvPr id="19" name="LimitationCard_1">
            <a:extLst>
              <a:ext uri="{FF2B5EF4-FFF2-40B4-BE49-F238E27FC236}">
                <a16:creationId xmlns:a16="http://schemas.microsoft.com/office/drawing/2014/main" id="{A0CE12C3-96D7-E14B-A32E-4CD14CFD4D4A}"/>
              </a:ext>
            </a:extLst>
          </p:cNvPr>
          <p:cNvSpPr/>
          <p:nvPr/>
        </p:nvSpPr>
        <p:spPr>
          <a:xfrm>
            <a:off x="9334500" y="1841500"/>
            <a:ext cx="8001000" cy="3619500"/>
          </a:xfrm>
          <a:prstGeom prst="rect">
            <a:avLst/>
          </a:prstGeom>
          <a:solidFill>
            <a:srgbClr val="F5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20" name="LimitationBar_1">
            <a:extLst>
              <a:ext uri="{FF2B5EF4-FFF2-40B4-BE49-F238E27FC236}">
                <a16:creationId xmlns:a16="http://schemas.microsoft.com/office/drawing/2014/main" id="{14BD7AA5-E7DF-C84E-90F1-7DB624E068DE}"/>
              </a:ext>
            </a:extLst>
          </p:cNvPr>
          <p:cNvSpPr/>
          <p:nvPr/>
        </p:nvSpPr>
        <p:spPr>
          <a:xfrm>
            <a:off x="9334500" y="1841500"/>
            <a:ext cx="50800" cy="3619500"/>
          </a:xfrm>
          <a:prstGeom prst="rect">
            <a:avLst/>
          </a:prstGeom>
          <a:solidFill>
            <a:srgbClr val="0077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21" name="LimitationHeader_1">
            <a:extLst>
              <a:ext uri="{FF2B5EF4-FFF2-40B4-BE49-F238E27FC236}">
                <a16:creationId xmlns:a16="http://schemas.microsoft.com/office/drawing/2014/main" id="{D63E6A38-56D2-4E47-ABAB-194638372605}"/>
              </a:ext>
            </a:extLst>
          </p:cNvPr>
          <p:cNvSpPr txBox="1"/>
          <p:nvPr/>
        </p:nvSpPr>
        <p:spPr>
          <a:xfrm>
            <a:off x="9715500" y="2171700"/>
            <a:ext cx="7239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n-US" sz="3600" b="1" spc="300" dirty="0">
                <a:solidFill>
                  <a:srgbClr val="0077B6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INDIRECT</a:t>
            </a:r>
            <a:r>
              <a:rPr lang="en-US" sz="3600" b="1" kern="0" spc="300" dirty="0">
                <a:solidFill>
                  <a:srgbClr val="0077B6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 </a:t>
            </a:r>
            <a:r>
              <a:rPr lang="en-US" sz="3600" b="1" spc="300" dirty="0">
                <a:solidFill>
                  <a:srgbClr val="0077B6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MEASUREMENT</a:t>
            </a:r>
          </a:p>
        </p:txBody>
      </p:sp>
      <p:sp>
        <p:nvSpPr>
          <p:cNvPr id="22" name="LimitationBody_1">
            <a:extLst>
              <a:ext uri="{FF2B5EF4-FFF2-40B4-BE49-F238E27FC236}">
                <a16:creationId xmlns:a16="http://schemas.microsoft.com/office/drawing/2014/main" id="{BC526BE7-61DC-234B-942A-8D63121BFC51}"/>
              </a:ext>
            </a:extLst>
          </p:cNvPr>
          <p:cNvSpPr txBox="1"/>
          <p:nvPr/>
        </p:nvSpPr>
        <p:spPr>
          <a:xfrm>
            <a:off x="9385300" y="3205083"/>
            <a:ext cx="7950200" cy="2222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32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Outcomes (</a:t>
            </a:r>
            <a:r>
              <a:rPr lang="en-US" sz="3200" dirty="0" err="1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dwnlds</a:t>
            </a:r>
            <a:r>
              <a:rPr lang="en-US" sz="32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, imports) were observed</a:t>
            </a:r>
          </a:p>
          <a:p>
            <a:pPr algn="ctr">
              <a:lnSpc>
                <a:spcPct val="155000"/>
              </a:lnSpc>
            </a:pPr>
            <a:r>
              <a:rPr lang="en-US" sz="36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not LLM usage directly</a:t>
            </a:r>
          </a:p>
        </p:txBody>
      </p:sp>
      <p:sp>
        <p:nvSpPr>
          <p:cNvPr id="23" name="LimitationCard_2">
            <a:extLst>
              <a:ext uri="{FF2B5EF4-FFF2-40B4-BE49-F238E27FC236}">
                <a16:creationId xmlns:a16="http://schemas.microsoft.com/office/drawing/2014/main" id="{FCDF4FC3-E20C-334A-8481-0CC717A42A2D}"/>
              </a:ext>
            </a:extLst>
          </p:cNvPr>
          <p:cNvSpPr/>
          <p:nvPr/>
        </p:nvSpPr>
        <p:spPr>
          <a:xfrm>
            <a:off x="952500" y="5842000"/>
            <a:ext cx="8001000" cy="3619500"/>
          </a:xfrm>
          <a:prstGeom prst="rect">
            <a:avLst/>
          </a:prstGeom>
          <a:solidFill>
            <a:srgbClr val="F5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24" name="LimitationBar_2">
            <a:extLst>
              <a:ext uri="{FF2B5EF4-FFF2-40B4-BE49-F238E27FC236}">
                <a16:creationId xmlns:a16="http://schemas.microsoft.com/office/drawing/2014/main" id="{B7482E9C-AB18-A84B-8549-BC5988320EE1}"/>
              </a:ext>
            </a:extLst>
          </p:cNvPr>
          <p:cNvSpPr/>
          <p:nvPr/>
        </p:nvSpPr>
        <p:spPr>
          <a:xfrm>
            <a:off x="952500" y="5842000"/>
            <a:ext cx="50800" cy="3619500"/>
          </a:xfrm>
          <a:prstGeom prst="rect">
            <a:avLst/>
          </a:prstGeom>
          <a:solidFill>
            <a:srgbClr val="0077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25" name="LimitationHeader_2">
            <a:extLst>
              <a:ext uri="{FF2B5EF4-FFF2-40B4-BE49-F238E27FC236}">
                <a16:creationId xmlns:a16="http://schemas.microsoft.com/office/drawing/2014/main" id="{B6367379-4AEF-3A4C-B180-53607807B29B}"/>
              </a:ext>
            </a:extLst>
          </p:cNvPr>
          <p:cNvSpPr txBox="1"/>
          <p:nvPr/>
        </p:nvSpPr>
        <p:spPr>
          <a:xfrm>
            <a:off x="1295400" y="6172200"/>
            <a:ext cx="75692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n-US" sz="3500" b="1" spc="300" dirty="0">
                <a:solidFill>
                  <a:srgbClr val="0077B6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CONTINUOUS ADVANCEMENT</a:t>
            </a:r>
          </a:p>
        </p:txBody>
      </p:sp>
      <p:sp>
        <p:nvSpPr>
          <p:cNvPr id="26" name="LimitationBody_2">
            <a:extLst>
              <a:ext uri="{FF2B5EF4-FFF2-40B4-BE49-F238E27FC236}">
                <a16:creationId xmlns:a16="http://schemas.microsoft.com/office/drawing/2014/main" id="{C7E9DDC1-712B-614C-85D0-931AACAF9F65}"/>
              </a:ext>
            </a:extLst>
          </p:cNvPr>
          <p:cNvSpPr txBox="1"/>
          <p:nvPr/>
        </p:nvSpPr>
        <p:spPr>
          <a:xfrm>
            <a:off x="1003300" y="7180940"/>
            <a:ext cx="7950200" cy="2222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29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Web search, RAG may erode the wall over time</a:t>
            </a:r>
          </a:p>
          <a:p>
            <a:pPr algn="ctr">
              <a:lnSpc>
                <a:spcPct val="155000"/>
              </a:lnSpc>
            </a:pPr>
            <a:r>
              <a:rPr lang="en-US" sz="36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AI systems are evolving</a:t>
            </a:r>
          </a:p>
        </p:txBody>
      </p:sp>
      <p:sp>
        <p:nvSpPr>
          <p:cNvPr id="27" name="LimitationCard_3">
            <a:extLst>
              <a:ext uri="{FF2B5EF4-FFF2-40B4-BE49-F238E27FC236}">
                <a16:creationId xmlns:a16="http://schemas.microsoft.com/office/drawing/2014/main" id="{20FD6252-F8AF-7744-89C4-D22AA54E7AFA}"/>
              </a:ext>
            </a:extLst>
          </p:cNvPr>
          <p:cNvSpPr/>
          <p:nvPr/>
        </p:nvSpPr>
        <p:spPr>
          <a:xfrm>
            <a:off x="9334500" y="5842000"/>
            <a:ext cx="8001000" cy="3619500"/>
          </a:xfrm>
          <a:prstGeom prst="rect">
            <a:avLst/>
          </a:prstGeom>
          <a:solidFill>
            <a:srgbClr val="F5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28" name="LimitationBar_3">
            <a:extLst>
              <a:ext uri="{FF2B5EF4-FFF2-40B4-BE49-F238E27FC236}">
                <a16:creationId xmlns:a16="http://schemas.microsoft.com/office/drawing/2014/main" id="{543F7640-2DDD-8E48-928A-63339EE3A38D}"/>
              </a:ext>
            </a:extLst>
          </p:cNvPr>
          <p:cNvSpPr/>
          <p:nvPr/>
        </p:nvSpPr>
        <p:spPr>
          <a:xfrm>
            <a:off x="9334500" y="5842000"/>
            <a:ext cx="50800" cy="3619500"/>
          </a:xfrm>
          <a:prstGeom prst="rect">
            <a:avLst/>
          </a:prstGeom>
          <a:solidFill>
            <a:srgbClr val="0077B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29" name="LimitationHeader_3">
            <a:extLst>
              <a:ext uri="{FF2B5EF4-FFF2-40B4-BE49-F238E27FC236}">
                <a16:creationId xmlns:a16="http://schemas.microsoft.com/office/drawing/2014/main" id="{360A181A-D43C-1A4B-B40D-511D0F24EB91}"/>
              </a:ext>
            </a:extLst>
          </p:cNvPr>
          <p:cNvSpPr txBox="1"/>
          <p:nvPr/>
        </p:nvSpPr>
        <p:spPr>
          <a:xfrm>
            <a:off x="9715500" y="6172200"/>
            <a:ext cx="7239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600" b="1" spc="300" dirty="0">
                <a:solidFill>
                  <a:srgbClr val="0077B6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SPECIFICATION</a:t>
            </a:r>
            <a:r>
              <a:rPr lang="en-US" sz="3600" b="1" kern="0" spc="300" dirty="0">
                <a:solidFill>
                  <a:srgbClr val="0077B6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 </a:t>
            </a:r>
            <a:r>
              <a:rPr lang="en-US" sz="3600" b="1" spc="300" dirty="0">
                <a:solidFill>
                  <a:srgbClr val="0077B6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CHOICES</a:t>
            </a:r>
          </a:p>
        </p:txBody>
      </p:sp>
      <p:sp>
        <p:nvSpPr>
          <p:cNvPr id="30" name="LimitationBody_3">
            <a:extLst>
              <a:ext uri="{FF2B5EF4-FFF2-40B4-BE49-F238E27FC236}">
                <a16:creationId xmlns:a16="http://schemas.microsoft.com/office/drawing/2014/main" id="{A5445AC2-94E6-FA49-B39D-8C8045A1F220}"/>
              </a:ext>
            </a:extLst>
          </p:cNvPr>
          <p:cNvSpPr txBox="1"/>
          <p:nvPr/>
        </p:nvSpPr>
        <p:spPr>
          <a:xfrm>
            <a:off x="9385300" y="6985000"/>
            <a:ext cx="7950200" cy="2222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800" dirty="0">
                <a:solidFill>
                  <a:srgbClr val="03045E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Bandwidth, asymmetric donut, 2018–2020 placebos as cohort counterfactuals</a:t>
            </a:r>
          </a:p>
          <a:p>
            <a:pPr algn="ctr">
              <a:lnSpc>
                <a:spcPct val="155000"/>
              </a:lnSpc>
            </a:pPr>
            <a:r>
              <a:rPr lang="en-US" sz="32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sensitivity reported in appendix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D8CDC7-80BC-AED1-7ACB-8EBE0AF115A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906879" y="618375"/>
            <a:ext cx="731520" cy="731520"/>
          </a:xfrm>
          <a:prstGeom prst="rect">
            <a:avLst/>
          </a:prstGeom>
        </p:spPr>
      </p:pic>
      <p:sp>
        <p:nvSpPr>
          <p:cNvPr id="10" name="Text 18">
            <a:extLst>
              <a:ext uri="{FF2B5EF4-FFF2-40B4-BE49-F238E27FC236}">
                <a16:creationId xmlns:a16="http://schemas.microsoft.com/office/drawing/2014/main" id="{4594236A-7915-5AE5-20C6-08378101BF72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BCFB09-1D68-990A-331A-B9E9121333E6}"/>
              </a:ext>
            </a:extLst>
          </p:cNvPr>
          <p:cNvSpPr txBox="1"/>
          <p:nvPr/>
        </p:nvSpPr>
        <p:spPr>
          <a:xfrm>
            <a:off x="1295400" y="2167795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spc="300" dirty="0">
                <a:solidFill>
                  <a:srgbClr val="0077B6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EXTERNAL VALIDITY</a:t>
            </a:r>
          </a:p>
        </p:txBody>
      </p:sp>
    </p:spTree>
    <p:extLst>
      <p:ext uri="{BB962C8B-B14F-4D97-AF65-F5344CB8AC3E}">
        <p14:creationId xmlns:p14="http://schemas.microsoft.com/office/powerpoint/2010/main" val="200052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/>
      <p:bldP spid="19" grpId="0" animBg="1"/>
      <p:bldP spid="20" grpId="0" animBg="1"/>
      <p:bldP spid="21" grpId="0"/>
      <p:bldP spid="22" grpId="0"/>
      <p:bldP spid="23" grpId="0" animBg="1"/>
      <p:bldP spid="24" grpId="0" animBg="1"/>
      <p:bldP spid="25" grpId="0"/>
      <p:bldP spid="26" grpId="0"/>
      <p:bldP spid="27" grpId="0" animBg="1"/>
      <p:bldP spid="28" grpId="0" animBg="1"/>
      <p:bldP spid="29" grpId="0"/>
      <p:bldP spid="30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opAccentBar"/>
          <p:cNvSpPr/>
          <p:nvPr/>
        </p:nvSpPr>
        <p:spPr>
          <a:xfrm>
            <a:off x="0" y="0"/>
            <a:ext cx="18288000" cy="635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01" name="Title"/>
          <p:cNvSpPr/>
          <p:nvPr/>
        </p:nvSpPr>
        <p:spPr>
          <a:xfrm>
            <a:off x="952500" y="605863"/>
            <a:ext cx="16383000" cy="977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4800" kern="0" spc="-22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Beyond the cutoff – A question for future work</a:t>
            </a:r>
          </a:p>
        </p:txBody>
      </p:sp>
      <p:sp>
        <p:nvSpPr>
          <p:cNvPr id="102" name="AccentRule"/>
          <p:cNvSpPr/>
          <p:nvPr/>
        </p:nvSpPr>
        <p:spPr>
          <a:xfrm>
            <a:off x="952500" y="1384300"/>
            <a:ext cx="685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8" name="Text 18">
            <a:extLst>
              <a:ext uri="{FF2B5EF4-FFF2-40B4-BE49-F238E27FC236}">
                <a16:creationId xmlns:a16="http://schemas.microsoft.com/office/drawing/2014/main" id="{1D53DCEF-C533-75DA-20C0-ECCE70271BDA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258917-F8BD-2808-009D-CA3D47AC215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973550" y="605863"/>
            <a:ext cx="723900" cy="723900"/>
          </a:xfrm>
          <a:prstGeom prst="rect">
            <a:avLst/>
          </a:prstGeom>
        </p:spPr>
      </p:pic>
      <p:sp>
        <p:nvSpPr>
          <p:cNvPr id="10" name="Shape 11">
            <a:extLst>
              <a:ext uri="{FF2B5EF4-FFF2-40B4-BE49-F238E27FC236}">
                <a16:creationId xmlns:a16="http://schemas.microsoft.com/office/drawing/2014/main" id="{50401CED-EC3A-6AEC-222C-432A5D1ADC10}"/>
              </a:ext>
            </a:extLst>
          </p:cNvPr>
          <p:cNvSpPr/>
          <p:nvPr/>
        </p:nvSpPr>
        <p:spPr>
          <a:xfrm>
            <a:off x="2053038" y="2570786"/>
            <a:ext cx="14181925" cy="5145428"/>
          </a:xfrm>
          <a:prstGeom prst="roundRect">
            <a:avLst>
              <a:gd name="adj" fmla="val 2778"/>
            </a:avLst>
          </a:prstGeom>
          <a:solidFill>
            <a:srgbClr val="03045E"/>
          </a:solidFill>
          <a:ln/>
        </p:spPr>
        <p:txBody>
          <a:bodyPr/>
          <a:lstStyle/>
          <a:p>
            <a:endParaRPr lang="en-US" sz="3200" dirty="0">
              <a:solidFill>
                <a:srgbClr val="03045E"/>
              </a:solidFill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6BC5A48D-CF23-4948-37E7-399E4EB5EAD2}"/>
              </a:ext>
            </a:extLst>
          </p:cNvPr>
          <p:cNvSpPr/>
          <p:nvPr/>
        </p:nvSpPr>
        <p:spPr>
          <a:xfrm>
            <a:off x="2322989" y="2849047"/>
            <a:ext cx="8819932" cy="1255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800" b="1" kern="0" spc="600" dirty="0">
                <a:solidFill>
                  <a:srgbClr val="0077B6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REVIEWERS’ QUESTION</a:t>
            </a:r>
            <a:endParaRPr lang="en-US" sz="4800" b="1" spc="600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C4447D8A-4D4C-B2D0-EA25-04B1AD453813}"/>
              </a:ext>
            </a:extLst>
          </p:cNvPr>
          <p:cNvSpPr/>
          <p:nvPr/>
        </p:nvSpPr>
        <p:spPr>
          <a:xfrm>
            <a:off x="2053038" y="3908557"/>
            <a:ext cx="14181925" cy="2131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140000"/>
              </a:lnSpc>
              <a:spcAft>
                <a:spcPts val="900"/>
              </a:spcAft>
            </a:pPr>
            <a:r>
              <a:rPr lang="en-US" sz="4800" dirty="0">
                <a:solidFill>
                  <a:srgbClr val="FFFFFF">
                    <a:alpha val="8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Do LLMs amplify concentration toward</a:t>
            </a:r>
          </a:p>
          <a:p>
            <a:pPr algn="ctr">
              <a:lnSpc>
                <a:spcPct val="140000"/>
              </a:lnSpc>
              <a:spcAft>
                <a:spcPts val="900"/>
              </a:spcAft>
            </a:pPr>
            <a:r>
              <a:rPr lang="en-US" sz="4800" dirty="0">
                <a:solidFill>
                  <a:srgbClr val="FFFFFF">
                    <a:alpha val="8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already-popular libraries?</a:t>
            </a: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E1178C59-2CC3-9D73-8963-0866DE04DE61}"/>
              </a:ext>
            </a:extLst>
          </p:cNvPr>
          <p:cNvSpPr/>
          <p:nvPr/>
        </p:nvSpPr>
        <p:spPr>
          <a:xfrm>
            <a:off x="2819709" y="6480032"/>
            <a:ext cx="7492721" cy="27148"/>
          </a:xfrm>
          <a:prstGeom prst="rect">
            <a:avLst/>
          </a:prstGeom>
          <a:solidFill>
            <a:srgbClr val="03045E">
              <a:alpha val="11765"/>
            </a:srgbClr>
          </a:solidFill>
          <a:ln/>
        </p:spPr>
        <p:txBody>
          <a:bodyPr/>
          <a:lstStyle/>
          <a:p>
            <a:endParaRPr lang="en-US" sz="3200">
              <a:solidFill>
                <a:srgbClr val="03045E"/>
              </a:solidFill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035DC0E4-06CF-C8EC-1169-164DB47F3495}"/>
              </a:ext>
            </a:extLst>
          </p:cNvPr>
          <p:cNvSpPr/>
          <p:nvPr/>
        </p:nvSpPr>
        <p:spPr>
          <a:xfrm>
            <a:off x="2053038" y="6125606"/>
            <a:ext cx="14181924" cy="895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140000"/>
              </a:lnSpc>
              <a:spcBef>
                <a:spcPts val="800"/>
              </a:spcBef>
              <a:spcAft>
                <a:spcPts val="500"/>
              </a:spcAft>
            </a:pPr>
            <a:r>
              <a:rPr lang="en-US" sz="4000" i="1" dirty="0">
                <a:solidFill>
                  <a:srgbClr val="FFFFFF">
                    <a:alpha val="50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LLMs may simply boost preferential attachment for incumbents</a:t>
            </a:r>
          </a:p>
        </p:txBody>
      </p:sp>
      <p:pic>
        <p:nvPicPr>
          <p:cNvPr id="15" name="Graphic 20" descr="Research target">
            <a:extLst>
              <a:ext uri="{FF2B5EF4-FFF2-40B4-BE49-F238E27FC236}">
                <a16:creationId xmlns:a16="http://schemas.microsoft.com/office/drawing/2014/main" id="{34608F7E-A517-EE88-AE82-01047FED7E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52134" y="2759166"/>
            <a:ext cx="1012878" cy="1012878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ED41821-5E53-E70B-43BF-E29C6375A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9713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6E293-33FC-9B1F-C17A-2B96926F6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A89798C-9230-3972-ED9B-C0EF4A46C23F}"/>
              </a:ext>
            </a:extLst>
          </p:cNvPr>
          <p:cNvGrpSpPr/>
          <p:nvPr/>
        </p:nvGrpSpPr>
        <p:grpSpPr>
          <a:xfrm>
            <a:off x="905859" y="4260244"/>
            <a:ext cx="8059648" cy="4723499"/>
            <a:chOff x="7487396" y="2779220"/>
            <a:chExt cx="4597400" cy="1672144"/>
          </a:xfrm>
        </p:grpSpPr>
        <p:sp>
          <p:nvSpPr>
            <p:cNvPr id="107" name="ResponseCard">
              <a:extLst>
                <a:ext uri="{FF2B5EF4-FFF2-40B4-BE49-F238E27FC236}">
                  <a16:creationId xmlns:a16="http://schemas.microsoft.com/office/drawing/2014/main" id="{A0089A8C-A8FF-93E5-F98F-339F2326412C}"/>
                </a:ext>
              </a:extLst>
            </p:cNvPr>
            <p:cNvSpPr/>
            <p:nvPr/>
          </p:nvSpPr>
          <p:spPr>
            <a:xfrm>
              <a:off x="7487396" y="2779220"/>
              <a:ext cx="4597400" cy="1421134"/>
            </a:xfrm>
            <a:prstGeom prst="rect">
              <a:avLst/>
            </a:prstGeom>
            <a:solidFill>
              <a:srgbClr val="F5F7FB"/>
            </a:solidFill>
            <a:ln>
              <a:noFill/>
            </a:ln>
          </p:spPr>
          <p:txBody>
            <a:bodyPr wrap="square" lIns="0" tIns="0" rIns="0" bIns="0" anchor="t"/>
            <a:lstStyle/>
            <a:p>
              <a:endParaRPr lang="en-US"/>
            </a:p>
          </p:txBody>
        </p:sp>
        <p:sp>
          <p:nvSpPr>
            <p:cNvPr id="108" name="ResponseBar">
              <a:extLst>
                <a:ext uri="{FF2B5EF4-FFF2-40B4-BE49-F238E27FC236}">
                  <a16:creationId xmlns:a16="http://schemas.microsoft.com/office/drawing/2014/main" id="{AE09BD17-2B1B-0407-E470-35AB4DAE2B91}"/>
                </a:ext>
              </a:extLst>
            </p:cNvPr>
            <p:cNvSpPr/>
            <p:nvPr/>
          </p:nvSpPr>
          <p:spPr>
            <a:xfrm>
              <a:off x="7499711" y="2826522"/>
              <a:ext cx="50800" cy="1326529"/>
            </a:xfrm>
            <a:prstGeom prst="rect">
              <a:avLst/>
            </a:prstGeom>
            <a:solidFill>
              <a:srgbClr val="0077B6"/>
            </a:solidFill>
            <a:ln>
              <a:noFill/>
            </a:ln>
          </p:spPr>
          <p:txBody>
            <a:bodyPr wrap="square" lIns="0" tIns="0" rIns="0" bIns="0" anchor="t"/>
            <a:lstStyle/>
            <a:p>
              <a:endParaRPr lang="en-US"/>
            </a:p>
          </p:txBody>
        </p:sp>
        <p:sp>
          <p:nvSpPr>
            <p:cNvPr id="110" name="ResponseBody">
              <a:extLst>
                <a:ext uri="{FF2B5EF4-FFF2-40B4-BE49-F238E27FC236}">
                  <a16:creationId xmlns:a16="http://schemas.microsoft.com/office/drawing/2014/main" id="{6FC32899-CD82-743A-9330-CEE57D6BCED7}"/>
                </a:ext>
              </a:extLst>
            </p:cNvPr>
            <p:cNvSpPr/>
            <p:nvPr/>
          </p:nvSpPr>
          <p:spPr>
            <a:xfrm>
              <a:off x="7563596" y="3030230"/>
              <a:ext cx="4521200" cy="14211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marL="0" indent="0" algn="ctr">
                <a:lnSpc>
                  <a:spcPct val="135000"/>
                </a:lnSpc>
                <a:spcAft>
                  <a:spcPts val="700"/>
                </a:spcAft>
                <a:buNone/>
              </a:pPr>
              <a:endParaRPr lang="en-US" sz="2000" kern="0" dirty="0">
                <a:solidFill>
                  <a:srgbClr val="002060"/>
                </a:solidFill>
                <a:latin typeface="Inter" pitchFamily="34" charset="0"/>
                <a:ea typeface="Inter" pitchFamily="34" charset="-122"/>
              </a:endParaRPr>
            </a:p>
          </p:txBody>
        </p:sp>
      </p:grpSp>
      <p:sp>
        <p:nvSpPr>
          <p:cNvPr id="8" name="Text 18">
            <a:extLst>
              <a:ext uri="{FF2B5EF4-FFF2-40B4-BE49-F238E27FC236}">
                <a16:creationId xmlns:a16="http://schemas.microsoft.com/office/drawing/2014/main" id="{AB8E6D8D-01E4-2C9D-B58C-CBCDA688175C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D7A7030-4C68-D903-5A82-61FD3623186B}"/>
              </a:ext>
            </a:extLst>
          </p:cNvPr>
          <p:cNvGrpSpPr/>
          <p:nvPr/>
        </p:nvGrpSpPr>
        <p:grpSpPr>
          <a:xfrm>
            <a:off x="9498872" y="4247545"/>
            <a:ext cx="8081237" cy="4574836"/>
            <a:chOff x="7487396" y="2779220"/>
            <a:chExt cx="4609715" cy="1619516"/>
          </a:xfrm>
        </p:grpSpPr>
        <p:sp>
          <p:nvSpPr>
            <p:cNvPr id="21" name="ResponseCard">
              <a:extLst>
                <a:ext uri="{FF2B5EF4-FFF2-40B4-BE49-F238E27FC236}">
                  <a16:creationId xmlns:a16="http://schemas.microsoft.com/office/drawing/2014/main" id="{D0932A3E-08A0-8981-3FF1-0D18FC5C3E21}"/>
                </a:ext>
              </a:extLst>
            </p:cNvPr>
            <p:cNvSpPr/>
            <p:nvPr/>
          </p:nvSpPr>
          <p:spPr>
            <a:xfrm>
              <a:off x="7487396" y="2779220"/>
              <a:ext cx="4597400" cy="1421134"/>
            </a:xfrm>
            <a:prstGeom prst="rect">
              <a:avLst/>
            </a:prstGeom>
            <a:solidFill>
              <a:srgbClr val="F5F7FB"/>
            </a:solidFill>
            <a:ln>
              <a:noFill/>
            </a:ln>
          </p:spPr>
          <p:txBody>
            <a:bodyPr wrap="square" lIns="0" tIns="0" rIns="0" bIns="0" anchor="t"/>
            <a:lstStyle/>
            <a:p>
              <a:endParaRPr lang="en-US"/>
            </a:p>
          </p:txBody>
        </p:sp>
        <p:sp>
          <p:nvSpPr>
            <p:cNvPr id="22" name="ResponseBar">
              <a:extLst>
                <a:ext uri="{FF2B5EF4-FFF2-40B4-BE49-F238E27FC236}">
                  <a16:creationId xmlns:a16="http://schemas.microsoft.com/office/drawing/2014/main" id="{66F4349C-0850-E6BE-197D-49F7AD9C17FF}"/>
                </a:ext>
              </a:extLst>
            </p:cNvPr>
            <p:cNvSpPr/>
            <p:nvPr/>
          </p:nvSpPr>
          <p:spPr>
            <a:xfrm>
              <a:off x="7499711" y="2826522"/>
              <a:ext cx="50800" cy="1326529"/>
            </a:xfrm>
            <a:prstGeom prst="rect">
              <a:avLst/>
            </a:prstGeom>
            <a:solidFill>
              <a:srgbClr val="0077B6"/>
            </a:solidFill>
            <a:ln>
              <a:noFill/>
            </a:ln>
          </p:spPr>
          <p:txBody>
            <a:bodyPr wrap="square" lIns="0" tIns="0" rIns="0" bIns="0" anchor="t"/>
            <a:lstStyle/>
            <a:p>
              <a:endParaRPr lang="en-US"/>
            </a:p>
          </p:txBody>
        </p:sp>
        <p:sp>
          <p:nvSpPr>
            <p:cNvPr id="23" name="ResponseBody">
              <a:extLst>
                <a:ext uri="{FF2B5EF4-FFF2-40B4-BE49-F238E27FC236}">
                  <a16:creationId xmlns:a16="http://schemas.microsoft.com/office/drawing/2014/main" id="{3A0553D0-C4C6-03EE-68D5-5444849A99F6}"/>
                </a:ext>
              </a:extLst>
            </p:cNvPr>
            <p:cNvSpPr/>
            <p:nvPr/>
          </p:nvSpPr>
          <p:spPr>
            <a:xfrm>
              <a:off x="7575911" y="2977602"/>
              <a:ext cx="4521200" cy="14211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ctr">
                <a:lnSpc>
                  <a:spcPct val="135000"/>
                </a:lnSpc>
                <a:spcBef>
                  <a:spcPts val="500"/>
                </a:spcBef>
                <a:spcAft>
                  <a:spcPts val="800"/>
                </a:spcAft>
              </a:pPr>
              <a:r>
                <a:rPr lang="en-US" sz="3200" kern="0" dirty="0">
                  <a:solidFill>
                    <a:srgbClr val="002060"/>
                  </a:solidFill>
                  <a:latin typeface="Inter" pitchFamily="34" charset="0"/>
                  <a:ea typeface="Inter" pitchFamily="34" charset="-122"/>
                </a:rPr>
                <a:t>Suppression of new entrants is a necessary first step for concentration to rise</a:t>
              </a:r>
            </a:p>
            <a:p>
              <a:pPr algn="ctr">
                <a:lnSpc>
                  <a:spcPct val="135000"/>
                </a:lnSpc>
                <a:spcBef>
                  <a:spcPts val="500"/>
                </a:spcBef>
                <a:spcAft>
                  <a:spcPts val="800"/>
                </a:spcAft>
              </a:pPr>
              <a:r>
                <a:rPr lang="en-US" sz="3600" b="1" kern="0" dirty="0">
                  <a:solidFill>
                    <a:srgbClr val="002060"/>
                  </a:solidFill>
                  <a:latin typeface="Inter Tight Black" pitchFamily="2" charset="0"/>
                  <a:ea typeface="Inter Tight Black" pitchFamily="2" charset="0"/>
                  <a:cs typeface="Inter Tight Black" pitchFamily="2" charset="0"/>
                </a:rPr>
                <a:t>BUT the two questions require different identification</a:t>
              </a:r>
            </a:p>
          </p:txBody>
        </p:sp>
      </p:grpSp>
      <p:sp>
        <p:nvSpPr>
          <p:cNvPr id="27" name="Shape 11">
            <a:extLst>
              <a:ext uri="{FF2B5EF4-FFF2-40B4-BE49-F238E27FC236}">
                <a16:creationId xmlns:a16="http://schemas.microsoft.com/office/drawing/2014/main" id="{D0610B80-85E0-E864-326A-451E4219A292}"/>
              </a:ext>
            </a:extLst>
          </p:cNvPr>
          <p:cNvSpPr/>
          <p:nvPr/>
        </p:nvSpPr>
        <p:spPr>
          <a:xfrm>
            <a:off x="4217141" y="1475718"/>
            <a:ext cx="9853719" cy="2038734"/>
          </a:xfrm>
          <a:prstGeom prst="roundRect">
            <a:avLst>
              <a:gd name="adj" fmla="val 2778"/>
            </a:avLst>
          </a:prstGeom>
          <a:solidFill>
            <a:srgbClr val="03045E"/>
          </a:solidFill>
          <a:ln/>
        </p:spPr>
        <p:txBody>
          <a:bodyPr/>
          <a:lstStyle/>
          <a:p>
            <a:endParaRPr lang="en-US" dirty="0">
              <a:solidFill>
                <a:srgbClr val="03045E"/>
              </a:solidFill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C8C4E8BE-7C82-ABC5-F55F-97B27B82F010}"/>
              </a:ext>
            </a:extLst>
          </p:cNvPr>
          <p:cNvSpPr/>
          <p:nvPr/>
        </p:nvSpPr>
        <p:spPr>
          <a:xfrm>
            <a:off x="4404705" y="1585971"/>
            <a:ext cx="6016302" cy="482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600" dirty="0">
                <a:solidFill>
                  <a:srgbClr val="0077B6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REVIEWERS’ QUESTION</a:t>
            </a:r>
            <a:endParaRPr lang="en-US" sz="2400" b="1" spc="600" dirty="0">
              <a:latin typeface="Inter Tight ExtraBold" pitchFamily="2" charset="0"/>
              <a:ea typeface="Inter Tight ExtraBold" pitchFamily="2" charset="0"/>
              <a:cs typeface="Inter Tight ExtraBold" pitchFamily="2" charset="0"/>
            </a:endParaRP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BDEAC4B0-88A6-951D-3B1B-8735EAABDC90}"/>
              </a:ext>
            </a:extLst>
          </p:cNvPr>
          <p:cNvSpPr/>
          <p:nvPr/>
        </p:nvSpPr>
        <p:spPr>
          <a:xfrm>
            <a:off x="4217141" y="2143797"/>
            <a:ext cx="9853719" cy="844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>
              <a:lnSpc>
                <a:spcPct val="140000"/>
              </a:lnSpc>
              <a:spcAft>
                <a:spcPts val="900"/>
              </a:spcAft>
            </a:pPr>
            <a:r>
              <a:rPr lang="en-US" sz="26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</a:rPr>
              <a:t>Do LLMs amplify concentration toward already-popular libraries?</a:t>
            </a:r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38AC5714-9260-3296-6CF3-579BDEC2D7A5}"/>
              </a:ext>
            </a:extLst>
          </p:cNvPr>
          <p:cNvSpPr/>
          <p:nvPr/>
        </p:nvSpPr>
        <p:spPr>
          <a:xfrm>
            <a:off x="4217141" y="2708206"/>
            <a:ext cx="9853718" cy="354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800"/>
              </a:spcBef>
              <a:spcAft>
                <a:spcPts val="500"/>
              </a:spcAft>
            </a:pPr>
            <a:r>
              <a:rPr lang="en-US" sz="2400" i="1" dirty="0">
                <a:solidFill>
                  <a:srgbClr val="FFFFFF">
                    <a:alpha val="50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LLMs may simply boost preferential attachment for incumbents</a:t>
            </a:r>
          </a:p>
        </p:txBody>
      </p:sp>
      <p:pic>
        <p:nvPicPr>
          <p:cNvPr id="33" name="Graphic 20" descr="Research target">
            <a:extLst>
              <a:ext uri="{FF2B5EF4-FFF2-40B4-BE49-F238E27FC236}">
                <a16:creationId xmlns:a16="http://schemas.microsoft.com/office/drawing/2014/main" id="{B3519F92-7CFD-5217-F92E-61BCBB467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50374" y="1474392"/>
            <a:ext cx="598481" cy="598481"/>
          </a:xfrm>
          <a:prstGeom prst="rect">
            <a:avLst/>
          </a:prstGeom>
        </p:spPr>
      </p:pic>
      <p:sp>
        <p:nvSpPr>
          <p:cNvPr id="41" name="TopAccentBar">
            <a:extLst>
              <a:ext uri="{FF2B5EF4-FFF2-40B4-BE49-F238E27FC236}">
                <a16:creationId xmlns:a16="http://schemas.microsoft.com/office/drawing/2014/main" id="{6F68E897-B116-AFD1-0A95-3748859F7393}"/>
              </a:ext>
            </a:extLst>
          </p:cNvPr>
          <p:cNvSpPr/>
          <p:nvPr/>
        </p:nvSpPr>
        <p:spPr>
          <a:xfrm>
            <a:off x="0" y="0"/>
            <a:ext cx="18288000" cy="635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42" name="Title">
            <a:extLst>
              <a:ext uri="{FF2B5EF4-FFF2-40B4-BE49-F238E27FC236}">
                <a16:creationId xmlns:a16="http://schemas.microsoft.com/office/drawing/2014/main" id="{9D9D77A0-A331-70E6-F2A9-3E9859A75FC9}"/>
              </a:ext>
            </a:extLst>
          </p:cNvPr>
          <p:cNvSpPr/>
          <p:nvPr/>
        </p:nvSpPr>
        <p:spPr>
          <a:xfrm>
            <a:off x="952500" y="605863"/>
            <a:ext cx="16383000" cy="977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4800" kern="0" spc="-22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Beyond the cutoff – Scope of the paper</a:t>
            </a:r>
          </a:p>
        </p:txBody>
      </p:sp>
      <p:sp>
        <p:nvSpPr>
          <p:cNvPr id="43" name="AccentRule">
            <a:extLst>
              <a:ext uri="{FF2B5EF4-FFF2-40B4-BE49-F238E27FC236}">
                <a16:creationId xmlns:a16="http://schemas.microsoft.com/office/drawing/2014/main" id="{4A9E19F4-D227-8EB5-428C-1A2283C0351C}"/>
              </a:ext>
            </a:extLst>
          </p:cNvPr>
          <p:cNvSpPr/>
          <p:nvPr/>
        </p:nvSpPr>
        <p:spPr>
          <a:xfrm>
            <a:off x="952500" y="1384300"/>
            <a:ext cx="685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A632C76-4887-649F-6A70-9D11FE8BA33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973550" y="605863"/>
            <a:ext cx="723900" cy="723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1AF6DF-01FE-AC31-A359-0085DD1E5952}"/>
              </a:ext>
            </a:extLst>
          </p:cNvPr>
          <p:cNvSpPr txBox="1"/>
          <p:nvPr/>
        </p:nvSpPr>
        <p:spPr>
          <a:xfrm>
            <a:off x="926098" y="4746893"/>
            <a:ext cx="8060998" cy="297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kern="0" dirty="0">
                <a:solidFill>
                  <a:srgbClr val="002060"/>
                </a:solidFill>
                <a:latin typeface="Inter" pitchFamily="34" charset="0"/>
                <a:ea typeface="Inter" pitchFamily="34" charset="-122"/>
              </a:rPr>
              <a:t>This paper estimates: </a:t>
            </a:r>
            <a:r>
              <a:rPr lang="en-US" sz="3200" b="1" kern="0" dirty="0">
                <a:solidFill>
                  <a:srgbClr val="002060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are post-cutoff entrants suppressed?</a:t>
            </a:r>
          </a:p>
          <a:p>
            <a:pPr algn="ctr">
              <a:lnSpc>
                <a:spcPct val="150000"/>
              </a:lnSpc>
            </a:pPr>
            <a:r>
              <a:rPr lang="en-US" sz="3200" kern="0" dirty="0">
                <a:solidFill>
                  <a:srgbClr val="002060"/>
                </a:solidFill>
                <a:latin typeface="Inter" pitchFamily="34" charset="0"/>
                <a:ea typeface="Inter" pitchFamily="34" charset="-122"/>
              </a:rPr>
              <a:t>It does not estimate whether incumbent concentration rises after ChatGPT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18D403-0D7F-02AB-377E-4A63DFEA5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0861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FD964-B839-26B0-4AF0-2D35F26B5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A29E706-9463-6291-27DD-B2F97E014BC3}"/>
              </a:ext>
            </a:extLst>
          </p:cNvPr>
          <p:cNvGrpSpPr/>
          <p:nvPr/>
        </p:nvGrpSpPr>
        <p:grpSpPr>
          <a:xfrm>
            <a:off x="905859" y="3722366"/>
            <a:ext cx="8059648" cy="1672144"/>
            <a:chOff x="7487396" y="2779220"/>
            <a:chExt cx="4597400" cy="1672144"/>
          </a:xfrm>
        </p:grpSpPr>
        <p:sp>
          <p:nvSpPr>
            <p:cNvPr id="107" name="ResponseCard">
              <a:extLst>
                <a:ext uri="{FF2B5EF4-FFF2-40B4-BE49-F238E27FC236}">
                  <a16:creationId xmlns:a16="http://schemas.microsoft.com/office/drawing/2014/main" id="{6791586D-9FF5-30EE-D8A0-7CBA7357DE22}"/>
                </a:ext>
              </a:extLst>
            </p:cNvPr>
            <p:cNvSpPr/>
            <p:nvPr/>
          </p:nvSpPr>
          <p:spPr>
            <a:xfrm>
              <a:off x="7487396" y="2779220"/>
              <a:ext cx="4597400" cy="1421134"/>
            </a:xfrm>
            <a:prstGeom prst="rect">
              <a:avLst/>
            </a:prstGeom>
            <a:solidFill>
              <a:srgbClr val="F5F7FB"/>
            </a:solidFill>
            <a:ln>
              <a:noFill/>
            </a:ln>
          </p:spPr>
          <p:txBody>
            <a:bodyPr wrap="square" lIns="0" tIns="0" rIns="0" bIns="0" anchor="t"/>
            <a:lstStyle/>
            <a:p>
              <a:endParaRPr lang="en-US"/>
            </a:p>
          </p:txBody>
        </p:sp>
        <p:sp>
          <p:nvSpPr>
            <p:cNvPr id="108" name="ResponseBar">
              <a:extLst>
                <a:ext uri="{FF2B5EF4-FFF2-40B4-BE49-F238E27FC236}">
                  <a16:creationId xmlns:a16="http://schemas.microsoft.com/office/drawing/2014/main" id="{53A19427-5675-8807-4C1B-F3195307A9C9}"/>
                </a:ext>
              </a:extLst>
            </p:cNvPr>
            <p:cNvSpPr/>
            <p:nvPr/>
          </p:nvSpPr>
          <p:spPr>
            <a:xfrm>
              <a:off x="7499711" y="2826522"/>
              <a:ext cx="50800" cy="1326529"/>
            </a:xfrm>
            <a:prstGeom prst="rect">
              <a:avLst/>
            </a:prstGeom>
            <a:solidFill>
              <a:srgbClr val="0077B6"/>
            </a:solidFill>
            <a:ln>
              <a:noFill/>
            </a:ln>
          </p:spPr>
          <p:txBody>
            <a:bodyPr wrap="square" lIns="0" tIns="0" rIns="0" bIns="0" anchor="t"/>
            <a:lstStyle/>
            <a:p>
              <a:endParaRPr lang="en-US"/>
            </a:p>
          </p:txBody>
        </p:sp>
        <p:sp>
          <p:nvSpPr>
            <p:cNvPr id="110" name="ResponseBody">
              <a:extLst>
                <a:ext uri="{FF2B5EF4-FFF2-40B4-BE49-F238E27FC236}">
                  <a16:creationId xmlns:a16="http://schemas.microsoft.com/office/drawing/2014/main" id="{5877A963-61FC-FA3A-E7DE-387F7694A8AE}"/>
                </a:ext>
              </a:extLst>
            </p:cNvPr>
            <p:cNvSpPr/>
            <p:nvPr/>
          </p:nvSpPr>
          <p:spPr>
            <a:xfrm>
              <a:off x="7563596" y="3030230"/>
              <a:ext cx="4521200" cy="14211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marL="0" indent="0" algn="ctr">
                <a:lnSpc>
                  <a:spcPct val="135000"/>
                </a:lnSpc>
                <a:spcAft>
                  <a:spcPts val="700"/>
                </a:spcAft>
                <a:buNone/>
              </a:pPr>
              <a:endParaRPr lang="en-US" sz="2000" kern="0" dirty="0">
                <a:solidFill>
                  <a:srgbClr val="002060"/>
                </a:solidFill>
                <a:latin typeface="Inter" pitchFamily="34" charset="0"/>
                <a:ea typeface="Inter" pitchFamily="34" charset="-122"/>
              </a:endParaRPr>
            </a:p>
          </p:txBody>
        </p:sp>
      </p:grpSp>
      <p:sp>
        <p:nvSpPr>
          <p:cNvPr id="8" name="Text 18">
            <a:extLst>
              <a:ext uri="{FF2B5EF4-FFF2-40B4-BE49-F238E27FC236}">
                <a16:creationId xmlns:a16="http://schemas.microsoft.com/office/drawing/2014/main" id="{B6FFF21E-D5C4-B6CB-3FEA-745CC7ED5280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BEDFA9-AF20-F4EE-F989-C601C4C4C1F0}"/>
              </a:ext>
            </a:extLst>
          </p:cNvPr>
          <p:cNvSpPr txBox="1"/>
          <p:nvPr/>
        </p:nvSpPr>
        <p:spPr>
          <a:xfrm>
            <a:off x="4533899" y="5488486"/>
            <a:ext cx="9220200" cy="42169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marL="0" indent="0" algn="ctr">
              <a:lnSpc>
                <a:spcPct val="1350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600" b="1" u="sng" kern="0" spc="200" dirty="0">
                <a:solidFill>
                  <a:srgbClr val="002060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POSSIBLE EXTENSIONS</a:t>
            </a:r>
          </a:p>
          <a:p>
            <a:pPr marL="0" indent="0" algn="ctr">
              <a:lnSpc>
                <a:spcPct val="135000"/>
              </a:lnSpc>
              <a:spcBef>
                <a:spcPts val="600"/>
              </a:spcBef>
              <a:spcAft>
                <a:spcPts val="300"/>
              </a:spcAft>
              <a:buNone/>
            </a:pPr>
            <a:endParaRPr lang="en-US" sz="3600" b="1" kern="0" spc="200" dirty="0">
              <a:solidFill>
                <a:srgbClr val="0077B6"/>
              </a:solidFill>
              <a:latin typeface="Inter Tight Black" pitchFamily="2" charset="0"/>
              <a:ea typeface="Inter Tight Black" pitchFamily="2" charset="0"/>
              <a:cs typeface="Inter Tight Black" pitchFamily="2" charset="0"/>
            </a:endParaRPr>
          </a:p>
          <a:p>
            <a:pPr algn="ctr">
              <a:lnSpc>
                <a:spcPct val="135000"/>
              </a:lnSpc>
              <a:spcBef>
                <a:spcPts val="600"/>
              </a:spcBef>
              <a:spcAft>
                <a:spcPts val="300"/>
              </a:spcAft>
            </a:pPr>
            <a:endParaRPr lang="en-US" sz="3600" b="1" kern="0" spc="200" dirty="0">
              <a:solidFill>
                <a:srgbClr val="0077B6"/>
              </a:solidFill>
              <a:latin typeface="Inter Tight Black" pitchFamily="2" charset="0"/>
              <a:ea typeface="Inter Tight Black" pitchFamily="2" charset="0"/>
              <a:cs typeface="Inter Tight Black" pitchFamily="2" charset="0"/>
            </a:endParaRPr>
          </a:p>
          <a:p>
            <a:pPr algn="ctr">
              <a:lnSpc>
                <a:spcPct val="135000"/>
              </a:lnSpc>
              <a:spcBef>
                <a:spcPts val="600"/>
              </a:spcBef>
              <a:spcAft>
                <a:spcPts val="300"/>
              </a:spcAft>
            </a:pPr>
            <a:endParaRPr lang="en-US" sz="3600" b="1" kern="0" spc="200" dirty="0">
              <a:solidFill>
                <a:srgbClr val="0077B6"/>
              </a:solidFill>
              <a:latin typeface="Inter Tight Black" pitchFamily="2" charset="0"/>
              <a:ea typeface="Inter Tight Black" pitchFamily="2" charset="0"/>
              <a:cs typeface="Inter Tight Black" pitchFamily="2" charset="0"/>
            </a:endParaRPr>
          </a:p>
          <a:p>
            <a:pPr algn="ctr">
              <a:lnSpc>
                <a:spcPct val="135000"/>
              </a:lnSpc>
              <a:spcBef>
                <a:spcPts val="600"/>
              </a:spcBef>
              <a:spcAft>
                <a:spcPts val="300"/>
              </a:spcAft>
            </a:pPr>
            <a:endParaRPr lang="en-US" sz="3600" b="1" kern="0" spc="200" dirty="0">
              <a:solidFill>
                <a:srgbClr val="0077B6"/>
              </a:solidFill>
              <a:latin typeface="Inter Tight Black" pitchFamily="2" charset="0"/>
              <a:ea typeface="Inter Tight Black" pitchFamily="2" charset="0"/>
              <a:cs typeface="Inter Tight Black" pitchFamily="2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550DE3-B191-26D5-1D16-84FFF53FA320}"/>
              </a:ext>
            </a:extLst>
          </p:cNvPr>
          <p:cNvGrpSpPr/>
          <p:nvPr/>
        </p:nvGrpSpPr>
        <p:grpSpPr>
          <a:xfrm>
            <a:off x="9498872" y="3709666"/>
            <a:ext cx="8059648" cy="1421134"/>
            <a:chOff x="7487396" y="2779220"/>
            <a:chExt cx="4597400" cy="1421134"/>
          </a:xfrm>
        </p:grpSpPr>
        <p:sp>
          <p:nvSpPr>
            <p:cNvPr id="21" name="ResponseCard">
              <a:extLst>
                <a:ext uri="{FF2B5EF4-FFF2-40B4-BE49-F238E27FC236}">
                  <a16:creationId xmlns:a16="http://schemas.microsoft.com/office/drawing/2014/main" id="{58033E86-75A0-24E4-5093-B7A494D2B19C}"/>
                </a:ext>
              </a:extLst>
            </p:cNvPr>
            <p:cNvSpPr/>
            <p:nvPr/>
          </p:nvSpPr>
          <p:spPr>
            <a:xfrm>
              <a:off x="7487396" y="2779220"/>
              <a:ext cx="4597400" cy="1421134"/>
            </a:xfrm>
            <a:prstGeom prst="rect">
              <a:avLst/>
            </a:prstGeom>
            <a:solidFill>
              <a:srgbClr val="F5F7FB"/>
            </a:solidFill>
            <a:ln>
              <a:noFill/>
            </a:ln>
          </p:spPr>
          <p:txBody>
            <a:bodyPr wrap="square" lIns="0" tIns="0" rIns="0" bIns="0" anchor="t"/>
            <a:lstStyle/>
            <a:p>
              <a:endParaRPr lang="en-US"/>
            </a:p>
          </p:txBody>
        </p:sp>
        <p:sp>
          <p:nvSpPr>
            <p:cNvPr id="22" name="ResponseBar">
              <a:extLst>
                <a:ext uri="{FF2B5EF4-FFF2-40B4-BE49-F238E27FC236}">
                  <a16:creationId xmlns:a16="http://schemas.microsoft.com/office/drawing/2014/main" id="{B0F14388-D52C-1D3A-A535-1D1E817469C3}"/>
                </a:ext>
              </a:extLst>
            </p:cNvPr>
            <p:cNvSpPr/>
            <p:nvPr/>
          </p:nvSpPr>
          <p:spPr>
            <a:xfrm>
              <a:off x="7499711" y="2826522"/>
              <a:ext cx="50800" cy="1326529"/>
            </a:xfrm>
            <a:prstGeom prst="rect">
              <a:avLst/>
            </a:prstGeom>
            <a:solidFill>
              <a:srgbClr val="0077B6"/>
            </a:solidFill>
            <a:ln>
              <a:noFill/>
            </a:ln>
          </p:spPr>
          <p:txBody>
            <a:bodyPr wrap="square" lIns="0" tIns="0" rIns="0" bIns="0" anchor="t"/>
            <a:lstStyle/>
            <a:p>
              <a:endParaRPr lang="en-US"/>
            </a:p>
          </p:txBody>
        </p:sp>
        <p:sp>
          <p:nvSpPr>
            <p:cNvPr id="23" name="ResponseBody">
              <a:extLst>
                <a:ext uri="{FF2B5EF4-FFF2-40B4-BE49-F238E27FC236}">
                  <a16:creationId xmlns:a16="http://schemas.microsoft.com/office/drawing/2014/main" id="{2E904E45-67C7-72F1-35A6-7A90D6E7FC20}"/>
                </a:ext>
              </a:extLst>
            </p:cNvPr>
            <p:cNvSpPr/>
            <p:nvPr/>
          </p:nvSpPr>
          <p:spPr>
            <a:xfrm>
              <a:off x="7563596" y="3011282"/>
              <a:ext cx="4521200" cy="9998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ctr">
                <a:lnSpc>
                  <a:spcPct val="135000"/>
                </a:lnSpc>
                <a:spcBef>
                  <a:spcPts val="500"/>
                </a:spcBef>
                <a:spcAft>
                  <a:spcPts val="800"/>
                </a:spcAft>
              </a:pPr>
              <a:r>
                <a:rPr lang="en-US" kern="0" dirty="0">
                  <a:solidFill>
                    <a:srgbClr val="002060"/>
                  </a:solidFill>
                  <a:latin typeface="Inter" pitchFamily="34" charset="0"/>
                  <a:ea typeface="Inter" pitchFamily="34" charset="-122"/>
                </a:rPr>
                <a:t>Suppression of new entrants is a necessary first step for concentration to rise</a:t>
              </a:r>
            </a:p>
            <a:p>
              <a:pPr algn="ctr">
                <a:lnSpc>
                  <a:spcPct val="135000"/>
                </a:lnSpc>
                <a:spcBef>
                  <a:spcPts val="500"/>
                </a:spcBef>
                <a:spcAft>
                  <a:spcPts val="800"/>
                </a:spcAft>
              </a:pPr>
              <a:r>
                <a:rPr lang="en-US" sz="2000" b="1" kern="0" dirty="0">
                  <a:solidFill>
                    <a:srgbClr val="002060"/>
                  </a:solidFill>
                  <a:latin typeface="Inter" pitchFamily="34" charset="0"/>
                  <a:ea typeface="Inter" pitchFamily="34" charset="-122"/>
                </a:rPr>
                <a:t>BUT</a:t>
              </a:r>
              <a:r>
                <a:rPr lang="en-US" sz="2000" kern="0" dirty="0">
                  <a:solidFill>
                    <a:srgbClr val="002060"/>
                  </a:solidFill>
                  <a:latin typeface="Inter" pitchFamily="34" charset="0"/>
                  <a:ea typeface="Inter" pitchFamily="34" charset="-122"/>
                </a:rPr>
                <a:t> the two questions require different identification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CD61A37-DF0E-B431-4789-6E5D063E61A4}"/>
              </a:ext>
            </a:extLst>
          </p:cNvPr>
          <p:cNvSpPr txBox="1"/>
          <p:nvPr/>
        </p:nvSpPr>
        <p:spPr>
          <a:xfrm>
            <a:off x="4533899" y="6783345"/>
            <a:ext cx="9215716" cy="2443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lang="en-US" sz="3800" kern="0" dirty="0">
                <a:solidFill>
                  <a:srgbClr val="00206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· </a:t>
            </a:r>
            <a:r>
              <a:rPr lang="en-US" sz="3800" b="1" kern="0" dirty="0">
                <a:solidFill>
                  <a:srgbClr val="00206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HHI / top-k share </a:t>
            </a:r>
            <a:r>
              <a:rPr lang="en-US" sz="3800" kern="0" dirty="0">
                <a:solidFill>
                  <a:srgbClr val="00206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over incumbent libraries</a:t>
            </a:r>
          </a:p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lang="en-US" sz="3800" kern="0" dirty="0">
                <a:solidFill>
                  <a:srgbClr val="00206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· </a:t>
            </a:r>
            <a:r>
              <a:rPr lang="en-US" sz="3800" b="1" kern="0" dirty="0">
                <a:solidFill>
                  <a:srgbClr val="00206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Event-study</a:t>
            </a:r>
            <a:r>
              <a:rPr lang="en-US" sz="3800" kern="0" dirty="0">
                <a:solidFill>
                  <a:srgbClr val="00206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 around ChatGPT release</a:t>
            </a:r>
          </a:p>
          <a:p>
            <a:pPr algn="ctr">
              <a:lnSpc>
                <a:spcPct val="135000"/>
              </a:lnSpc>
            </a:pPr>
            <a:r>
              <a:rPr lang="en-US" sz="3800" kern="0" dirty="0">
                <a:solidFill>
                  <a:srgbClr val="00206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· Replicated in </a:t>
            </a:r>
            <a:r>
              <a:rPr lang="en-US" sz="3800" b="1" kern="0" dirty="0" err="1">
                <a:solidFill>
                  <a:srgbClr val="00206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npm</a:t>
            </a:r>
            <a:r>
              <a:rPr lang="en-US" sz="3800" b="1" kern="0" dirty="0">
                <a:solidFill>
                  <a:srgbClr val="00206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 / </a:t>
            </a:r>
            <a:r>
              <a:rPr lang="en-US" sz="3800" b="1" kern="0" dirty="0" err="1">
                <a:solidFill>
                  <a:srgbClr val="00206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crates.io</a:t>
            </a:r>
            <a:r>
              <a:rPr lang="en-US" sz="3800" b="1" kern="0" dirty="0">
                <a:solidFill>
                  <a:srgbClr val="00206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 / CRAN</a:t>
            </a:r>
          </a:p>
        </p:txBody>
      </p:sp>
      <p:sp>
        <p:nvSpPr>
          <p:cNvPr id="41" name="TopAccentBar">
            <a:extLst>
              <a:ext uri="{FF2B5EF4-FFF2-40B4-BE49-F238E27FC236}">
                <a16:creationId xmlns:a16="http://schemas.microsoft.com/office/drawing/2014/main" id="{7FA249C0-3D71-A91C-8001-6D867AF3DC38}"/>
              </a:ext>
            </a:extLst>
          </p:cNvPr>
          <p:cNvSpPr/>
          <p:nvPr/>
        </p:nvSpPr>
        <p:spPr>
          <a:xfrm>
            <a:off x="0" y="0"/>
            <a:ext cx="18288000" cy="635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42" name="Title">
            <a:extLst>
              <a:ext uri="{FF2B5EF4-FFF2-40B4-BE49-F238E27FC236}">
                <a16:creationId xmlns:a16="http://schemas.microsoft.com/office/drawing/2014/main" id="{CBE4EDCC-B462-B822-8215-7D48EAC9D480}"/>
              </a:ext>
            </a:extLst>
          </p:cNvPr>
          <p:cNvSpPr/>
          <p:nvPr/>
        </p:nvSpPr>
        <p:spPr>
          <a:xfrm>
            <a:off x="952500" y="605863"/>
            <a:ext cx="16383000" cy="977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4800" kern="0" spc="-22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Beyond the cutoff – Possible extensions </a:t>
            </a:r>
          </a:p>
        </p:txBody>
      </p:sp>
      <p:sp>
        <p:nvSpPr>
          <p:cNvPr id="43" name="AccentRule">
            <a:extLst>
              <a:ext uri="{FF2B5EF4-FFF2-40B4-BE49-F238E27FC236}">
                <a16:creationId xmlns:a16="http://schemas.microsoft.com/office/drawing/2014/main" id="{5DF6EF37-D8E7-F2C1-6BEC-A30666D48021}"/>
              </a:ext>
            </a:extLst>
          </p:cNvPr>
          <p:cNvSpPr/>
          <p:nvPr/>
        </p:nvSpPr>
        <p:spPr>
          <a:xfrm>
            <a:off x="952500" y="1384300"/>
            <a:ext cx="685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437D05B-BC8D-AD82-B211-85340391241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973550" y="605863"/>
            <a:ext cx="723900" cy="723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379D72-431F-5C5B-422C-B3023EEBBE91}"/>
              </a:ext>
            </a:extLst>
          </p:cNvPr>
          <p:cNvSpPr txBox="1"/>
          <p:nvPr/>
        </p:nvSpPr>
        <p:spPr>
          <a:xfrm>
            <a:off x="952500" y="3961164"/>
            <a:ext cx="8013007" cy="91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900" kern="0" dirty="0">
                <a:solidFill>
                  <a:srgbClr val="00206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This paper estimates: </a:t>
            </a:r>
            <a:r>
              <a:rPr lang="en-US" sz="1900" b="1" kern="0" dirty="0">
                <a:solidFill>
                  <a:srgbClr val="002060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are post-cutoff entrants suppressed?</a:t>
            </a:r>
          </a:p>
          <a:p>
            <a:pPr algn="ctr">
              <a:lnSpc>
                <a:spcPct val="150000"/>
              </a:lnSpc>
            </a:pPr>
            <a:r>
              <a:rPr lang="en-US" sz="1900" kern="0" dirty="0">
                <a:solidFill>
                  <a:srgbClr val="00206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It does not estimate whether incumbent concentration rises after ChatGPT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887845-9F2D-D812-7B62-7CF620C7A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11">
            <a:extLst>
              <a:ext uri="{FF2B5EF4-FFF2-40B4-BE49-F238E27FC236}">
                <a16:creationId xmlns:a16="http://schemas.microsoft.com/office/drawing/2014/main" id="{CC8BF33B-7062-4D45-8963-5BB08BAB4A2F}"/>
              </a:ext>
            </a:extLst>
          </p:cNvPr>
          <p:cNvSpPr/>
          <p:nvPr/>
        </p:nvSpPr>
        <p:spPr>
          <a:xfrm>
            <a:off x="4217141" y="1475718"/>
            <a:ext cx="9853719" cy="2038734"/>
          </a:xfrm>
          <a:prstGeom prst="roundRect">
            <a:avLst>
              <a:gd name="adj" fmla="val 2778"/>
            </a:avLst>
          </a:prstGeom>
          <a:solidFill>
            <a:srgbClr val="03045E"/>
          </a:solidFill>
          <a:ln/>
        </p:spPr>
        <p:txBody>
          <a:bodyPr/>
          <a:lstStyle/>
          <a:p>
            <a:endParaRPr lang="en-US" dirty="0">
              <a:solidFill>
                <a:srgbClr val="03045E"/>
              </a:solidFill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07F6BC6A-1864-9F3B-C38D-DA4A71BD65F4}"/>
              </a:ext>
            </a:extLst>
          </p:cNvPr>
          <p:cNvSpPr/>
          <p:nvPr/>
        </p:nvSpPr>
        <p:spPr>
          <a:xfrm>
            <a:off x="4404705" y="1585971"/>
            <a:ext cx="5362185" cy="188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216" dirty="0">
                <a:solidFill>
                  <a:srgbClr val="0077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REVIEWERS’ QUESTION</a:t>
            </a:r>
            <a:endParaRPr lang="en-US" sz="2800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681E1CBC-6D89-C123-1BEF-73A6E7C27CB5}"/>
              </a:ext>
            </a:extLst>
          </p:cNvPr>
          <p:cNvSpPr/>
          <p:nvPr/>
        </p:nvSpPr>
        <p:spPr>
          <a:xfrm>
            <a:off x="4217140" y="2145524"/>
            <a:ext cx="9853719" cy="844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>
              <a:lnSpc>
                <a:spcPct val="140000"/>
              </a:lnSpc>
              <a:spcAft>
                <a:spcPts val="900"/>
              </a:spcAft>
            </a:pPr>
            <a:r>
              <a:rPr lang="en-US" sz="240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</a:rPr>
              <a:t>Do LLMs amplify concentration toward already-popular libraries?</a:t>
            </a: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E7812226-B618-713E-A2C2-CACEF33402E5}"/>
              </a:ext>
            </a:extLst>
          </p:cNvPr>
          <p:cNvSpPr/>
          <p:nvPr/>
        </p:nvSpPr>
        <p:spPr>
          <a:xfrm>
            <a:off x="4217141" y="2708206"/>
            <a:ext cx="9853718" cy="354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800"/>
              </a:spcBef>
              <a:spcAft>
                <a:spcPts val="500"/>
              </a:spcAft>
            </a:pPr>
            <a:r>
              <a:rPr lang="en-US" sz="2400" i="1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</a:rPr>
              <a:t>LLMs may simply boost preferential attachment for incumbents</a:t>
            </a:r>
          </a:p>
        </p:txBody>
      </p:sp>
      <p:pic>
        <p:nvPicPr>
          <p:cNvPr id="13" name="Graphic 20" descr="Research target">
            <a:extLst>
              <a:ext uri="{FF2B5EF4-FFF2-40B4-BE49-F238E27FC236}">
                <a16:creationId xmlns:a16="http://schemas.microsoft.com/office/drawing/2014/main" id="{B955761A-695E-E4FF-B5C1-36733E4005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50374" y="1474392"/>
            <a:ext cx="598481" cy="59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58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B0935-EA0B-15D5-8A94-72F05D24F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23">
            <a:extLst>
              <a:ext uri="{FF2B5EF4-FFF2-40B4-BE49-F238E27FC236}">
                <a16:creationId xmlns:a16="http://schemas.microsoft.com/office/drawing/2014/main" id="{4DE987F2-3084-EA3B-7336-A5D6574A0788}"/>
              </a:ext>
            </a:extLst>
          </p:cNvPr>
          <p:cNvSpPr/>
          <p:nvPr/>
        </p:nvSpPr>
        <p:spPr>
          <a:xfrm>
            <a:off x="7130481" y="3122331"/>
            <a:ext cx="9350545" cy="1144500"/>
          </a:xfrm>
          <a:prstGeom prst="roundRect">
            <a:avLst>
              <a:gd name="adj" fmla="val 223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18AE764-0F43-1FE1-5781-56A5C2DD68EF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106E41-C2F0-EE09-7134-3F5EA0A8D2EA}"/>
              </a:ext>
            </a:extLst>
          </p:cNvPr>
          <p:cNvSpPr/>
          <p:nvPr/>
        </p:nvSpPr>
        <p:spPr>
          <a:xfrm>
            <a:off x="952499" y="571500"/>
            <a:ext cx="401394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36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D42581-79BD-2341-7864-8A756BFDF248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747052C-5A44-F7BB-12C4-60B72EE51159}"/>
              </a:ext>
            </a:extLst>
          </p:cNvPr>
          <p:cNvSpPr/>
          <p:nvPr/>
        </p:nvSpPr>
        <p:spPr>
          <a:xfrm>
            <a:off x="952499" y="1565275"/>
            <a:ext cx="13230861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kern="0" spc="324" dirty="0">
                <a:solidFill>
                  <a:srgbClr val="0077B6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POST-CHATGPT DOWNLOAD PENALTY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1C60114-F1FD-8DCA-6F7B-8CA904A818E9}"/>
              </a:ext>
            </a:extLst>
          </p:cNvPr>
          <p:cNvSpPr/>
          <p:nvPr/>
        </p:nvSpPr>
        <p:spPr>
          <a:xfrm>
            <a:off x="952500" y="5348768"/>
            <a:ext cx="16383000" cy="871538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9A6C2C3-04EE-871F-D3C7-317AB52DE5F0}"/>
              </a:ext>
            </a:extLst>
          </p:cNvPr>
          <p:cNvSpPr/>
          <p:nvPr/>
        </p:nvSpPr>
        <p:spPr>
          <a:xfrm>
            <a:off x="952500" y="5348768"/>
            <a:ext cx="47625" cy="87153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48DC50E-CEB2-F757-C0DB-9A17B88E30B2}"/>
              </a:ext>
            </a:extLst>
          </p:cNvPr>
          <p:cNvSpPr/>
          <p:nvPr/>
        </p:nvSpPr>
        <p:spPr>
          <a:xfrm>
            <a:off x="1304925" y="5468513"/>
            <a:ext cx="4191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0077B6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C298E9B-F81B-6E74-5598-644D86E72A27}"/>
              </a:ext>
            </a:extLst>
          </p:cNvPr>
          <p:cNvSpPr/>
          <p:nvPr/>
        </p:nvSpPr>
        <p:spPr>
          <a:xfrm>
            <a:off x="952500" y="6718326"/>
            <a:ext cx="16383000" cy="871538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ABE0D0D-23D9-2BAA-D372-96126506D5DC}"/>
              </a:ext>
            </a:extLst>
          </p:cNvPr>
          <p:cNvSpPr/>
          <p:nvPr/>
        </p:nvSpPr>
        <p:spPr>
          <a:xfrm>
            <a:off x="952500" y="6718326"/>
            <a:ext cx="47625" cy="87153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0C417B6-D464-304B-4AB7-167B34E76BC2}"/>
              </a:ext>
            </a:extLst>
          </p:cNvPr>
          <p:cNvSpPr/>
          <p:nvPr/>
        </p:nvSpPr>
        <p:spPr>
          <a:xfrm>
            <a:off x="1304925" y="6838071"/>
            <a:ext cx="4191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0077B6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99B3723-C818-65A4-0666-48151080E4AE}"/>
              </a:ext>
            </a:extLst>
          </p:cNvPr>
          <p:cNvSpPr/>
          <p:nvPr/>
        </p:nvSpPr>
        <p:spPr>
          <a:xfrm>
            <a:off x="952499" y="8087884"/>
            <a:ext cx="16383000" cy="871538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088E29D-3EDF-8A1B-B90C-58F607C230CF}"/>
              </a:ext>
            </a:extLst>
          </p:cNvPr>
          <p:cNvSpPr/>
          <p:nvPr/>
        </p:nvSpPr>
        <p:spPr>
          <a:xfrm>
            <a:off x="1257299" y="8207629"/>
            <a:ext cx="4191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00B4D8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→</a:t>
            </a:r>
            <a:endParaRPr lang="en-US" sz="36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9832D81-3ECF-FE32-5056-9E0A18A06CA2}"/>
              </a:ext>
            </a:extLst>
          </p:cNvPr>
          <p:cNvSpPr/>
          <p:nvPr/>
        </p:nvSpPr>
        <p:spPr>
          <a:xfrm>
            <a:off x="1885949" y="8274301"/>
            <a:ext cx="11160786" cy="881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3200" b="1" dirty="0">
                <a:solidFill>
                  <a:srgbClr val="0096C7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Knowledge Wall </a:t>
            </a:r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is persistent and compounding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83C24F0-CFDF-4584-D628-3822ACA38AB8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6D2C81B-CB49-0E19-C189-74DE8104F26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019648" y="611071"/>
            <a:ext cx="730482" cy="730482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832DC41D-C373-1E63-A8ED-ABDE122C91DB}"/>
              </a:ext>
            </a:extLst>
          </p:cNvPr>
          <p:cNvSpPr/>
          <p:nvPr/>
        </p:nvSpPr>
        <p:spPr>
          <a:xfrm>
            <a:off x="952500" y="3122331"/>
            <a:ext cx="6018818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500" kern="0" spc="-900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~</a:t>
            </a:r>
            <a:endParaRPr lang="en-US" sz="225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B45E4B-13DB-DC01-0176-6B7B8F6D380F}"/>
              </a:ext>
            </a:extLst>
          </p:cNvPr>
          <p:cNvSpPr txBox="1"/>
          <p:nvPr/>
        </p:nvSpPr>
        <p:spPr>
          <a:xfrm>
            <a:off x="2246918" y="2113450"/>
            <a:ext cx="94488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800" kern="0" spc="-900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</a:rPr>
              <a:t>-7%</a:t>
            </a:r>
            <a:endParaRPr lang="en-US" sz="20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C89BBB-9E31-D912-D325-3623D15098B0}"/>
              </a:ext>
            </a:extLst>
          </p:cNvPr>
          <p:cNvSpPr txBox="1"/>
          <p:nvPr/>
        </p:nvSpPr>
        <p:spPr>
          <a:xfrm>
            <a:off x="7130481" y="3236751"/>
            <a:ext cx="9350545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i="1" dirty="0">
                <a:solidFill>
                  <a:srgbClr val="03045E"/>
                </a:solidFill>
                <a:latin typeface="Inter Tight Bold" pitchFamily="2" charset="0"/>
                <a:ea typeface="Inter Tight Bold" pitchFamily="2" charset="0"/>
                <a:cs typeface="Inter Tight Bold" pitchFamily="2" charset="0"/>
              </a:rPr>
              <a:t>· Diff-in-RDD, baseline-adjusted</a:t>
            </a:r>
          </a:p>
          <a:p>
            <a:pPr>
              <a:lnSpc>
                <a:spcPct val="150000"/>
              </a:lnSpc>
            </a:pPr>
            <a:r>
              <a:rPr lang="en-US" b="1" i="1" dirty="0">
                <a:solidFill>
                  <a:srgbClr val="03045E"/>
                </a:solidFill>
                <a:latin typeface="Inter Tight Bold" pitchFamily="2" charset="0"/>
                <a:ea typeface="Inter Tight Bold" pitchFamily="2" charset="0"/>
                <a:cs typeface="Inter Tight Bold" pitchFamily="2" charset="0"/>
              </a:rPr>
              <a:t>· Local effect at the Sept 2021 boundary, not an ecosystem-wide LLM impact estimate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7FBBB3-1A5A-71AC-520A-DE40DCDC7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38FF45D-BB46-8B3C-5DE3-7C32908D4B04}"/>
              </a:ext>
            </a:extLst>
          </p:cNvPr>
          <p:cNvSpPr txBox="1"/>
          <p:nvPr/>
        </p:nvSpPr>
        <p:spPr>
          <a:xfrm>
            <a:off x="1933574" y="5515604"/>
            <a:ext cx="16382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gap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</a:t>
            </a: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dormant before 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ChatGPT, </a:t>
            </a: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activates after 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 2022, </a:t>
            </a: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no catch-up 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 Jan 2026</a:t>
            </a:r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C2B3452A-ED1D-5005-C9BF-92AEE952A01F}"/>
              </a:ext>
            </a:extLst>
          </p:cNvPr>
          <p:cNvSpPr/>
          <p:nvPr/>
        </p:nvSpPr>
        <p:spPr>
          <a:xfrm>
            <a:off x="1933574" y="6909505"/>
            <a:ext cx="15049501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Mechanism signature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opposite signs across the two datasets - flow down, stock up</a:t>
            </a:r>
          </a:p>
        </p:txBody>
      </p:sp>
    </p:spTree>
    <p:extLst>
      <p:ext uri="{BB962C8B-B14F-4D97-AF65-F5344CB8AC3E}">
        <p14:creationId xmlns:p14="http://schemas.microsoft.com/office/powerpoint/2010/main" val="590769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A48C269F-416F-2E5A-D8C2-FF795D6CD83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2886"/>
          <a:stretch>
            <a:fillRect/>
          </a:stretch>
        </p:blipFill>
        <p:spPr>
          <a:xfrm>
            <a:off x="-1" y="74644"/>
            <a:ext cx="18294341" cy="1011438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022C75D-28AB-FA7D-485F-0FCDEB72D3BF}"/>
              </a:ext>
            </a:extLst>
          </p:cNvPr>
          <p:cNvSpPr txBox="1"/>
          <p:nvPr/>
        </p:nvSpPr>
        <p:spPr>
          <a:xfrm>
            <a:off x="4572000" y="2430609"/>
            <a:ext cx="9144000" cy="5425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4400" kern="0" spc="-36" dirty="0">
                <a:solidFill>
                  <a:srgbClr val="FF0000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?</a:t>
            </a:r>
            <a:endParaRPr lang="en-US" sz="3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377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245B0-9F9D-D84C-9784-0A75B39E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BE265A-BF29-F0E1-8C4C-F324A3549627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D79E74-E4D2-8C61-EE69-AD0FD6A0BA4A}"/>
              </a:ext>
            </a:extLst>
          </p:cNvPr>
          <p:cNvSpPr/>
          <p:nvPr/>
        </p:nvSpPr>
        <p:spPr>
          <a:xfrm>
            <a:off x="952499" y="571500"/>
            <a:ext cx="1074321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36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Issue 1 – What triggered my concern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718E2A2-A7E8-8AE5-7D50-050E2473FD3F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11F7F72-EDF2-06C6-A868-7EAF2051016C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08FC0-5063-1EB9-FED5-1AAD704D5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4806" y="609345"/>
            <a:ext cx="733933" cy="733933"/>
          </a:xfrm>
          <a:prstGeom prst="rect">
            <a:avLst/>
          </a:prstGeom>
        </p:spPr>
      </p:pic>
      <p:pic>
        <p:nvPicPr>
          <p:cNvPr id="6" name="Picture 5" descr="A graph with blue and orange dots&#10;&#10;AI-generated content may be incorrect.">
            <a:extLst>
              <a:ext uri="{FF2B5EF4-FFF2-40B4-BE49-F238E27FC236}">
                <a16:creationId xmlns:a16="http://schemas.microsoft.com/office/drawing/2014/main" id="{0ECB9ED7-9596-3CA3-75A9-B56BCE896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58" y="2778125"/>
            <a:ext cx="8947150" cy="53682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graph showing the different levels of the same type of tax&#10;&#10;AI-generated content may be incorrect.">
            <a:extLst>
              <a:ext uri="{FF2B5EF4-FFF2-40B4-BE49-F238E27FC236}">
                <a16:creationId xmlns:a16="http://schemas.microsoft.com/office/drawing/2014/main" id="{310286C2-5C66-2219-DEC1-0C0581076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2396" y="2079798"/>
            <a:ext cx="7752746" cy="67649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0B364AFB-9F1B-2988-CA5E-94A36AD3320A}"/>
              </a:ext>
            </a:extLst>
          </p:cNvPr>
          <p:cNvSpPr/>
          <p:nvPr/>
        </p:nvSpPr>
        <p:spPr>
          <a:xfrm>
            <a:off x="2084832" y="6377478"/>
            <a:ext cx="1078992" cy="101087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218A9A-47F6-736A-AD8E-BE0316E03A87}"/>
              </a:ext>
            </a:extLst>
          </p:cNvPr>
          <p:cNvSpPr txBox="1"/>
          <p:nvPr/>
        </p:nvSpPr>
        <p:spPr>
          <a:xfrm>
            <a:off x="2267712" y="4904457"/>
            <a:ext cx="1042416" cy="1115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6600" kern="0" spc="-36" dirty="0">
                <a:solidFill>
                  <a:srgbClr val="FF0000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?</a:t>
            </a:r>
            <a:endParaRPr lang="en-US" sz="66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7F0D12-E697-F378-3E80-E5B5272DB74A}"/>
              </a:ext>
            </a:extLst>
          </p:cNvPr>
          <p:cNvSpPr txBox="1"/>
          <p:nvPr/>
        </p:nvSpPr>
        <p:spPr>
          <a:xfrm>
            <a:off x="15882390" y="2778125"/>
            <a:ext cx="1042416" cy="1115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6600" kern="0" spc="-36" dirty="0">
                <a:solidFill>
                  <a:srgbClr val="FF0000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?</a:t>
            </a:r>
            <a:endParaRPr lang="en-US" sz="6600" dirty="0">
              <a:solidFill>
                <a:srgbClr val="FF0000"/>
              </a:solidFill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F02F3C5-EB2D-3DEC-779A-8B46C8509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9444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57814-24FC-D735-553E-34F4EE912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CB89D7-7DA5-7561-C616-830BDD61A23E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3A4E01-99B0-2D88-CFF4-DCB4A3E8F7F2}"/>
              </a:ext>
            </a:extLst>
          </p:cNvPr>
          <p:cNvSpPr/>
          <p:nvPr/>
        </p:nvSpPr>
        <p:spPr>
          <a:xfrm>
            <a:off x="952499" y="571500"/>
            <a:ext cx="1247663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36" dirty="0">
                <a:solidFill>
                  <a:srgbClr val="03045E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  <a:cs typeface="Source Serif 4 14pt Black" pitchFamily="34" charset="-120"/>
              </a:rPr>
              <a:t>Issue 1 – The spike-bin sensitivity check</a:t>
            </a:r>
            <a:endParaRPr lang="en-US" sz="4800" dirty="0">
              <a:latin typeface="Source Serif 4 14pt Medium" panose="02040603050405020204" pitchFamily="18" charset="0"/>
              <a:ea typeface="Source Serif 4 14pt Medium" panose="0204060305040502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D113328-90DD-DB14-5ACE-BE6FEA74A894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70B6E89-9979-369D-8741-43C1C0539955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6E3B2C-3AAD-23D8-824D-8B27D9E63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4806" y="609345"/>
            <a:ext cx="733933" cy="73393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39DF7F9-1496-3271-6F6A-E91C28302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4202" y="1559156"/>
            <a:ext cx="11899595" cy="8156344"/>
          </a:xfrm>
          <a:prstGeom prst="rect">
            <a:avLst/>
          </a:prstGeom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78C1B55D-5FC5-4F4B-2C13-D45815BED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822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CD5BE-81B1-2E05-9E6C-FB0929ABE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DD5FED-AEA1-BEDA-B7B3-E7641DEF9CB7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0AF969-0BA1-24C1-D00B-274CCA9BDFDB}"/>
              </a:ext>
            </a:extLst>
          </p:cNvPr>
          <p:cNvSpPr/>
          <p:nvPr/>
        </p:nvSpPr>
        <p:spPr>
          <a:xfrm>
            <a:off x="952499" y="571500"/>
            <a:ext cx="1655912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4800" kern="0" spc="-36" dirty="0">
                <a:solidFill>
                  <a:srgbClr val="03045E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  <a:cs typeface="Source Serif 4 14pt Black" pitchFamily="34" charset="-120"/>
              </a:rPr>
              <a:t>Issue 2 – </a:t>
            </a:r>
            <a:r>
              <a:rPr lang="en-US" sz="4800" kern="0" spc="-36" dirty="0" err="1">
                <a:solidFill>
                  <a:srgbClr val="03045E"/>
                </a:solidFill>
                <a:latin typeface="JetBrains Mono" panose="02000009000000000000" pitchFamily="49" charset="0"/>
                <a:ea typeface="Source Serif 4 14pt Medium" panose="02040603050405020204" pitchFamily="18" charset="0"/>
                <a:cs typeface="JetBrains Mono" panose="02000009000000000000" pitchFamily="49" charset="0"/>
              </a:rPr>
              <a:t>mdurl</a:t>
            </a:r>
            <a:r>
              <a:rPr lang="en-US" sz="4800" kern="0" spc="-36" dirty="0">
                <a:solidFill>
                  <a:srgbClr val="03045E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  <a:cs typeface="Source Serif 4 14pt Black" pitchFamily="34" charset="-120"/>
              </a:rPr>
              <a:t>, a single outlier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A9EEA71-04B6-E15F-D1AB-F02E730F6A01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D8167CE-CF50-BC5D-D593-982765E0FA02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920DA7-6689-D69B-05C6-7C5E63FB3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4806" y="609345"/>
            <a:ext cx="733933" cy="733933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F1D9135D-3579-DE0B-8E40-A78077406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A61DBF-A99D-6026-44A3-86F73B988B1B}"/>
              </a:ext>
            </a:extLst>
          </p:cNvPr>
          <p:cNvSpPr txBox="1"/>
          <p:nvPr/>
        </p:nvSpPr>
        <p:spPr>
          <a:xfrm>
            <a:off x="4360479" y="8725691"/>
            <a:ext cx="1127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i="1" dirty="0">
                <a:solidFill>
                  <a:srgbClr val="002060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Cumulative post-AI download differences between pre- and post-cutoff cohorts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CF8CDF-A208-B1C1-168D-5C7B68A14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58" y="1875152"/>
            <a:ext cx="15629406" cy="65366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19858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C3F20-E65C-6719-EACD-C3CF18EFD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23">
            <a:extLst>
              <a:ext uri="{FF2B5EF4-FFF2-40B4-BE49-F238E27FC236}">
                <a16:creationId xmlns:a16="http://schemas.microsoft.com/office/drawing/2014/main" id="{F429ABB7-024F-12EC-A93C-752316EF8FDC}"/>
              </a:ext>
            </a:extLst>
          </p:cNvPr>
          <p:cNvSpPr/>
          <p:nvPr/>
        </p:nvSpPr>
        <p:spPr>
          <a:xfrm>
            <a:off x="7130481" y="3122331"/>
            <a:ext cx="9350545" cy="1144500"/>
          </a:xfrm>
          <a:prstGeom prst="roundRect">
            <a:avLst>
              <a:gd name="adj" fmla="val 223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3E5C89A-D36D-BD2B-BDAF-A4035DFBF164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33E378-7820-AEAA-3937-9F31C801EB62}"/>
              </a:ext>
            </a:extLst>
          </p:cNvPr>
          <p:cNvSpPr/>
          <p:nvPr/>
        </p:nvSpPr>
        <p:spPr>
          <a:xfrm>
            <a:off x="952499" y="571500"/>
            <a:ext cx="401394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36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22348BA-54BD-4D86-1215-2F2E09EB09A0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E6968FE-F80F-1A8A-36BB-AEC667A9153D}"/>
              </a:ext>
            </a:extLst>
          </p:cNvPr>
          <p:cNvSpPr/>
          <p:nvPr/>
        </p:nvSpPr>
        <p:spPr>
          <a:xfrm>
            <a:off x="952499" y="1565275"/>
            <a:ext cx="13230861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kern="0" spc="324" dirty="0">
                <a:solidFill>
                  <a:srgbClr val="0077B6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POST-CHATGPT DOWNLOAD PENALTY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5C2F323-591C-72A4-D21E-F56641B27E23}"/>
              </a:ext>
            </a:extLst>
          </p:cNvPr>
          <p:cNvSpPr/>
          <p:nvPr/>
        </p:nvSpPr>
        <p:spPr>
          <a:xfrm>
            <a:off x="952500" y="5348768"/>
            <a:ext cx="16383000" cy="871538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9B1F1F0-13E4-9FBF-0C08-C1A7981353CE}"/>
              </a:ext>
            </a:extLst>
          </p:cNvPr>
          <p:cNvSpPr/>
          <p:nvPr/>
        </p:nvSpPr>
        <p:spPr>
          <a:xfrm>
            <a:off x="952500" y="5348768"/>
            <a:ext cx="47625" cy="87153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A1A9B67-EF56-A5E3-01DE-CCC5DF06B760}"/>
              </a:ext>
            </a:extLst>
          </p:cNvPr>
          <p:cNvSpPr/>
          <p:nvPr/>
        </p:nvSpPr>
        <p:spPr>
          <a:xfrm>
            <a:off x="1304925" y="5468513"/>
            <a:ext cx="4191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0077B6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7890584-9491-889B-4175-CF60A37938C2}"/>
              </a:ext>
            </a:extLst>
          </p:cNvPr>
          <p:cNvSpPr/>
          <p:nvPr/>
        </p:nvSpPr>
        <p:spPr>
          <a:xfrm>
            <a:off x="952500" y="6718326"/>
            <a:ext cx="16383000" cy="871538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DC814A0-EE42-97F2-5676-33C5C04F1C7E}"/>
              </a:ext>
            </a:extLst>
          </p:cNvPr>
          <p:cNvSpPr/>
          <p:nvPr/>
        </p:nvSpPr>
        <p:spPr>
          <a:xfrm>
            <a:off x="952500" y="6718326"/>
            <a:ext cx="47625" cy="87153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2A4186C-D7B6-9CE8-63DC-57E647D4D51E}"/>
              </a:ext>
            </a:extLst>
          </p:cNvPr>
          <p:cNvSpPr/>
          <p:nvPr/>
        </p:nvSpPr>
        <p:spPr>
          <a:xfrm>
            <a:off x="1304925" y="6838071"/>
            <a:ext cx="4191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0077B6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8463A62F-FF53-6FE4-CD5E-E5A90F359E94}"/>
              </a:ext>
            </a:extLst>
          </p:cNvPr>
          <p:cNvSpPr/>
          <p:nvPr/>
        </p:nvSpPr>
        <p:spPr>
          <a:xfrm>
            <a:off x="952499" y="8087884"/>
            <a:ext cx="16383000" cy="871538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93481EE-5B14-C591-43E5-AC26EB3C300E}"/>
              </a:ext>
            </a:extLst>
          </p:cNvPr>
          <p:cNvSpPr/>
          <p:nvPr/>
        </p:nvSpPr>
        <p:spPr>
          <a:xfrm>
            <a:off x="1257299" y="8207629"/>
            <a:ext cx="4191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00B4D8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→</a:t>
            </a:r>
            <a:endParaRPr lang="en-US" sz="36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7D4D2B3-A81E-DA9B-CCC3-D810B3612D84}"/>
              </a:ext>
            </a:extLst>
          </p:cNvPr>
          <p:cNvSpPr/>
          <p:nvPr/>
        </p:nvSpPr>
        <p:spPr>
          <a:xfrm>
            <a:off x="1885949" y="8274301"/>
            <a:ext cx="11160786" cy="881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3200" b="1" dirty="0">
                <a:solidFill>
                  <a:srgbClr val="0096C7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Knowledge Wall </a:t>
            </a:r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is persistent and compounding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E7850E7-C9D7-22F4-EC0A-F4A100B0A029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64D385B-A98A-AE37-20AD-320F22B0E6B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019648" y="611071"/>
            <a:ext cx="730482" cy="730482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510E4E86-AF71-D40E-942A-47A44F88270F}"/>
              </a:ext>
            </a:extLst>
          </p:cNvPr>
          <p:cNvSpPr/>
          <p:nvPr/>
        </p:nvSpPr>
        <p:spPr>
          <a:xfrm>
            <a:off x="952500" y="3122331"/>
            <a:ext cx="6018818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500" kern="0" spc="-900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~</a:t>
            </a:r>
            <a:endParaRPr lang="en-US" sz="225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858B9D-5B0B-27CD-245E-E9702A54C1FF}"/>
              </a:ext>
            </a:extLst>
          </p:cNvPr>
          <p:cNvSpPr txBox="1"/>
          <p:nvPr/>
        </p:nvSpPr>
        <p:spPr>
          <a:xfrm>
            <a:off x="2246918" y="2113450"/>
            <a:ext cx="94488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800" kern="0" spc="-900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</a:rPr>
              <a:t>-7%</a:t>
            </a:r>
            <a:endParaRPr lang="en-US" sz="20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09A666-F5F5-B14D-8352-93DB8605165A}"/>
              </a:ext>
            </a:extLst>
          </p:cNvPr>
          <p:cNvSpPr txBox="1"/>
          <p:nvPr/>
        </p:nvSpPr>
        <p:spPr>
          <a:xfrm>
            <a:off x="7130481" y="3236751"/>
            <a:ext cx="9350545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i="1" dirty="0">
                <a:solidFill>
                  <a:srgbClr val="03045E"/>
                </a:solidFill>
                <a:latin typeface="Inter Tight Bold" pitchFamily="2" charset="0"/>
                <a:ea typeface="Inter Tight Bold" pitchFamily="2" charset="0"/>
                <a:cs typeface="Inter Tight Bold" pitchFamily="2" charset="0"/>
              </a:rPr>
              <a:t>· Diff-in-RDD, baseline-adjusted</a:t>
            </a:r>
          </a:p>
          <a:p>
            <a:pPr>
              <a:lnSpc>
                <a:spcPct val="150000"/>
              </a:lnSpc>
            </a:pPr>
            <a:r>
              <a:rPr lang="en-US" b="1" i="1" dirty="0">
                <a:solidFill>
                  <a:srgbClr val="03045E"/>
                </a:solidFill>
                <a:latin typeface="Inter Tight Bold" pitchFamily="2" charset="0"/>
                <a:ea typeface="Inter Tight Bold" pitchFamily="2" charset="0"/>
                <a:cs typeface="Inter Tight Bold" pitchFamily="2" charset="0"/>
              </a:rPr>
              <a:t>· Local effect at the Sept 2021 boundary, not an ecosystem-wide LLM impact estimate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C5C1122-7C27-E309-4268-F387ED3BC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C0C7D29-0407-0FEE-430E-95D92EDD4E80}"/>
              </a:ext>
            </a:extLst>
          </p:cNvPr>
          <p:cNvSpPr txBox="1"/>
          <p:nvPr/>
        </p:nvSpPr>
        <p:spPr>
          <a:xfrm>
            <a:off x="1933574" y="5515604"/>
            <a:ext cx="16382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gap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</a:t>
            </a: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dormant before 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ChatGPT, </a:t>
            </a: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activates after 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 2022, </a:t>
            </a: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no catch-up 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 Jan 2026</a:t>
            </a:r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F4310445-4918-67D1-DE6B-B6B02F2253CD}"/>
              </a:ext>
            </a:extLst>
          </p:cNvPr>
          <p:cNvSpPr/>
          <p:nvPr/>
        </p:nvSpPr>
        <p:spPr>
          <a:xfrm>
            <a:off x="1933574" y="6909505"/>
            <a:ext cx="15049501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Mechanism signature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opposite signs across the two datasets - flow down, stock up</a:t>
            </a:r>
          </a:p>
        </p:txBody>
      </p:sp>
    </p:spTree>
    <p:extLst>
      <p:ext uri="{BB962C8B-B14F-4D97-AF65-F5344CB8AC3E}">
        <p14:creationId xmlns:p14="http://schemas.microsoft.com/office/powerpoint/2010/main" val="3793906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84912-FE99-3CE5-75B4-7321B8D92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FE2D21-CA12-9ECF-3BD5-28A8BD3FB58E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81B151-102D-25BF-176B-1DADACEDF452}"/>
              </a:ext>
            </a:extLst>
          </p:cNvPr>
          <p:cNvSpPr/>
          <p:nvPr/>
        </p:nvSpPr>
        <p:spPr>
          <a:xfrm>
            <a:off x="3194258" y="571500"/>
            <a:ext cx="986790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4800" kern="0" spc="-36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</a:rPr>
              <a:t>Conclusion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1752679-6913-5CA7-6EED-954BB4EB4478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C3680CC-0339-5360-2A62-42ED4192531C}"/>
              </a:ext>
            </a:extLst>
          </p:cNvPr>
          <p:cNvSpPr/>
          <p:nvPr/>
        </p:nvSpPr>
        <p:spPr>
          <a:xfrm>
            <a:off x="4580595" y="1563639"/>
            <a:ext cx="11488381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4200" kern="0" spc="324" dirty="0">
                <a:solidFill>
                  <a:srgbClr val="0077B6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  <a:cs typeface="Source Serif 4 14pt Black" pitchFamily="34" charset="-120"/>
              </a:rPr>
              <a:t>POST-CHATGPT DOWNLOAD PENALTY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03F4550-CE41-E59F-5829-E395B9692FAD}"/>
              </a:ext>
            </a:extLst>
          </p:cNvPr>
          <p:cNvSpPr/>
          <p:nvPr/>
        </p:nvSpPr>
        <p:spPr>
          <a:xfrm>
            <a:off x="952500" y="5348768"/>
            <a:ext cx="16383000" cy="871538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978D43B-8B69-251C-59B9-9A38D74F2DA3}"/>
              </a:ext>
            </a:extLst>
          </p:cNvPr>
          <p:cNvSpPr/>
          <p:nvPr/>
        </p:nvSpPr>
        <p:spPr>
          <a:xfrm>
            <a:off x="952500" y="5348768"/>
            <a:ext cx="47625" cy="87153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09BDCFD-07CD-B6C1-EAE0-F42D0E8791B3}"/>
              </a:ext>
            </a:extLst>
          </p:cNvPr>
          <p:cNvSpPr/>
          <p:nvPr/>
        </p:nvSpPr>
        <p:spPr>
          <a:xfrm>
            <a:off x="1304925" y="5468513"/>
            <a:ext cx="4191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0077B6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18A3CCC-6EAE-502B-05BA-B8421FC35D84}"/>
              </a:ext>
            </a:extLst>
          </p:cNvPr>
          <p:cNvSpPr/>
          <p:nvPr/>
        </p:nvSpPr>
        <p:spPr>
          <a:xfrm>
            <a:off x="952500" y="6718326"/>
            <a:ext cx="16383000" cy="871538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6AAC4A0-A161-AD9B-B360-6E7D1D55B38C}"/>
              </a:ext>
            </a:extLst>
          </p:cNvPr>
          <p:cNvSpPr/>
          <p:nvPr/>
        </p:nvSpPr>
        <p:spPr>
          <a:xfrm>
            <a:off x="952500" y="6718326"/>
            <a:ext cx="47625" cy="87153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FF2F961-4B6B-C2E1-2688-204071BFDEEF}"/>
              </a:ext>
            </a:extLst>
          </p:cNvPr>
          <p:cNvSpPr/>
          <p:nvPr/>
        </p:nvSpPr>
        <p:spPr>
          <a:xfrm>
            <a:off x="1304925" y="6838071"/>
            <a:ext cx="4191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0077B6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99BD0C5-A653-50DD-AE48-121E0C17F0AF}"/>
              </a:ext>
            </a:extLst>
          </p:cNvPr>
          <p:cNvSpPr/>
          <p:nvPr/>
        </p:nvSpPr>
        <p:spPr>
          <a:xfrm>
            <a:off x="952499" y="8087884"/>
            <a:ext cx="16383000" cy="871538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32D2735-B244-9A2D-B1AD-E1F548D210B1}"/>
              </a:ext>
            </a:extLst>
          </p:cNvPr>
          <p:cNvSpPr/>
          <p:nvPr/>
        </p:nvSpPr>
        <p:spPr>
          <a:xfrm>
            <a:off x="1257299" y="8207629"/>
            <a:ext cx="4191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00B4D8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→</a:t>
            </a:r>
            <a:endParaRPr lang="en-US" sz="36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9271874-5A9C-63AA-E29D-F7B6D9392FD5}"/>
              </a:ext>
            </a:extLst>
          </p:cNvPr>
          <p:cNvSpPr/>
          <p:nvPr/>
        </p:nvSpPr>
        <p:spPr>
          <a:xfrm>
            <a:off x="1885949" y="8274301"/>
            <a:ext cx="11160786" cy="881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3200" b="1" dirty="0">
                <a:solidFill>
                  <a:srgbClr val="0096C7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Knowledge Wall </a:t>
            </a:r>
            <a:r>
              <a:rPr 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is persistent and compounding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72F09AA-BE7F-7161-2E51-2AD3D8DE293F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6E341F5-BC6D-5231-DE21-D82E794ED18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019648" y="611071"/>
            <a:ext cx="730482" cy="730482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82CFE34D-BA2F-DBFA-A8CB-57EA5A164CE5}"/>
              </a:ext>
            </a:extLst>
          </p:cNvPr>
          <p:cNvSpPr/>
          <p:nvPr/>
        </p:nvSpPr>
        <p:spPr>
          <a:xfrm>
            <a:off x="952500" y="3122331"/>
            <a:ext cx="6018818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500" kern="0" spc="-900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~</a:t>
            </a:r>
            <a:endParaRPr lang="en-US" sz="225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7DDC7D-AE7F-6B1A-FFBA-D52CEF8B996B}"/>
              </a:ext>
            </a:extLst>
          </p:cNvPr>
          <p:cNvSpPr txBox="1"/>
          <p:nvPr/>
        </p:nvSpPr>
        <p:spPr>
          <a:xfrm>
            <a:off x="2246918" y="2113450"/>
            <a:ext cx="94488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800" kern="0" spc="-900" dirty="0">
                <a:solidFill>
                  <a:srgbClr val="03045E"/>
                </a:solidFill>
                <a:latin typeface="Source Serif 4 14pt Medium" pitchFamily="34" charset="0"/>
                <a:ea typeface="Source Serif 4 14pt Medium" pitchFamily="34" charset="-122"/>
              </a:rPr>
              <a:t>-7%</a:t>
            </a:r>
            <a:endParaRPr lang="en-US" sz="208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1BEBE17-8D62-9C55-3BF0-11E069314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76D5FB5-FC14-BE90-85A1-9E08876430C5}"/>
              </a:ext>
            </a:extLst>
          </p:cNvPr>
          <p:cNvSpPr txBox="1"/>
          <p:nvPr/>
        </p:nvSpPr>
        <p:spPr>
          <a:xfrm>
            <a:off x="1933574" y="5515604"/>
            <a:ext cx="16382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gap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</a:t>
            </a: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dormant before 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ChatGPT, </a:t>
            </a: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activates after 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 2022, </a:t>
            </a: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no catch-up 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 Jan 2026</a:t>
            </a:r>
          </a:p>
        </p:txBody>
      </p:sp>
      <p:sp>
        <p:nvSpPr>
          <p:cNvPr id="8" name="Shape 23">
            <a:extLst>
              <a:ext uri="{FF2B5EF4-FFF2-40B4-BE49-F238E27FC236}">
                <a16:creationId xmlns:a16="http://schemas.microsoft.com/office/drawing/2014/main" id="{F0A8D8FD-6F72-5E35-70AB-56E4199C6387}"/>
              </a:ext>
            </a:extLst>
          </p:cNvPr>
          <p:cNvSpPr/>
          <p:nvPr/>
        </p:nvSpPr>
        <p:spPr>
          <a:xfrm>
            <a:off x="9718726" y="3311316"/>
            <a:ext cx="7616777" cy="932288"/>
          </a:xfrm>
          <a:prstGeom prst="roundRect">
            <a:avLst>
              <a:gd name="adj" fmla="val 223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6B3B14-48AF-74F4-1307-3B5988C60788}"/>
              </a:ext>
            </a:extLst>
          </p:cNvPr>
          <p:cNvSpPr txBox="1"/>
          <p:nvPr/>
        </p:nvSpPr>
        <p:spPr>
          <a:xfrm>
            <a:off x="9718726" y="3373977"/>
            <a:ext cx="7845374" cy="744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1" i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</a:rPr>
              <a:t>· Diff-in-RDD, baseline-adjusted</a:t>
            </a:r>
          </a:p>
          <a:p>
            <a:pPr>
              <a:lnSpc>
                <a:spcPct val="150000"/>
              </a:lnSpc>
            </a:pPr>
            <a:r>
              <a:rPr lang="en-US" sz="1500" b="1" i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</a:rPr>
              <a:t>· Local effect at the Sept 2021 boundary, not an ecosystem-wide LLM impact estimate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7C4DA8-4F57-F490-2D81-A77EEA47FC85}"/>
              </a:ext>
            </a:extLst>
          </p:cNvPr>
          <p:cNvCxnSpPr/>
          <p:nvPr/>
        </p:nvCxnSpPr>
        <p:spPr>
          <a:xfrm flipV="1">
            <a:off x="952500" y="2762250"/>
            <a:ext cx="6018818" cy="192503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2BA97BD-A721-BA17-62FC-626934B7E26D}"/>
              </a:ext>
            </a:extLst>
          </p:cNvPr>
          <p:cNvSpPr txBox="1"/>
          <p:nvPr/>
        </p:nvSpPr>
        <p:spPr>
          <a:xfrm>
            <a:off x="879868" y="2371947"/>
            <a:ext cx="952655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800" kern="0" spc="-900" dirty="0">
                <a:solidFill>
                  <a:schemeClr val="accent2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  <a:cs typeface="Source Serif 4 14pt Black" pitchFamily="34" charset="-120"/>
              </a:rPr>
              <a:t>~</a:t>
            </a:r>
            <a:endParaRPr lang="en-US" sz="20800" dirty="0">
              <a:solidFill>
                <a:schemeClr val="accent2"/>
              </a:solidFill>
              <a:latin typeface="Source Serif 4 14pt Medium" panose="02040603050405020204" pitchFamily="18" charset="0"/>
              <a:ea typeface="Source Serif 4 14pt Medium" panose="020406030504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DF9ED2-28A0-AC9E-B172-268CB25790E2}"/>
              </a:ext>
            </a:extLst>
          </p:cNvPr>
          <p:cNvSpPr txBox="1"/>
          <p:nvPr/>
        </p:nvSpPr>
        <p:spPr>
          <a:xfrm>
            <a:off x="2169164" y="2244967"/>
            <a:ext cx="9526554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0" kern="0" spc="-900" dirty="0">
                <a:solidFill>
                  <a:schemeClr val="accent2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</a:rPr>
              <a:t>-0.65%</a:t>
            </a:r>
            <a:endParaRPr lang="en-US" sz="19000" dirty="0">
              <a:solidFill>
                <a:schemeClr val="accent2"/>
              </a:solidFill>
              <a:latin typeface="Source Serif 4 14pt Medium" panose="02040603050405020204" pitchFamily="18" charset="0"/>
              <a:ea typeface="Source Serif 4 14pt Medium" panose="02040603050405020204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8EDD179-5717-8FA4-06A0-55C606740467}"/>
              </a:ext>
            </a:extLst>
          </p:cNvPr>
          <p:cNvCxnSpPr>
            <a:cxnSpLocks/>
          </p:cNvCxnSpPr>
          <p:nvPr/>
        </p:nvCxnSpPr>
        <p:spPr>
          <a:xfrm flipV="1">
            <a:off x="976313" y="5406659"/>
            <a:ext cx="16315460" cy="81364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B092F86-CE84-72E7-2AA1-94F4F60C3EA4}"/>
              </a:ext>
            </a:extLst>
          </p:cNvPr>
          <p:cNvSpPr txBox="1"/>
          <p:nvPr/>
        </p:nvSpPr>
        <p:spPr>
          <a:xfrm>
            <a:off x="9613153" y="6219148"/>
            <a:ext cx="59226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sym typeface="Wingdings" pitchFamily="2" charset="2"/>
              </a:rPr>
              <a:t> 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</a:rPr>
              <a:t>outlier-driven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F67706-5599-FFFA-A6F5-5E2F3D4E017D}"/>
              </a:ext>
            </a:extLst>
          </p:cNvPr>
          <p:cNvSpPr txBox="1"/>
          <p:nvPr/>
        </p:nvSpPr>
        <p:spPr>
          <a:xfrm>
            <a:off x="9613152" y="7546989"/>
            <a:ext cx="7931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sym typeface="Wingdings" pitchFamily="2" charset="2"/>
              </a:rPr>
              <a:t> GitHub does not change, opposite signs hold</a:t>
            </a:r>
            <a:endParaRPr lang="en-US" sz="2800" dirty="0">
              <a:solidFill>
                <a:srgbClr val="03045E"/>
              </a:solidFill>
              <a:latin typeface="Inter" pitchFamily="34" charset="0"/>
              <a:ea typeface="Inter" pitchFamily="34" charset="-122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939FE87-29A4-592C-1DF8-9EBF4A141FEF}"/>
              </a:ext>
            </a:extLst>
          </p:cNvPr>
          <p:cNvCxnSpPr>
            <a:cxnSpLocks/>
          </p:cNvCxnSpPr>
          <p:nvPr/>
        </p:nvCxnSpPr>
        <p:spPr>
          <a:xfrm flipV="1">
            <a:off x="1000125" y="8137568"/>
            <a:ext cx="16315460" cy="81364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2DD6D7C-5016-F776-F85F-F0540226C533}"/>
              </a:ext>
            </a:extLst>
          </p:cNvPr>
          <p:cNvSpPr txBox="1"/>
          <p:nvPr/>
        </p:nvSpPr>
        <p:spPr>
          <a:xfrm>
            <a:off x="9595570" y="8972785"/>
            <a:ext cx="7931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sym typeface="Wingdings" pitchFamily="2" charset="2"/>
              </a:rPr>
              <a:t> The Knowledge Wall is real, but small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DDB2DD-0EAC-BE36-13A1-920049892984}"/>
              </a:ext>
            </a:extLst>
          </p:cNvPr>
          <p:cNvSpPr txBox="1"/>
          <p:nvPr/>
        </p:nvSpPr>
        <p:spPr>
          <a:xfrm>
            <a:off x="952498" y="570049"/>
            <a:ext cx="2315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i="1" kern="0" spc="-36" dirty="0">
                <a:solidFill>
                  <a:schemeClr val="accent2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  <a:cs typeface="Source Serif 4 14pt Black" pitchFamily="34" charset="-120"/>
              </a:rPr>
              <a:t>Revised</a:t>
            </a:r>
            <a:r>
              <a:rPr lang="en-US" sz="4800" b="1" kern="0" spc="-36" dirty="0">
                <a:solidFill>
                  <a:srgbClr val="03045E"/>
                </a:solidFill>
                <a:latin typeface="Source Serif 4 14pt Black" pitchFamily="34" charset="0"/>
                <a:ea typeface="Source Serif 4 14pt Black" pitchFamily="34" charset="-122"/>
                <a:cs typeface="Source Serif 4 14pt Black" pitchFamily="34" charset="-120"/>
              </a:rPr>
              <a:t> </a:t>
            </a:r>
            <a:endParaRPr lang="en-US" sz="4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4B8499-C191-8451-004E-F4353AF68141}"/>
              </a:ext>
            </a:extLst>
          </p:cNvPr>
          <p:cNvSpPr txBox="1"/>
          <p:nvPr/>
        </p:nvSpPr>
        <p:spPr>
          <a:xfrm>
            <a:off x="952498" y="1540500"/>
            <a:ext cx="94684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200" i="1" kern="0" spc="324" dirty="0">
                <a:solidFill>
                  <a:schemeClr val="accent2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  <a:cs typeface="Source Serif 4 14pt Black" pitchFamily="34" charset="-120"/>
              </a:rPr>
              <a:t>CORRECTED</a:t>
            </a:r>
            <a:r>
              <a:rPr lang="en-US" sz="4200" kern="0" spc="324" dirty="0">
                <a:solidFill>
                  <a:schemeClr val="accent2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  <a:cs typeface="Source Serif 4 14pt Black" pitchFamily="34" charset="-120"/>
              </a:rPr>
              <a:t> </a:t>
            </a:r>
            <a:endParaRPr lang="en-US" sz="42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82FF72B7-81DC-CD48-A64D-00EEF19F03DB}"/>
              </a:ext>
            </a:extLst>
          </p:cNvPr>
          <p:cNvSpPr/>
          <p:nvPr/>
        </p:nvSpPr>
        <p:spPr>
          <a:xfrm>
            <a:off x="1933574" y="6909505"/>
            <a:ext cx="15049501" cy="871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Mechanism signature</a:t>
            </a:r>
            <a:r>
              <a:rPr lang="en-US" sz="28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opposite signs across the two datasets - flow down, stock up</a:t>
            </a:r>
          </a:p>
        </p:txBody>
      </p:sp>
    </p:spTree>
    <p:extLst>
      <p:ext uri="{BB962C8B-B14F-4D97-AF65-F5344CB8AC3E}">
        <p14:creationId xmlns:p14="http://schemas.microsoft.com/office/powerpoint/2010/main" val="924193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D7D3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500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3" grpId="0"/>
      <p:bldP spid="12" grpId="0"/>
      <p:bldP spid="25" grpId="0"/>
      <p:bldP spid="27" grpId="0"/>
      <p:bldP spid="29" grpId="0"/>
      <p:bldP spid="30" grpId="0"/>
      <p:bldP spid="3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3EB68-4548-A4B8-70C1-B5EA3FF5C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0FD0DE-06B8-55C9-A4B4-7D8A6377B1E7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>
              <a:solidFill>
                <a:srgbClr val="03045E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FE875F-BB3C-6B58-8E8F-90110E15068D}"/>
              </a:ext>
            </a:extLst>
          </p:cNvPr>
          <p:cNvSpPr/>
          <p:nvPr/>
        </p:nvSpPr>
        <p:spPr>
          <a:xfrm>
            <a:off x="952500" y="579672"/>
            <a:ext cx="1687449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4800" kern="0" spc="-33" dirty="0">
                <a:solidFill>
                  <a:srgbClr val="03045E"/>
                </a:solidFill>
                <a:latin typeface="Source Serif 4 14pt Black" pitchFamily="34" charset="0"/>
                <a:ea typeface="Source Serif 4 14pt Black" pitchFamily="34" charset="-122"/>
                <a:cs typeface="Source Serif 4 14pt Black" pitchFamily="34" charset="-120"/>
              </a:rPr>
              <a:t>Thank </a:t>
            </a:r>
            <a:r>
              <a:rPr lang="en-US" sz="4800" kern="0" spc="-33" dirty="0">
                <a:solidFill>
                  <a:srgbClr val="0077B6"/>
                </a:solidFill>
                <a:latin typeface="Source Serif 4 14pt Black" pitchFamily="34" charset="0"/>
                <a:ea typeface="Source Serif 4 14pt Black" pitchFamily="34" charset="-122"/>
                <a:cs typeface="Source Serif 4 14pt Black" pitchFamily="34" charset="-120"/>
              </a:rPr>
              <a:t>you</a:t>
            </a:r>
            <a:r>
              <a:rPr lang="en-US" sz="4800" kern="0" spc="-33" dirty="0">
                <a:solidFill>
                  <a:srgbClr val="03045E"/>
                </a:solidFill>
                <a:latin typeface="Source Serif 4 14pt Black" pitchFamily="34" charset="0"/>
                <a:ea typeface="Source Serif 4 14pt Black" pitchFamily="34" charset="-122"/>
                <a:cs typeface="Source Serif 4 14pt Black" pitchFamily="34" charset="-120"/>
              </a:rPr>
              <a:t>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9B405E3-5994-8483-341F-0C9E4D8F95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0" y="1381020"/>
            <a:ext cx="8229600" cy="96609"/>
          </a:xfrm>
          <a:prstGeom prst="rect">
            <a:avLst/>
          </a:prstGeom>
        </p:spPr>
      </p:pic>
      <p:sp>
        <p:nvSpPr>
          <p:cNvPr id="4" name="Text 18">
            <a:extLst>
              <a:ext uri="{FF2B5EF4-FFF2-40B4-BE49-F238E27FC236}">
                <a16:creationId xmlns:a16="http://schemas.microsoft.com/office/drawing/2014/main" id="{EA742818-5E70-2CD0-D176-49667BDE2125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sp>
        <p:nvSpPr>
          <p:cNvPr id="951" name="ResultLabel"/>
          <p:cNvSpPr txBox="1"/>
          <p:nvPr/>
        </p:nvSpPr>
        <p:spPr>
          <a:xfrm>
            <a:off x="952499" y="1755601"/>
            <a:ext cx="16521916" cy="6817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4000" i="1" kern="0" spc="324" dirty="0">
                <a:solidFill>
                  <a:schemeClr val="accent2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  <a:cs typeface="Source Serif 4 14pt Black" pitchFamily="34" charset="-120"/>
              </a:rPr>
              <a:t>CORRECTED</a:t>
            </a:r>
            <a:r>
              <a:rPr lang="en-US" sz="4000" kern="0" spc="324" dirty="0">
                <a:solidFill>
                  <a:schemeClr val="accent2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  <a:cs typeface="Source Serif 4 14pt Black" pitchFamily="34" charset="-120"/>
              </a:rPr>
              <a:t> </a:t>
            </a:r>
            <a:r>
              <a:rPr lang="en-US" sz="4000" kern="0" spc="324" dirty="0">
                <a:solidFill>
                  <a:srgbClr val="0077B6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  <a:cs typeface="Source Serif 4 14pt Black" pitchFamily="34" charset="-120"/>
              </a:rPr>
              <a:t>POST-CHATGPT DOWNLOAD PENALTY</a:t>
            </a:r>
          </a:p>
        </p:txBody>
      </p:sp>
      <p:sp>
        <p:nvSpPr>
          <p:cNvPr id="952" name="ResultNumber"/>
          <p:cNvSpPr txBox="1"/>
          <p:nvPr/>
        </p:nvSpPr>
        <p:spPr>
          <a:xfrm>
            <a:off x="813585" y="2354247"/>
            <a:ext cx="90805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0" b="1" u="sng" kern="0" spc="-100" dirty="0">
                <a:solidFill>
                  <a:srgbClr val="03045E"/>
                </a:solidFill>
                <a:latin typeface="Source Serif 4 14pt Black" pitchFamily="34" charset="0"/>
                <a:ea typeface="Source Serif 4 14pt Black" pitchFamily="34" charset="-122"/>
                <a:cs typeface="Source Serif 4 14pt Black" pitchFamily="34" charset="-120"/>
              </a:rPr>
              <a:t>−0.65%</a:t>
            </a:r>
          </a:p>
        </p:txBody>
      </p:sp>
      <p:sp>
        <p:nvSpPr>
          <p:cNvPr id="954" name="AuthorLabel"/>
          <p:cNvSpPr txBox="1"/>
          <p:nvPr/>
        </p:nvSpPr>
        <p:spPr>
          <a:xfrm>
            <a:off x="504825" y="7812313"/>
            <a:ext cx="241935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kern="0" spc="252" dirty="0">
                <a:solidFill>
                  <a:srgbClr val="0077B6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AUTHOR</a:t>
            </a:r>
          </a:p>
        </p:txBody>
      </p:sp>
      <p:sp>
        <p:nvSpPr>
          <p:cNvPr id="955" name="AuthorName"/>
          <p:cNvSpPr txBox="1"/>
          <p:nvPr/>
        </p:nvSpPr>
        <p:spPr>
          <a:xfrm>
            <a:off x="504823" y="8142513"/>
            <a:ext cx="17399204" cy="482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Roland Tuboly </a:t>
            </a:r>
            <a:r>
              <a:rPr lang="en-US" sz="2000" b="1" dirty="0">
                <a:solidFill>
                  <a:srgbClr val="03045E"/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· </a:t>
            </a:r>
            <a:r>
              <a:rPr lang="en-US" sz="2000" dirty="0">
                <a:solidFill>
                  <a:srgbClr val="03045E">
                    <a:alpha val="8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Social Data Science MSc · </a:t>
            </a:r>
            <a:r>
              <a:rPr lang="en-US" sz="2000" dirty="0">
                <a:solidFill>
                  <a:srgbClr val="03045E">
                    <a:alpha val="5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Corvinus University of Budapest</a:t>
            </a:r>
            <a:r>
              <a:rPr lang="en-US" sz="2000" dirty="0">
                <a:solidFill>
                  <a:srgbClr val="03045E">
                    <a:alpha val="8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 · </a:t>
            </a:r>
            <a:r>
              <a:rPr lang="en-US" sz="2000" b="1" dirty="0">
                <a:solidFill>
                  <a:srgbClr val="03045E">
                    <a:alpha val="85000"/>
                  </a:srgbClr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E:</a:t>
            </a:r>
            <a:r>
              <a:rPr lang="en-US" sz="2000" dirty="0">
                <a:solidFill>
                  <a:srgbClr val="03045E">
                    <a:alpha val="8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en-US" sz="2000" dirty="0" err="1">
                <a:solidFill>
                  <a:srgbClr val="03045E">
                    <a:alpha val="8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roland.tuboly@stud.uni-corvinus.hu</a:t>
            </a:r>
            <a:endParaRPr lang="en-US" sz="2000" dirty="0">
              <a:solidFill>
                <a:srgbClr val="03045E">
                  <a:alpha val="55000"/>
                </a:srgbClr>
              </a:solidFill>
              <a:latin typeface="Inter Tight" pitchFamily="2" charset="0"/>
              <a:ea typeface="Inter Tight" pitchFamily="2" charset="0"/>
              <a:cs typeface="Inter Tight" pitchFamily="2" charset="0"/>
            </a:endParaRPr>
          </a:p>
          <a:p>
            <a:endParaRPr lang="en-US" sz="2000" b="1" dirty="0">
              <a:solidFill>
                <a:srgbClr val="03045E"/>
              </a:solidFill>
              <a:latin typeface="Inter Tight Black" pitchFamily="2" charset="0"/>
              <a:ea typeface="Inter Tight Black" pitchFamily="2" charset="0"/>
              <a:cs typeface="Inter Tight Black" pitchFamily="2" charset="0"/>
            </a:endParaRPr>
          </a:p>
        </p:txBody>
      </p:sp>
      <p:sp>
        <p:nvSpPr>
          <p:cNvPr id="956" name="SupervisorLabel"/>
          <p:cNvSpPr txBox="1"/>
          <p:nvPr/>
        </p:nvSpPr>
        <p:spPr>
          <a:xfrm>
            <a:off x="504825" y="8726713"/>
            <a:ext cx="241935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kern="0" spc="252" dirty="0">
                <a:solidFill>
                  <a:srgbClr val="0077B6"/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SUPERVISOR</a:t>
            </a:r>
          </a:p>
        </p:txBody>
      </p:sp>
      <p:sp>
        <p:nvSpPr>
          <p:cNvPr id="957" name="SupervisorName"/>
          <p:cNvSpPr txBox="1"/>
          <p:nvPr/>
        </p:nvSpPr>
        <p:spPr>
          <a:xfrm>
            <a:off x="504823" y="9056913"/>
            <a:ext cx="17399204" cy="482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03045E"/>
                </a:solidFill>
                <a:latin typeface="Inter Tight ExtraBold" pitchFamily="2" charset="0"/>
                <a:ea typeface="Inter Tight ExtraBold" pitchFamily="2" charset="0"/>
                <a:cs typeface="Inter Tight ExtraBold" pitchFamily="2" charset="0"/>
              </a:rPr>
              <a:t>Johannes Wachs </a:t>
            </a:r>
            <a:r>
              <a:rPr lang="en-US" sz="2000" dirty="0">
                <a:solidFill>
                  <a:srgbClr val="03045E">
                    <a:alpha val="8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· Director, Center for Collective Learning, Corvinus Institute of Advanced Study · </a:t>
            </a:r>
            <a:r>
              <a:rPr lang="en-US" sz="2000" b="1" dirty="0">
                <a:solidFill>
                  <a:srgbClr val="03045E">
                    <a:alpha val="85000"/>
                  </a:srgbClr>
                </a:solidFill>
                <a:latin typeface="Inter Tight Black" pitchFamily="2" charset="0"/>
                <a:ea typeface="Inter Tight Black" pitchFamily="2" charset="0"/>
                <a:cs typeface="Inter Tight Black" pitchFamily="2" charset="0"/>
              </a:rPr>
              <a:t>E:</a:t>
            </a:r>
            <a:r>
              <a:rPr lang="en-US" sz="2000" dirty="0">
                <a:solidFill>
                  <a:srgbClr val="03045E">
                    <a:alpha val="8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 </a:t>
            </a:r>
            <a:r>
              <a:rPr lang="en-US" sz="2000" dirty="0" err="1">
                <a:solidFill>
                  <a:srgbClr val="03045E">
                    <a:alpha val="85000"/>
                  </a:srgbClr>
                </a:solidFill>
                <a:latin typeface="Inter Tight" pitchFamily="2" charset="0"/>
                <a:ea typeface="Inter Tight" pitchFamily="2" charset="0"/>
                <a:cs typeface="Inter Tight" pitchFamily="2" charset="0"/>
              </a:rPr>
              <a:t>johannes.wachs@uni-corvinus.hu</a:t>
            </a:r>
            <a:endParaRPr lang="en-US" sz="2000" dirty="0">
              <a:solidFill>
                <a:srgbClr val="03045E"/>
              </a:solidFill>
              <a:latin typeface="Inter Tight" pitchFamily="2" charset="0"/>
              <a:ea typeface="Inter Tight" pitchFamily="2" charset="0"/>
              <a:cs typeface="Inter Tight" pitchFamily="2" charset="0"/>
            </a:endParaRPr>
          </a:p>
        </p:txBody>
      </p:sp>
      <p:pic>
        <p:nvPicPr>
          <p:cNvPr id="34" name="Picture 2">
            <a:extLst>
              <a:ext uri="{FF2B5EF4-FFF2-40B4-BE49-F238E27FC236}">
                <a16:creationId xmlns:a16="http://schemas.microsoft.com/office/drawing/2014/main" id="{2141D4ED-0DC1-EDAD-314F-DE1BFE72D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0E81062-CE68-5886-DDFD-509501058F7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-61608" y="3774724"/>
            <a:ext cx="18411217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20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" y="2776538"/>
            <a:ext cx="10128296" cy="173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400" kern="0" spc="360" dirty="0">
                <a:solidFill>
                  <a:srgbClr val="00B4D8"/>
                </a:solidFill>
                <a:latin typeface="Source Serif 4 14pt Medium" panose="02040603050405020204" pitchFamily="18" charset="0"/>
                <a:ea typeface="Source Serif 4 14pt Medium" panose="02040603050405020204" pitchFamily="18" charset="0"/>
                <a:cs typeface="Source Serif 4 14pt Black" pitchFamily="34" charset="-120"/>
              </a:rPr>
              <a:t>SUPPLEMENTARY MATERIAL</a:t>
            </a:r>
            <a:endParaRPr lang="en-US" sz="4400" dirty="0">
              <a:latin typeface="Source Serif 4 14pt Medium" panose="02040603050405020204" pitchFamily="18" charset="0"/>
              <a:ea typeface="Source Serif 4 14pt Medium" panose="0204060305040502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3840480"/>
            <a:ext cx="10128296" cy="2707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0" kern="0" spc="-450" dirty="0">
                <a:solidFill>
                  <a:srgbClr val="FFFFFF"/>
                </a:solidFill>
                <a:latin typeface="Source Serif 4 14pt Medium" pitchFamily="34" charset="0"/>
                <a:ea typeface="Source Serif 4 14pt Medium" pitchFamily="34" charset="-122"/>
                <a:cs typeface="Source Serif 4 14pt Medium" pitchFamily="34" charset="-120"/>
              </a:rPr>
              <a:t>Appendix</a:t>
            </a:r>
            <a:endParaRPr lang="en-US" sz="20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7106900" y="91059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9868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AA274-3C56-D7BC-D383-544C3E365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0F305A-3F33-D630-E2AB-C98208D81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DEB8E0C-2EBF-0EE0-0AA7-B3D097CBBC8E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529F29-D1F4-ED46-37C0-14D7BBF92C29}"/>
              </a:ext>
            </a:extLst>
          </p:cNvPr>
          <p:cNvSpPr txBox="1"/>
          <p:nvPr/>
        </p:nvSpPr>
        <p:spPr>
          <a:xfrm>
            <a:off x="952500" y="1844464"/>
            <a:ext cx="72461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kern="0" spc="-36" dirty="0">
                <a:solidFill>
                  <a:srgbClr val="03045E"/>
                </a:solidFill>
                <a:latin typeface="Inter" pitchFamily="34" charset="0"/>
                <a:ea typeface="Inter" pitchFamily="34" charset="-122"/>
              </a:rPr>
              <a:t>Dropping 3 contaminated bins (Placebo_2018 </a:t>
            </a:r>
            <a:r>
              <a:rPr sz="3200" kern="0" spc="-36" dirty="0" err="1">
                <a:solidFill>
                  <a:srgbClr val="03045E"/>
                </a:solidFill>
                <a:latin typeface="Inter" pitchFamily="34" charset="0"/>
                <a:ea typeface="Inter" pitchFamily="34" charset="-122"/>
              </a:rPr>
              <a:t>dist</a:t>
            </a:r>
            <a:r>
              <a:rPr sz="3200" kern="0" spc="-36" dirty="0">
                <a:solidFill>
                  <a:srgbClr val="03045E"/>
                </a:solidFill>
                <a:latin typeface="Inter" pitchFamily="34" charset="0"/>
                <a:ea typeface="Inter" pitchFamily="34" charset="-122"/>
              </a:rPr>
              <a:t>=−10; Placebo_2020 </a:t>
            </a:r>
            <a:r>
              <a:rPr sz="3200" kern="0" spc="-36" dirty="0" err="1">
                <a:solidFill>
                  <a:srgbClr val="03045E"/>
                </a:solidFill>
                <a:latin typeface="Inter" pitchFamily="34" charset="0"/>
                <a:ea typeface="Inter" pitchFamily="34" charset="-122"/>
              </a:rPr>
              <a:t>dist</a:t>
            </a:r>
            <a:r>
              <a:rPr sz="3200" kern="0" spc="-36" dirty="0">
                <a:solidFill>
                  <a:srgbClr val="03045E"/>
                </a:solidFill>
                <a:latin typeface="Inter" pitchFamily="34" charset="0"/>
                <a:ea typeface="Inter" pitchFamily="34" charset="-122"/>
              </a:rPr>
              <a:t>=−10, −9):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1E2136-B5D6-033F-78FB-8C65A8DE91B3}"/>
              </a:ext>
            </a:extLst>
          </p:cNvPr>
          <p:cNvSpPr txBox="1"/>
          <p:nvPr/>
        </p:nvSpPr>
        <p:spPr>
          <a:xfrm>
            <a:off x="3351444" y="9253835"/>
            <a:ext cx="115851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2400" b="1" dirty="0">
                <a:solidFill>
                  <a:srgbClr val="898989"/>
                </a:solidFill>
              </a:rPr>
              <a:t>The 2021 </a:t>
            </a:r>
            <a:r>
              <a:rPr lang="hu-HU" sz="2400" b="1" dirty="0" err="1">
                <a:solidFill>
                  <a:srgbClr val="898989"/>
                </a:solidFill>
              </a:rPr>
              <a:t>cohort</a:t>
            </a:r>
            <a:r>
              <a:rPr lang="hu-HU" sz="2400" b="1" dirty="0">
                <a:solidFill>
                  <a:srgbClr val="898989"/>
                </a:solidFill>
              </a:rPr>
              <a:t> has no </a:t>
            </a:r>
            <a:r>
              <a:rPr lang="hu-HU" sz="2400" b="1" dirty="0" err="1">
                <a:solidFill>
                  <a:srgbClr val="898989"/>
                </a:solidFill>
              </a:rPr>
              <a:t>analogous</a:t>
            </a:r>
            <a:r>
              <a:rPr lang="hu-HU" sz="2400" b="1" dirty="0">
                <a:solidFill>
                  <a:srgbClr val="898989"/>
                </a:solidFill>
              </a:rPr>
              <a:t> </a:t>
            </a:r>
            <a:r>
              <a:rPr lang="hu-HU" sz="2400" b="1" dirty="0" err="1">
                <a:solidFill>
                  <a:srgbClr val="898989"/>
                </a:solidFill>
              </a:rPr>
              <a:t>spikes</a:t>
            </a:r>
            <a:r>
              <a:rPr lang="hu-HU" sz="2400" b="1" dirty="0">
                <a:solidFill>
                  <a:srgbClr val="898989"/>
                </a:solidFill>
              </a:rPr>
              <a:t>, </a:t>
            </a:r>
            <a:r>
              <a:rPr lang="hu-HU" sz="2400" b="1" dirty="0" err="1">
                <a:solidFill>
                  <a:srgbClr val="898989"/>
                </a:solidFill>
              </a:rPr>
              <a:t>which</a:t>
            </a:r>
            <a:r>
              <a:rPr lang="hu-HU" sz="2400" b="1" dirty="0">
                <a:solidFill>
                  <a:srgbClr val="898989"/>
                </a:solidFill>
              </a:rPr>
              <a:t> </a:t>
            </a:r>
            <a:r>
              <a:rPr lang="hu-HU" sz="2400" b="1" dirty="0" err="1">
                <a:solidFill>
                  <a:srgbClr val="898989"/>
                </a:solidFill>
              </a:rPr>
              <a:t>means</a:t>
            </a:r>
            <a:r>
              <a:rPr lang="hu-HU" sz="2400" b="1" dirty="0">
                <a:solidFill>
                  <a:srgbClr val="898989"/>
                </a:solidFill>
              </a:rPr>
              <a:t> </a:t>
            </a:r>
            <a:r>
              <a:rPr lang="hu-HU" sz="2400" b="1" dirty="0" err="1">
                <a:solidFill>
                  <a:srgbClr val="898989"/>
                </a:solidFill>
              </a:rPr>
              <a:t>contamination</a:t>
            </a:r>
            <a:r>
              <a:rPr lang="hu-HU" sz="2400" b="1" dirty="0">
                <a:solidFill>
                  <a:srgbClr val="898989"/>
                </a:solidFill>
              </a:rPr>
              <a:t> is </a:t>
            </a:r>
            <a:r>
              <a:rPr lang="hu-HU" sz="2400" b="1" dirty="0" err="1">
                <a:solidFill>
                  <a:srgbClr val="898989"/>
                </a:solidFill>
              </a:rPr>
              <a:t>one-sided</a:t>
            </a:r>
            <a:endParaRPr lang="hu-HU" sz="2400" b="1" dirty="0">
              <a:solidFill>
                <a:srgbClr val="898989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AD2E725-507D-1F13-5F7B-44893F98AAC6}"/>
              </a:ext>
            </a:extLst>
          </p:cNvPr>
          <p:cNvGraphicFramePr>
            <a:graphicFrameLocks noGrp="1"/>
          </p:cNvGraphicFramePr>
          <p:nvPr/>
        </p:nvGraphicFramePr>
        <p:xfrm>
          <a:off x="9143998" y="1938414"/>
          <a:ext cx="7246191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2992">
                  <a:extLst>
                    <a:ext uri="{9D8B030D-6E8A-4147-A177-3AD203B41FA5}">
                      <a16:colId xmlns:a16="http://schemas.microsoft.com/office/drawing/2014/main" val="473123263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1200340068"/>
                    </a:ext>
                  </a:extLst>
                </a:gridCol>
                <a:gridCol w="2558367">
                  <a:extLst>
                    <a:ext uri="{9D8B030D-6E8A-4147-A177-3AD203B41FA5}">
                      <a16:colId xmlns:a16="http://schemas.microsoft.com/office/drawing/2014/main" val="4248399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ter Tight" pitchFamily="2" charset="0"/>
                          <a:ea typeface="Inter Tight" pitchFamily="2" charset="0"/>
                          <a:cs typeface="Inter Tight" pitchFamily="2" charset="0"/>
                        </a:rPr>
                        <a:t>Specification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ter Tight" pitchFamily="2" charset="0"/>
                          <a:ea typeface="Inter Tight" pitchFamily="2" charset="0"/>
                          <a:cs typeface="Inter Tight" pitchFamily="2" charset="0"/>
                        </a:rPr>
                        <a:t>Main </a:t>
                      </a:r>
                      <a:r>
                        <a:rPr lang="en-US" dirty="0" err="1">
                          <a:latin typeface="Inter Tight" pitchFamily="2" charset="0"/>
                          <a:ea typeface="Inter Tight" pitchFamily="2" charset="0"/>
                          <a:cs typeface="Inter Tight" pitchFamily="2" charset="0"/>
                        </a:rPr>
                        <a:t>estimand</a:t>
                      </a:r>
                      <a:endParaRPr lang="en-US" dirty="0">
                        <a:latin typeface="Inter Tight" pitchFamily="2" charset="0"/>
                        <a:ea typeface="Inter Tight" pitchFamily="2" charset="0"/>
                        <a:cs typeface="Inter Tight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ter Tight" pitchFamily="2" charset="0"/>
                          <a:ea typeface="Inter Tight" pitchFamily="2" charset="0"/>
                          <a:cs typeface="Inter Tight" pitchFamily="2" charset="0"/>
                        </a:rPr>
                        <a:t>p-value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61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ter Tight" pitchFamily="2" charset="0"/>
                          <a:ea typeface="Inter Tight" pitchFamily="2" charset="0"/>
                          <a:cs typeface="Inter Tight" pitchFamily="2" charset="0"/>
                        </a:rPr>
                        <a:t>Unadjusted Diff-in-RDD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ter Tight" pitchFamily="2" charset="0"/>
                          <a:ea typeface="Inter Tight" pitchFamily="2" charset="0"/>
                          <a:cs typeface="Inter Tight" pitchFamily="2" charset="0"/>
                        </a:rPr>
                        <a:t>+ 0.13 log 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ter Tight" pitchFamily="2" charset="0"/>
                          <a:ea typeface="Inter Tight" pitchFamily="2" charset="0"/>
                          <a:cs typeface="Inter Tight" pitchFamily="2" charset="0"/>
                        </a:rPr>
                        <a:t>0.87 (not significant)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7363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ter Tight" pitchFamily="2" charset="0"/>
                          <a:ea typeface="Inter Tight" pitchFamily="2" charset="0"/>
                          <a:cs typeface="Inter Tight" pitchFamily="2" charset="0"/>
                        </a:rPr>
                        <a:t>Baseline-adjusted Diff-in-RDD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ter Tight" pitchFamily="2" charset="0"/>
                          <a:ea typeface="Inter Tight" pitchFamily="2" charset="0"/>
                          <a:cs typeface="Inter Tight" pitchFamily="2" charset="0"/>
                        </a:rPr>
                        <a:t>- 0.65 log 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Inter Tight" pitchFamily="2" charset="0"/>
                          <a:ea typeface="Inter Tight" pitchFamily="2" charset="0"/>
                          <a:cs typeface="Inter Tight" pitchFamily="2" charset="0"/>
                        </a:rPr>
                        <a:t>0.019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357711"/>
                  </a:ext>
                </a:extLst>
              </a:tr>
            </a:tbl>
          </a:graphicData>
        </a:graphic>
      </p:graphicFrame>
      <p:sp>
        <p:nvSpPr>
          <p:cNvPr id="12" name="Text 1">
            <a:extLst>
              <a:ext uri="{FF2B5EF4-FFF2-40B4-BE49-F238E27FC236}">
                <a16:creationId xmlns:a16="http://schemas.microsoft.com/office/drawing/2014/main" id="{A0590651-AFA0-D9A4-B84A-6EB75CB2BD50}"/>
              </a:ext>
            </a:extLst>
          </p:cNvPr>
          <p:cNvSpPr/>
          <p:nvPr/>
        </p:nvSpPr>
        <p:spPr>
          <a:xfrm>
            <a:off x="952499" y="571500"/>
            <a:ext cx="1074321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36" dirty="0">
                <a:solidFill>
                  <a:srgbClr val="03045E"/>
                </a:solidFill>
                <a:latin typeface="Source Serif 4 14pt Black" pitchFamily="34" charset="0"/>
                <a:ea typeface="Source Serif 4 14pt Black" pitchFamily="34" charset="-122"/>
                <a:cs typeface="Source Serif 4 14pt Black" pitchFamily="34" charset="-120"/>
              </a:rPr>
              <a:t>Spike-Bin Sensitivity Check</a:t>
            </a:r>
            <a:endParaRPr lang="en-US" sz="4800" b="1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D432D6A1-269B-99A0-2DD3-D3A1745C6411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B36503-4CFB-CFD4-843D-C0337977B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4806" y="609345"/>
            <a:ext cx="733933" cy="733933"/>
          </a:xfrm>
          <a:prstGeom prst="rect">
            <a:avLst/>
          </a:prstGeom>
        </p:spPr>
      </p:pic>
      <p:sp>
        <p:nvSpPr>
          <p:cNvPr id="4" name="Text 17">
            <a:extLst>
              <a:ext uri="{FF2B5EF4-FFF2-40B4-BE49-F238E27FC236}">
                <a16:creationId xmlns:a16="http://schemas.microsoft.com/office/drawing/2014/main" id="{DA40F88F-1D0C-0D56-0E3F-5043850114CB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41D56D9E-9D3A-5C8F-60CE-144146034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644" y="3501149"/>
            <a:ext cx="15782705" cy="5257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6533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ABA72-236A-349E-DED8-AC2E1341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4F379D-3451-B11F-366A-F1B2C4BC2867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C2C117-6DC2-E921-9DD0-BE699811E1B9}"/>
              </a:ext>
            </a:extLst>
          </p:cNvPr>
          <p:cNvSpPr/>
          <p:nvPr/>
        </p:nvSpPr>
        <p:spPr>
          <a:xfrm>
            <a:off x="952499" y="571500"/>
            <a:ext cx="1074321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36" dirty="0">
                <a:solidFill>
                  <a:srgbClr val="03045E"/>
                </a:solidFill>
                <a:latin typeface="Source Serif 4 14pt Black" pitchFamily="34" charset="0"/>
                <a:ea typeface="Source Serif 4 14pt Black" pitchFamily="34" charset="-122"/>
                <a:cs typeface="Source Serif 4 14pt Black" pitchFamily="34" charset="-120"/>
              </a:rPr>
              <a:t>Spike-Bin Sensitivity Check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13B818B-0429-1047-1D9B-018C2D6F42D8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61D883C-4905-C52E-0B63-DD1977EE426B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A5A2CC-BD17-DCEA-7797-40243459D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4806" y="609345"/>
            <a:ext cx="733933" cy="733933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EA7D66-C26F-BBCE-B3EA-9091490F9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769441"/>
              </p:ext>
            </p:extLst>
          </p:nvPr>
        </p:nvGraphicFramePr>
        <p:xfrm>
          <a:off x="954000" y="2780299"/>
          <a:ext cx="16380000" cy="47261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7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643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59957">
                <a:tc>
                  <a:txBody>
                    <a:bodyPr/>
                    <a:lstStyle/>
                    <a:p>
                      <a:pPr algn="ctr"/>
                      <a:r>
                        <a:rPr sz="3600" b="1" dirty="0">
                          <a:solidFill>
                            <a:srgbClr val="FFFFFF"/>
                          </a:solidFill>
                        </a:rPr>
                        <a:t>Cohort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6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600" b="1" dirty="0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600" b="1" dirty="0">
                          <a:solidFill>
                            <a:srgbClr val="FFFFFF"/>
                          </a:solidFill>
                        </a:rPr>
                        <a:t>Median 26-wk dl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600" b="1" dirty="0">
                          <a:solidFill>
                            <a:srgbClr val="FFFFFF"/>
                          </a:solidFill>
                        </a:rPr>
                        <a:t>Median post-AI dl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600" b="1" dirty="0">
                          <a:solidFill>
                            <a:srgbClr val="FFFFFF"/>
                          </a:solidFill>
                        </a:rPr>
                        <a:t>Dominant families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9957">
                <a:tc>
                  <a:txBody>
                    <a:bodyPr/>
                    <a:lstStyle/>
                    <a:p>
                      <a:pPr algn="ctr"/>
                      <a:r>
                        <a:rPr sz="3200" b="1"/>
                        <a:t>P2018, dist=−10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/>
                        <a:t>2018-07-16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/>
                        <a:t>1,806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 dirty="0"/>
                        <a:t>734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/>
                        <a:t>11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/>
                        <a:t>odoo10-addon-* (11), libra-</a:t>
                      </a:r>
                      <a:r>
                        <a:rPr sz="2400" b="0" dirty="0" err="1"/>
                        <a:t>py</a:t>
                      </a:r>
                      <a:r>
                        <a:rPr sz="2400" b="0" dirty="0"/>
                        <a:t>-* (8), ie-mbdbl2018-* (7)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9957">
                <a:tc>
                  <a:txBody>
                    <a:bodyPr/>
                    <a:lstStyle/>
                    <a:p>
                      <a:pPr algn="ctr"/>
                      <a:r>
                        <a:rPr sz="3200" b="1" dirty="0"/>
                        <a:t>P2020, </a:t>
                      </a:r>
                      <a:r>
                        <a:rPr sz="3200" b="1" dirty="0" err="1"/>
                        <a:t>dist</a:t>
                      </a:r>
                      <a:r>
                        <a:rPr sz="3200" b="1" dirty="0"/>
                        <a:t>=−10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 dirty="0"/>
                        <a:t>2020-07-20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/>
                        <a:t>2,651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 dirty="0"/>
                        <a:t>903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 dirty="0"/>
                        <a:t>1,362</a:t>
                      </a:r>
                      <a:r>
                        <a:rPr lang="hu-HU" sz="3200" b="0" baseline="30000" dirty="0"/>
                        <a:t>1</a:t>
                      </a:r>
                      <a:endParaRPr sz="3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/>
                        <a:t>odoo13-addon-* (26), odoo12-addon-* (25), </a:t>
                      </a:r>
                      <a:r>
                        <a:rPr sz="2400" b="0" dirty="0" err="1"/>
                        <a:t>cloudcomponents-cdk</a:t>
                      </a:r>
                      <a:r>
                        <a:rPr sz="2400" b="0" dirty="0"/>
                        <a:t>-* (18)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9957">
                <a:tc>
                  <a:txBody>
                    <a:bodyPr/>
                    <a:lstStyle/>
                    <a:p>
                      <a:pPr algn="ctr"/>
                      <a:r>
                        <a:rPr sz="3200" b="1"/>
                        <a:t>P2020, dist=−9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/>
                        <a:t>2020-07-27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/>
                        <a:t>4,142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/>
                        <a:t>674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/>
                        <a:t>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/>
                        <a:t>odoo13-addon-* (27), odoo12-addon-* (8), </a:t>
                      </a:r>
                      <a:r>
                        <a:rPr sz="2400" b="0" dirty="0" err="1"/>
                        <a:t>dsnd</a:t>
                      </a:r>
                      <a:r>
                        <a:rPr sz="2400" b="0" dirty="0"/>
                        <a:t>-probability-* (7)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21F68D6-B0AE-6B73-205A-C23212E38A17}"/>
              </a:ext>
            </a:extLst>
          </p:cNvPr>
          <p:cNvSpPr txBox="1"/>
          <p:nvPr/>
        </p:nvSpPr>
        <p:spPr>
          <a:xfrm>
            <a:off x="3005975" y="7858119"/>
            <a:ext cx="1435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baseline="30000" dirty="0"/>
              <a:t>1</a:t>
            </a:r>
            <a:r>
              <a:rPr lang="en-US" i="1" dirty="0"/>
              <a:t>this release also picked up 18 </a:t>
            </a:r>
            <a:r>
              <a:rPr lang="en-US" i="1" dirty="0" err="1"/>
              <a:t>cloudcomponents-cdk</a:t>
            </a:r>
            <a:r>
              <a:rPr lang="en-US" i="1" dirty="0"/>
              <a:t> packages (AWS CDK construct library) that genuinely retain post-AI traffic via CI/</a:t>
            </a:r>
            <a:r>
              <a:rPr lang="en-US" i="1" dirty="0" err="1"/>
              <a:t>IaC</a:t>
            </a:r>
            <a:r>
              <a:rPr lang="en-US" i="1" dirty="0"/>
              <a:t> pipelines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3EBB3DB-A180-BFCD-05EC-2C442E4CA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5985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3EB76-2A88-34F7-EB7B-8BA1BAB50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861891-27DD-D169-CF19-A62839D88305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DC9FB9-1F08-184F-7474-58BCAAA5B39B}"/>
              </a:ext>
            </a:extLst>
          </p:cNvPr>
          <p:cNvSpPr/>
          <p:nvPr/>
        </p:nvSpPr>
        <p:spPr>
          <a:xfrm>
            <a:off x="952499" y="571500"/>
            <a:ext cx="1074321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36" dirty="0" err="1">
                <a:solidFill>
                  <a:srgbClr val="03045E"/>
                </a:solidFill>
                <a:latin typeface="Source Serif 4 14pt Black" pitchFamily="34" charset="0"/>
                <a:ea typeface="Source Serif 4 14pt Black" pitchFamily="34" charset="-122"/>
                <a:cs typeface="Source Serif 4 14pt Black" pitchFamily="34" charset="-120"/>
              </a:rPr>
              <a:t>mdurl</a:t>
            </a:r>
            <a:endParaRPr lang="en-US"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5E708A-A643-B748-E776-F96D0F7C2E8E}"/>
              </a:ext>
            </a:extLst>
          </p:cNvPr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4A13D75-9456-4775-DCF6-C223F39FB1CD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803D68-90B5-E2BA-CEC6-AC9AE7798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4806" y="609345"/>
            <a:ext cx="733933" cy="733933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7D304E8-DA48-C3BD-E5A0-29D5DF1EE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group of graphs showing the same number of programs&#10;&#10;AI-generated content may be incorrect.">
            <a:extLst>
              <a:ext uri="{FF2B5EF4-FFF2-40B4-BE49-F238E27FC236}">
                <a16:creationId xmlns:a16="http://schemas.microsoft.com/office/drawing/2014/main" id="{451046FA-01A2-5258-9035-87C404A76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469" y="1517779"/>
            <a:ext cx="12363061" cy="82420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075992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499" y="665857"/>
            <a:ext cx="12978653" cy="915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31" dirty="0">
                <a:solidFill>
                  <a:srgbClr val="03045E"/>
                </a:solidFill>
                <a:latin typeface="Source Serif 4 14pt Black" pitchFamily="34" charset="0"/>
                <a:ea typeface="Source Serif 4 14pt Black" pitchFamily="34" charset="-122"/>
                <a:cs typeface="Source Serif 4 14pt Black" pitchFamily="34" charset="-120"/>
              </a:rPr>
              <a:t>Summary statistics – activation dynamics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1695450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52500" y="2728913"/>
            <a:ext cx="5644307" cy="1905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1123950" y="2295525"/>
            <a:ext cx="547073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kern="0" spc="72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596807" y="2728913"/>
            <a:ext cx="4098950" cy="1905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8"/>
          <p:cNvSpPr/>
          <p:nvPr/>
        </p:nvSpPr>
        <p:spPr>
          <a:xfrm>
            <a:off x="6645288" y="2297338"/>
            <a:ext cx="3879018" cy="33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b="1" kern="0" spc="72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PRE-CUTOFF MEAN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0695756" y="2728913"/>
            <a:ext cx="4374207" cy="1905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10735980" y="2297338"/>
            <a:ext cx="4162534" cy="33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b="1" kern="0" spc="72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POST-CUTOFF MEAN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5069964" y="2728913"/>
            <a:ext cx="2265536" cy="1905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2"/>
          <p:cNvSpPr/>
          <p:nvPr/>
        </p:nvSpPr>
        <p:spPr>
          <a:xfrm>
            <a:off x="15165214" y="2297338"/>
            <a:ext cx="1998836" cy="33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b="1" kern="0" spc="72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 %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952500" y="3314700"/>
            <a:ext cx="5644307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7" name="Text 14"/>
          <p:cNvSpPr/>
          <p:nvPr/>
        </p:nvSpPr>
        <p:spPr>
          <a:xfrm>
            <a:off x="1123950" y="2900363"/>
            <a:ext cx="547073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 + 6 months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596807" y="3314700"/>
            <a:ext cx="409895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6"/>
          <p:cNvSpPr/>
          <p:nvPr/>
        </p:nvSpPr>
        <p:spPr>
          <a:xfrm>
            <a:off x="6645288" y="2900363"/>
            <a:ext cx="387901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1,467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10695756" y="3314700"/>
            <a:ext cx="4374207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8"/>
          <p:cNvSpPr/>
          <p:nvPr/>
        </p:nvSpPr>
        <p:spPr>
          <a:xfrm>
            <a:off x="10735980" y="2900363"/>
            <a:ext cx="41625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630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15069964" y="3314700"/>
            <a:ext cx="2265536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0"/>
          <p:cNvSpPr/>
          <p:nvPr/>
        </p:nvSpPr>
        <p:spPr>
          <a:xfrm>
            <a:off x="15165214" y="2900363"/>
            <a:ext cx="199883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+133%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952500" y="3886200"/>
            <a:ext cx="5644307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5" name="Text 22"/>
          <p:cNvSpPr/>
          <p:nvPr/>
        </p:nvSpPr>
        <p:spPr>
          <a:xfrm>
            <a:off x="1123950" y="3476625"/>
            <a:ext cx="54707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 + 12 months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6596807" y="3886200"/>
            <a:ext cx="409895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7" name="Text 24"/>
          <p:cNvSpPr/>
          <p:nvPr/>
        </p:nvSpPr>
        <p:spPr>
          <a:xfrm>
            <a:off x="6645288" y="3476625"/>
            <a:ext cx="387901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2,559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10695756" y="3886200"/>
            <a:ext cx="4374207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9" name="Text 26"/>
          <p:cNvSpPr/>
          <p:nvPr/>
        </p:nvSpPr>
        <p:spPr>
          <a:xfrm>
            <a:off x="10735980" y="3476625"/>
            <a:ext cx="4162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1,085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15069964" y="3886200"/>
            <a:ext cx="2265536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1" name="Text 28"/>
          <p:cNvSpPr/>
          <p:nvPr/>
        </p:nvSpPr>
        <p:spPr>
          <a:xfrm>
            <a:off x="15165214" y="3476625"/>
            <a:ext cx="19988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+136%</a:t>
            </a:r>
            <a:endParaRPr lang="en-US" sz="2400" dirty="0"/>
          </a:p>
        </p:txBody>
      </p:sp>
      <p:sp>
        <p:nvSpPr>
          <p:cNvPr id="32" name="Shape 29"/>
          <p:cNvSpPr/>
          <p:nvPr/>
        </p:nvSpPr>
        <p:spPr>
          <a:xfrm>
            <a:off x="952500" y="4457700"/>
            <a:ext cx="5644307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3" name="Text 30"/>
          <p:cNvSpPr/>
          <p:nvPr/>
        </p:nvSpPr>
        <p:spPr>
          <a:xfrm>
            <a:off x="1123950" y="4048125"/>
            <a:ext cx="54707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 + 24 months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6596807" y="4457700"/>
            <a:ext cx="409895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5" name="Text 32"/>
          <p:cNvSpPr/>
          <p:nvPr/>
        </p:nvSpPr>
        <p:spPr>
          <a:xfrm>
            <a:off x="6645288" y="4048125"/>
            <a:ext cx="387901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8,218</a:t>
            </a:r>
            <a:endParaRPr lang="en-US" sz="2400" dirty="0"/>
          </a:p>
        </p:txBody>
      </p:sp>
      <p:sp>
        <p:nvSpPr>
          <p:cNvPr id="36" name="Shape 33"/>
          <p:cNvSpPr/>
          <p:nvPr/>
        </p:nvSpPr>
        <p:spPr>
          <a:xfrm>
            <a:off x="10695756" y="4457700"/>
            <a:ext cx="4374207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7" name="Text 34"/>
          <p:cNvSpPr/>
          <p:nvPr/>
        </p:nvSpPr>
        <p:spPr>
          <a:xfrm>
            <a:off x="10735980" y="4048125"/>
            <a:ext cx="4162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2,124</a:t>
            </a:r>
            <a:endParaRPr lang="en-US" sz="2400" dirty="0"/>
          </a:p>
        </p:txBody>
      </p:sp>
      <p:sp>
        <p:nvSpPr>
          <p:cNvPr id="38" name="Shape 35"/>
          <p:cNvSpPr/>
          <p:nvPr/>
        </p:nvSpPr>
        <p:spPr>
          <a:xfrm>
            <a:off x="15069964" y="4457700"/>
            <a:ext cx="2265536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9" name="Text 36"/>
          <p:cNvSpPr/>
          <p:nvPr/>
        </p:nvSpPr>
        <p:spPr>
          <a:xfrm>
            <a:off x="15165214" y="4048125"/>
            <a:ext cx="19988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+287%</a:t>
            </a:r>
            <a:endParaRPr lang="en-US" sz="2400" dirty="0"/>
          </a:p>
        </p:txBody>
      </p:sp>
      <p:sp>
        <p:nvSpPr>
          <p:cNvPr id="40" name="Shape 37"/>
          <p:cNvSpPr/>
          <p:nvPr/>
        </p:nvSpPr>
        <p:spPr>
          <a:xfrm>
            <a:off x="952500" y="5029200"/>
            <a:ext cx="5644307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1" name="Text 38"/>
          <p:cNvSpPr/>
          <p:nvPr/>
        </p:nvSpPr>
        <p:spPr>
          <a:xfrm>
            <a:off x="1123950" y="4619625"/>
            <a:ext cx="54707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January 2026</a:t>
            </a:r>
            <a:endParaRPr lang="en-US" sz="2400" dirty="0"/>
          </a:p>
        </p:txBody>
      </p:sp>
      <p:sp>
        <p:nvSpPr>
          <p:cNvPr id="42" name="Shape 39"/>
          <p:cNvSpPr/>
          <p:nvPr/>
        </p:nvSpPr>
        <p:spPr>
          <a:xfrm>
            <a:off x="6596807" y="5029200"/>
            <a:ext cx="409895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3" name="Text 40"/>
          <p:cNvSpPr/>
          <p:nvPr/>
        </p:nvSpPr>
        <p:spPr>
          <a:xfrm>
            <a:off x="6645288" y="4619625"/>
            <a:ext cx="387901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18,085</a:t>
            </a:r>
            <a:endParaRPr lang="en-US" sz="2400" dirty="0"/>
          </a:p>
        </p:txBody>
      </p:sp>
      <p:sp>
        <p:nvSpPr>
          <p:cNvPr id="44" name="Shape 41"/>
          <p:cNvSpPr/>
          <p:nvPr/>
        </p:nvSpPr>
        <p:spPr>
          <a:xfrm>
            <a:off x="10695756" y="5029200"/>
            <a:ext cx="4374207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5" name="Text 42"/>
          <p:cNvSpPr/>
          <p:nvPr/>
        </p:nvSpPr>
        <p:spPr>
          <a:xfrm>
            <a:off x="10735980" y="4619625"/>
            <a:ext cx="416253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3,410</a:t>
            </a:r>
            <a:endParaRPr lang="en-US" sz="2400" dirty="0"/>
          </a:p>
        </p:txBody>
      </p:sp>
      <p:sp>
        <p:nvSpPr>
          <p:cNvPr id="46" name="Shape 43"/>
          <p:cNvSpPr/>
          <p:nvPr/>
        </p:nvSpPr>
        <p:spPr>
          <a:xfrm>
            <a:off x="15069964" y="5029200"/>
            <a:ext cx="2265536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7" name="Text 44"/>
          <p:cNvSpPr/>
          <p:nvPr/>
        </p:nvSpPr>
        <p:spPr>
          <a:xfrm>
            <a:off x="15165214" y="4619625"/>
            <a:ext cx="19988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+430%</a:t>
            </a:r>
            <a:endParaRPr lang="en-US" sz="2400" dirty="0"/>
          </a:p>
        </p:txBody>
      </p:sp>
      <p:sp>
        <p:nvSpPr>
          <p:cNvPr id="48" name="Shape 45"/>
          <p:cNvSpPr/>
          <p:nvPr/>
        </p:nvSpPr>
        <p:spPr>
          <a:xfrm>
            <a:off x="952500" y="5038725"/>
            <a:ext cx="16383000" cy="566738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9" name="Text 46"/>
          <p:cNvSpPr/>
          <p:nvPr/>
        </p:nvSpPr>
        <p:spPr>
          <a:xfrm>
            <a:off x="1123950" y="5191125"/>
            <a:ext cx="547073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Post-ChatGPT average</a:t>
            </a:r>
            <a:endParaRPr lang="en-US" sz="2400" dirty="0"/>
          </a:p>
        </p:txBody>
      </p:sp>
      <p:sp>
        <p:nvSpPr>
          <p:cNvPr id="50" name="Text 47"/>
          <p:cNvSpPr/>
          <p:nvPr/>
        </p:nvSpPr>
        <p:spPr>
          <a:xfrm>
            <a:off x="6645288" y="5191125"/>
            <a:ext cx="387901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6,538</a:t>
            </a:r>
            <a:endParaRPr lang="en-US" sz="2400" dirty="0"/>
          </a:p>
        </p:txBody>
      </p:sp>
      <p:sp>
        <p:nvSpPr>
          <p:cNvPr id="51" name="Text 48"/>
          <p:cNvSpPr/>
          <p:nvPr/>
        </p:nvSpPr>
        <p:spPr>
          <a:xfrm>
            <a:off x="10735980" y="5191125"/>
            <a:ext cx="41625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1,703</a:t>
            </a:r>
            <a:endParaRPr lang="en-US" sz="2400" dirty="0"/>
          </a:p>
        </p:txBody>
      </p:sp>
      <p:sp>
        <p:nvSpPr>
          <p:cNvPr id="52" name="Text 49"/>
          <p:cNvSpPr/>
          <p:nvPr/>
        </p:nvSpPr>
        <p:spPr>
          <a:xfrm>
            <a:off x="15165214" y="5191125"/>
            <a:ext cx="199883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+284%</a:t>
            </a:r>
            <a:endParaRPr lang="en-US" sz="2400" dirty="0"/>
          </a:p>
        </p:txBody>
      </p:sp>
      <p:sp>
        <p:nvSpPr>
          <p:cNvPr id="53" name="Text 50"/>
          <p:cNvSpPr/>
          <p:nvPr/>
        </p:nvSpPr>
        <p:spPr>
          <a:xfrm>
            <a:off x="706755" y="6562725"/>
            <a:ext cx="168744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PyPI downloads, mean across libraries in each cohort. Pre-cutoff: libraries released Jan-July 2021; Post-cutoff: Oct 2021 onward</a:t>
            </a:r>
            <a:endParaRPr lang="en-US" sz="2400" dirty="0"/>
          </a:p>
        </p:txBody>
      </p:sp>
      <p:sp>
        <p:nvSpPr>
          <p:cNvPr id="54" name="Text 51"/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8ACD9E88-901F-8CE5-8AC1-9DC7B6D15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374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2">
            <a:extLst>
              <a:ext uri="{FF2B5EF4-FFF2-40B4-BE49-F238E27FC236}">
                <a16:creationId xmlns:a16="http://schemas.microsoft.com/office/drawing/2014/main" id="{48CC651C-5204-37A9-411C-F836A4C0C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CC7EC2A2-CE16-959E-AAB3-5E721FDB23F6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A305B9-2C73-B942-081B-916AC4920250}"/>
              </a:ext>
            </a:extLst>
          </p:cNvPr>
          <p:cNvSpPr/>
          <p:nvPr/>
        </p:nvSpPr>
        <p:spPr>
          <a:xfrm>
            <a:off x="952499" y="780704"/>
            <a:ext cx="15004677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4800" b="1" kern="0" spc="-31" dirty="0">
                <a:solidFill>
                  <a:srgbClr val="03045E"/>
                </a:solidFill>
                <a:latin typeface="Source Serif 4 14pt Black" pitchFamily="34" charset="0"/>
                <a:ea typeface="Source Serif 4 14pt Black" pitchFamily="34" charset="-122"/>
              </a:rPr>
              <a:t>Long-horizon diffusion on a common-origin axis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71EA45A-0FF2-D528-8CC6-659AB4390ED6}"/>
              </a:ext>
            </a:extLst>
          </p:cNvPr>
          <p:cNvSpPr/>
          <p:nvPr/>
        </p:nvSpPr>
        <p:spPr>
          <a:xfrm>
            <a:off x="952500" y="1695450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8D223486-67F3-CF73-AB83-376183AA7939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D90315-4939-49DD-A729-58FE770EB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1828800"/>
            <a:ext cx="10661904" cy="62194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5ED0B69-CCFA-683D-FD4F-B88BECF3FBE0}"/>
              </a:ext>
            </a:extLst>
          </p:cNvPr>
          <p:cNvSpPr txBox="1"/>
          <p:nvPr/>
        </p:nvSpPr>
        <p:spPr>
          <a:xfrm>
            <a:off x="565262" y="8229600"/>
            <a:ext cx="17157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effectLst/>
                <a:latin typeface="Inter Tight" pitchFamily="2" charset="0"/>
                <a:ea typeface="Inter Tight" pitchFamily="2" charset="0"/>
                <a:cs typeface="Inter Tight" pitchFamily="2" charset="0"/>
              </a:rPr>
              <a:t>Cumulative mean weekly downloads, July 2021 (pre-cutoff) versus October 2021 (post-cutoff) cohorts, plotted against weeks since each package's first observed download. The common-origin axis removes the calendar head-start the pre-cohort would otherwise carry.</a:t>
            </a:r>
          </a:p>
          <a:p>
            <a:pPr algn="ctr"/>
            <a:r>
              <a:rPr lang="en-US" dirty="0">
                <a:solidFill>
                  <a:srgbClr val="002060"/>
                </a:solidFill>
                <a:effectLst/>
                <a:latin typeface="Inter Tight" pitchFamily="2" charset="0"/>
                <a:ea typeface="Inter Tight" pitchFamily="2" charset="0"/>
                <a:cs typeface="Inter Tight" pitchFamily="2" charset="0"/>
              </a:rPr>
              <a:t>Cohort means track each other for the first ~75 weeks of life, then the July cohort pulls ahead on aggregate volume</a:t>
            </a:r>
          </a:p>
          <a:p>
            <a:pPr algn="ctr"/>
            <a:r>
              <a:rPr lang="en-US" dirty="0">
                <a:solidFill>
                  <a:srgbClr val="002060"/>
                </a:solidFill>
                <a:effectLst/>
                <a:latin typeface="Inter Tight" pitchFamily="2" charset="0"/>
                <a:ea typeface="Inter Tight" pitchFamily="2" charset="0"/>
                <a:cs typeface="Inter Tight" pitchFamily="2" charset="0"/>
              </a:rPr>
              <a:t>The figure illustrates a long-run level gap on aggregate volume, not an immediate boundary discontinuity.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742950"/>
            <a:ext cx="10244587" cy="8764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4800" b="1" kern="0" spc="-31" dirty="0">
                <a:solidFill>
                  <a:srgbClr val="03045E"/>
                </a:solidFill>
                <a:latin typeface="Source Serif 4 14pt Black" pitchFamily="34" charset="0"/>
                <a:ea typeface="Source Serif 4 14pt Black" pitchFamily="34" charset="-122"/>
              </a:rPr>
              <a:t>Diff-in-RDD estimates (PyPI)</a:t>
            </a:r>
          </a:p>
        </p:txBody>
      </p:sp>
      <p:sp>
        <p:nvSpPr>
          <p:cNvPr id="6" name="Shape 4"/>
          <p:cNvSpPr/>
          <p:nvPr/>
        </p:nvSpPr>
        <p:spPr>
          <a:xfrm>
            <a:off x="952500" y="1695450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52500" y="2728913"/>
            <a:ext cx="5578004" cy="1905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9" name="Text 6"/>
          <p:cNvSpPr/>
          <p:nvPr/>
        </p:nvSpPr>
        <p:spPr>
          <a:xfrm>
            <a:off x="1123950" y="2419350"/>
            <a:ext cx="540244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72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530504" y="2728913"/>
            <a:ext cx="2753544" cy="1905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1" name="Text 8"/>
          <p:cNvSpPr/>
          <p:nvPr/>
        </p:nvSpPr>
        <p:spPr>
          <a:xfrm>
            <a:off x="6701954" y="2419350"/>
            <a:ext cx="24932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72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9284047" y="2728913"/>
            <a:ext cx="2816126" cy="1905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3" name="Text 10"/>
          <p:cNvSpPr/>
          <p:nvPr/>
        </p:nvSpPr>
        <p:spPr>
          <a:xfrm>
            <a:off x="9371013" y="2419350"/>
            <a:ext cx="25577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b="1" kern="0" spc="72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EXCESS JUMP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2100173" y="2728913"/>
            <a:ext cx="1493490" cy="1905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5" name="Text 12"/>
          <p:cNvSpPr/>
          <p:nvPr/>
        </p:nvSpPr>
        <p:spPr>
          <a:xfrm>
            <a:off x="12195423" y="2419350"/>
            <a:ext cx="122679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b="1" kern="0" spc="72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13593663" y="2728913"/>
            <a:ext cx="1745010" cy="1905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7" name="Text 14"/>
          <p:cNvSpPr/>
          <p:nvPr/>
        </p:nvSpPr>
        <p:spPr>
          <a:xfrm>
            <a:off x="13688913" y="2419350"/>
            <a:ext cx="147831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b="1" kern="0" spc="72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15338673" y="2728913"/>
            <a:ext cx="1996827" cy="1905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9" name="Text 16"/>
          <p:cNvSpPr/>
          <p:nvPr/>
        </p:nvSpPr>
        <p:spPr>
          <a:xfrm>
            <a:off x="15433923" y="2419350"/>
            <a:ext cx="173012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b="1" kern="0" spc="72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952500" y="3314700"/>
            <a:ext cx="5578004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1" name="Text 18"/>
          <p:cNvSpPr/>
          <p:nvPr/>
        </p:nvSpPr>
        <p:spPr>
          <a:xfrm>
            <a:off x="1123950" y="2900363"/>
            <a:ext cx="540244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Pre-ChatGPT baseline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6530504" y="3314700"/>
            <a:ext cx="2753544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3" name="Text 20"/>
          <p:cNvSpPr/>
          <p:nvPr/>
        </p:nvSpPr>
        <p:spPr>
          <a:xfrm>
            <a:off x="6701954" y="2900363"/>
            <a:ext cx="24932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9284047" y="3314700"/>
            <a:ext cx="2816126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5" name="Text 22"/>
          <p:cNvSpPr/>
          <p:nvPr/>
        </p:nvSpPr>
        <p:spPr>
          <a:xfrm>
            <a:off x="9371013" y="2900363"/>
            <a:ext cx="25577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−3.72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12100173" y="3314700"/>
            <a:ext cx="149349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7" name="Text 24"/>
          <p:cNvSpPr/>
          <p:nvPr/>
        </p:nvSpPr>
        <p:spPr>
          <a:xfrm>
            <a:off x="12195423" y="2900363"/>
            <a:ext cx="12267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1.67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13593663" y="3314700"/>
            <a:ext cx="174501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9" name="Text 26"/>
          <p:cNvSpPr/>
          <p:nvPr/>
        </p:nvSpPr>
        <p:spPr>
          <a:xfrm>
            <a:off x="13688913" y="2900363"/>
            <a:ext cx="14783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0.026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15338673" y="3314700"/>
            <a:ext cx="1996827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1" name="Text 28"/>
          <p:cNvSpPr/>
          <p:nvPr/>
        </p:nvSpPr>
        <p:spPr>
          <a:xfrm>
            <a:off x="15433923" y="2792788"/>
            <a:ext cx="1730127" cy="514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75,313</a:t>
            </a:r>
            <a:endParaRPr lang="en-US" sz="2400" dirty="0"/>
          </a:p>
        </p:txBody>
      </p:sp>
      <p:sp>
        <p:nvSpPr>
          <p:cNvPr id="32" name="Shape 29"/>
          <p:cNvSpPr/>
          <p:nvPr/>
        </p:nvSpPr>
        <p:spPr>
          <a:xfrm>
            <a:off x="952500" y="3886200"/>
            <a:ext cx="5578004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3" name="Text 30"/>
          <p:cNvSpPr/>
          <p:nvPr/>
        </p:nvSpPr>
        <p:spPr>
          <a:xfrm>
            <a:off x="1123950" y="3476625"/>
            <a:ext cx="54024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Post-ChatGPT, adjusted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6530504" y="3886200"/>
            <a:ext cx="2753544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5" name="Text 32"/>
          <p:cNvSpPr/>
          <p:nvPr/>
        </p:nvSpPr>
        <p:spPr>
          <a:xfrm>
            <a:off x="6701954" y="3476625"/>
            <a:ext cx="2493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</a:t>
            </a:r>
            <a:endParaRPr lang="en-US" sz="2400" dirty="0"/>
          </a:p>
        </p:txBody>
      </p:sp>
      <p:sp>
        <p:nvSpPr>
          <p:cNvPr id="36" name="Shape 33"/>
          <p:cNvSpPr/>
          <p:nvPr/>
        </p:nvSpPr>
        <p:spPr>
          <a:xfrm>
            <a:off x="9284047" y="3886200"/>
            <a:ext cx="2816126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7" name="Text 34"/>
          <p:cNvSpPr/>
          <p:nvPr/>
        </p:nvSpPr>
        <p:spPr>
          <a:xfrm>
            <a:off x="9371013" y="3476625"/>
            <a:ext cx="25577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−7.29</a:t>
            </a:r>
            <a:endParaRPr lang="en-US" sz="2400" dirty="0"/>
          </a:p>
        </p:txBody>
      </p:sp>
      <p:sp>
        <p:nvSpPr>
          <p:cNvPr id="38" name="Shape 35"/>
          <p:cNvSpPr/>
          <p:nvPr/>
        </p:nvSpPr>
        <p:spPr>
          <a:xfrm>
            <a:off x="12100173" y="3886200"/>
            <a:ext cx="149349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9" name="Text 36"/>
          <p:cNvSpPr/>
          <p:nvPr/>
        </p:nvSpPr>
        <p:spPr>
          <a:xfrm>
            <a:off x="12195423" y="3476625"/>
            <a:ext cx="12267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2.20</a:t>
            </a:r>
            <a:endParaRPr lang="en-US" sz="2400" dirty="0"/>
          </a:p>
        </p:txBody>
      </p:sp>
      <p:sp>
        <p:nvSpPr>
          <p:cNvPr id="40" name="Shape 37"/>
          <p:cNvSpPr/>
          <p:nvPr/>
        </p:nvSpPr>
        <p:spPr>
          <a:xfrm>
            <a:off x="13593663" y="3886200"/>
            <a:ext cx="174501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1" name="Text 38"/>
          <p:cNvSpPr/>
          <p:nvPr/>
        </p:nvSpPr>
        <p:spPr>
          <a:xfrm>
            <a:off x="13688913" y="3476625"/>
            <a:ext cx="14783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0.001</a:t>
            </a:r>
            <a:endParaRPr lang="en-US" sz="2400" dirty="0"/>
          </a:p>
        </p:txBody>
      </p:sp>
      <p:sp>
        <p:nvSpPr>
          <p:cNvPr id="42" name="Shape 39"/>
          <p:cNvSpPr/>
          <p:nvPr/>
        </p:nvSpPr>
        <p:spPr>
          <a:xfrm>
            <a:off x="15338673" y="3886200"/>
            <a:ext cx="1996827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3" name="Text 40"/>
          <p:cNvSpPr/>
          <p:nvPr/>
        </p:nvSpPr>
        <p:spPr>
          <a:xfrm>
            <a:off x="15433923" y="3264279"/>
            <a:ext cx="1730127" cy="685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88,001</a:t>
            </a:r>
            <a:endParaRPr lang="en-US" sz="2400" dirty="0"/>
          </a:p>
        </p:txBody>
      </p:sp>
      <p:sp>
        <p:nvSpPr>
          <p:cNvPr id="44" name="Shape 41"/>
          <p:cNvSpPr/>
          <p:nvPr/>
        </p:nvSpPr>
        <p:spPr>
          <a:xfrm>
            <a:off x="952500" y="3895725"/>
            <a:ext cx="16383000" cy="571500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5" name="Shape 42"/>
          <p:cNvSpPr/>
          <p:nvPr/>
        </p:nvSpPr>
        <p:spPr>
          <a:xfrm>
            <a:off x="952500" y="4457700"/>
            <a:ext cx="5578004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6" name="Text 43"/>
          <p:cNvSpPr/>
          <p:nvPr/>
        </p:nvSpPr>
        <p:spPr>
          <a:xfrm>
            <a:off x="1123950" y="4048125"/>
            <a:ext cx="54024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Post-ChatGPT, adjusted</a:t>
            </a:r>
            <a:endParaRPr lang="en-US" sz="2400" dirty="0"/>
          </a:p>
        </p:txBody>
      </p:sp>
      <p:sp>
        <p:nvSpPr>
          <p:cNvPr id="47" name="Shape 44"/>
          <p:cNvSpPr/>
          <p:nvPr/>
        </p:nvSpPr>
        <p:spPr>
          <a:xfrm>
            <a:off x="6530504" y="4457700"/>
            <a:ext cx="2753544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8" name="Text 45"/>
          <p:cNvSpPr/>
          <p:nvPr/>
        </p:nvSpPr>
        <p:spPr>
          <a:xfrm>
            <a:off x="6701954" y="4048125"/>
            <a:ext cx="2493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</a:t>
            </a:r>
            <a:endParaRPr lang="en-US" sz="2400" dirty="0"/>
          </a:p>
        </p:txBody>
      </p:sp>
      <p:sp>
        <p:nvSpPr>
          <p:cNvPr id="49" name="Shape 46"/>
          <p:cNvSpPr/>
          <p:nvPr/>
        </p:nvSpPr>
        <p:spPr>
          <a:xfrm>
            <a:off x="9284047" y="4457700"/>
            <a:ext cx="2816126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0" name="Text 47"/>
          <p:cNvSpPr/>
          <p:nvPr/>
        </p:nvSpPr>
        <p:spPr>
          <a:xfrm>
            <a:off x="9371013" y="4048125"/>
            <a:ext cx="25577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−7.29</a:t>
            </a:r>
            <a:endParaRPr lang="en-US" sz="2400" dirty="0"/>
          </a:p>
        </p:txBody>
      </p:sp>
      <p:sp>
        <p:nvSpPr>
          <p:cNvPr id="51" name="Shape 48"/>
          <p:cNvSpPr/>
          <p:nvPr/>
        </p:nvSpPr>
        <p:spPr>
          <a:xfrm>
            <a:off x="12100173" y="4457700"/>
            <a:ext cx="149349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2" name="Text 49"/>
          <p:cNvSpPr/>
          <p:nvPr/>
        </p:nvSpPr>
        <p:spPr>
          <a:xfrm>
            <a:off x="12195423" y="4048125"/>
            <a:ext cx="12267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2.39</a:t>
            </a:r>
            <a:endParaRPr lang="en-US" sz="2400" dirty="0"/>
          </a:p>
        </p:txBody>
      </p:sp>
      <p:sp>
        <p:nvSpPr>
          <p:cNvPr id="53" name="Shape 50"/>
          <p:cNvSpPr/>
          <p:nvPr/>
        </p:nvSpPr>
        <p:spPr>
          <a:xfrm>
            <a:off x="13593663" y="4457700"/>
            <a:ext cx="174501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4" name="Text 51"/>
          <p:cNvSpPr/>
          <p:nvPr/>
        </p:nvSpPr>
        <p:spPr>
          <a:xfrm>
            <a:off x="13688913" y="4048125"/>
            <a:ext cx="14783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0.002</a:t>
            </a:r>
            <a:endParaRPr lang="en-US" sz="2400" dirty="0"/>
          </a:p>
        </p:txBody>
      </p:sp>
      <p:sp>
        <p:nvSpPr>
          <p:cNvPr id="55" name="Shape 52"/>
          <p:cNvSpPr/>
          <p:nvPr/>
        </p:nvSpPr>
        <p:spPr>
          <a:xfrm>
            <a:off x="15338673" y="4457700"/>
            <a:ext cx="1996827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6" name="Text 53"/>
          <p:cNvSpPr/>
          <p:nvPr/>
        </p:nvSpPr>
        <p:spPr>
          <a:xfrm>
            <a:off x="15433923" y="3835779"/>
            <a:ext cx="1730127" cy="685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75,313</a:t>
            </a:r>
            <a:endParaRPr lang="en-US" sz="2400" dirty="0"/>
          </a:p>
        </p:txBody>
      </p:sp>
      <p:sp>
        <p:nvSpPr>
          <p:cNvPr id="57" name="Shape 54"/>
          <p:cNvSpPr/>
          <p:nvPr/>
        </p:nvSpPr>
        <p:spPr>
          <a:xfrm>
            <a:off x="952500" y="5029200"/>
            <a:ext cx="5578004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8" name="Text 55"/>
          <p:cNvSpPr/>
          <p:nvPr/>
        </p:nvSpPr>
        <p:spPr>
          <a:xfrm>
            <a:off x="1123950" y="4619625"/>
            <a:ext cx="54024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Post-ChatGPT, adjusted</a:t>
            </a:r>
            <a:endParaRPr lang="en-US" sz="2400" dirty="0"/>
          </a:p>
        </p:txBody>
      </p:sp>
      <p:sp>
        <p:nvSpPr>
          <p:cNvPr id="59" name="Shape 56"/>
          <p:cNvSpPr/>
          <p:nvPr/>
        </p:nvSpPr>
        <p:spPr>
          <a:xfrm>
            <a:off x="6530504" y="5029200"/>
            <a:ext cx="2753544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0" name="Text 57"/>
          <p:cNvSpPr/>
          <p:nvPr/>
        </p:nvSpPr>
        <p:spPr>
          <a:xfrm>
            <a:off x="6701954" y="4619625"/>
            <a:ext cx="2493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Superstar</a:t>
            </a:r>
            <a:endParaRPr lang="en-US" sz="2400" dirty="0"/>
          </a:p>
        </p:txBody>
      </p:sp>
      <p:sp>
        <p:nvSpPr>
          <p:cNvPr id="61" name="Shape 58"/>
          <p:cNvSpPr/>
          <p:nvPr/>
        </p:nvSpPr>
        <p:spPr>
          <a:xfrm>
            <a:off x="9284047" y="5029200"/>
            <a:ext cx="2816126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2" name="Text 59"/>
          <p:cNvSpPr/>
          <p:nvPr/>
        </p:nvSpPr>
        <p:spPr>
          <a:xfrm>
            <a:off x="9371013" y="4619625"/>
            <a:ext cx="25577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−0.25</a:t>
            </a:r>
            <a:endParaRPr lang="en-US" sz="2400" dirty="0"/>
          </a:p>
        </p:txBody>
      </p:sp>
      <p:sp>
        <p:nvSpPr>
          <p:cNvPr id="63" name="Shape 60"/>
          <p:cNvSpPr/>
          <p:nvPr/>
        </p:nvSpPr>
        <p:spPr>
          <a:xfrm>
            <a:off x="12100173" y="5029200"/>
            <a:ext cx="149349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4" name="Text 61"/>
          <p:cNvSpPr/>
          <p:nvPr/>
        </p:nvSpPr>
        <p:spPr>
          <a:xfrm>
            <a:off x="12195423" y="4619625"/>
            <a:ext cx="12267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0.35</a:t>
            </a:r>
            <a:endParaRPr lang="en-US" sz="2400" dirty="0"/>
          </a:p>
        </p:txBody>
      </p:sp>
      <p:sp>
        <p:nvSpPr>
          <p:cNvPr id="65" name="Shape 62"/>
          <p:cNvSpPr/>
          <p:nvPr/>
        </p:nvSpPr>
        <p:spPr>
          <a:xfrm>
            <a:off x="13593663" y="5029200"/>
            <a:ext cx="174501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6" name="Text 63"/>
          <p:cNvSpPr/>
          <p:nvPr/>
        </p:nvSpPr>
        <p:spPr>
          <a:xfrm>
            <a:off x="13688913" y="4619625"/>
            <a:ext cx="14783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0.473</a:t>
            </a:r>
            <a:endParaRPr lang="en-US" sz="2400" dirty="0"/>
          </a:p>
        </p:txBody>
      </p:sp>
      <p:sp>
        <p:nvSpPr>
          <p:cNvPr id="67" name="Shape 64"/>
          <p:cNvSpPr/>
          <p:nvPr/>
        </p:nvSpPr>
        <p:spPr>
          <a:xfrm>
            <a:off x="15338673" y="5029200"/>
            <a:ext cx="1996827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68" name="Text 65"/>
          <p:cNvSpPr/>
          <p:nvPr/>
        </p:nvSpPr>
        <p:spPr>
          <a:xfrm>
            <a:off x="15433923" y="4435676"/>
            <a:ext cx="1730127" cy="751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57,931</a:t>
            </a:r>
            <a:endParaRPr lang="en-US" sz="2400" dirty="0"/>
          </a:p>
        </p:txBody>
      </p:sp>
      <p:sp>
        <p:nvSpPr>
          <p:cNvPr id="69" name="Shape 66"/>
          <p:cNvSpPr/>
          <p:nvPr/>
        </p:nvSpPr>
        <p:spPr>
          <a:xfrm>
            <a:off x="952500" y="5600700"/>
            <a:ext cx="5578004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70" name="Text 67"/>
          <p:cNvSpPr/>
          <p:nvPr/>
        </p:nvSpPr>
        <p:spPr>
          <a:xfrm>
            <a:off x="1123950" y="5191125"/>
            <a:ext cx="54024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Post-ChatGPT, unadjusted</a:t>
            </a:r>
            <a:endParaRPr lang="en-US" sz="2400" dirty="0"/>
          </a:p>
        </p:txBody>
      </p:sp>
      <p:sp>
        <p:nvSpPr>
          <p:cNvPr id="71" name="Shape 68"/>
          <p:cNvSpPr/>
          <p:nvPr/>
        </p:nvSpPr>
        <p:spPr>
          <a:xfrm>
            <a:off x="6530504" y="5600700"/>
            <a:ext cx="2753544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72" name="Text 69"/>
          <p:cNvSpPr/>
          <p:nvPr/>
        </p:nvSpPr>
        <p:spPr>
          <a:xfrm>
            <a:off x="6701954" y="5191125"/>
            <a:ext cx="24932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</a:t>
            </a:r>
            <a:endParaRPr lang="en-US" sz="2400" dirty="0"/>
          </a:p>
        </p:txBody>
      </p:sp>
      <p:sp>
        <p:nvSpPr>
          <p:cNvPr id="73" name="Shape 70"/>
          <p:cNvSpPr/>
          <p:nvPr/>
        </p:nvSpPr>
        <p:spPr>
          <a:xfrm>
            <a:off x="9284047" y="5600700"/>
            <a:ext cx="2816126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74" name="Text 71"/>
          <p:cNvSpPr/>
          <p:nvPr/>
        </p:nvSpPr>
        <p:spPr>
          <a:xfrm>
            <a:off x="9371013" y="5191125"/>
            <a:ext cx="25577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−9.14</a:t>
            </a:r>
            <a:endParaRPr lang="en-US" sz="2400" dirty="0"/>
          </a:p>
        </p:txBody>
      </p:sp>
      <p:sp>
        <p:nvSpPr>
          <p:cNvPr id="75" name="Shape 72"/>
          <p:cNvSpPr/>
          <p:nvPr/>
        </p:nvSpPr>
        <p:spPr>
          <a:xfrm>
            <a:off x="12100173" y="5600700"/>
            <a:ext cx="149349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76" name="Text 73"/>
          <p:cNvSpPr/>
          <p:nvPr/>
        </p:nvSpPr>
        <p:spPr>
          <a:xfrm>
            <a:off x="12195423" y="5191125"/>
            <a:ext cx="12267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4.42</a:t>
            </a:r>
            <a:endParaRPr lang="en-US" sz="2400" dirty="0"/>
          </a:p>
        </p:txBody>
      </p:sp>
      <p:sp>
        <p:nvSpPr>
          <p:cNvPr id="77" name="Shape 74"/>
          <p:cNvSpPr/>
          <p:nvPr/>
        </p:nvSpPr>
        <p:spPr>
          <a:xfrm>
            <a:off x="13593663" y="5600700"/>
            <a:ext cx="174501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78" name="Text 75"/>
          <p:cNvSpPr/>
          <p:nvPr/>
        </p:nvSpPr>
        <p:spPr>
          <a:xfrm>
            <a:off x="13688913" y="5191125"/>
            <a:ext cx="14783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0.039</a:t>
            </a:r>
            <a:endParaRPr lang="en-US" sz="2400" dirty="0"/>
          </a:p>
        </p:txBody>
      </p:sp>
      <p:sp>
        <p:nvSpPr>
          <p:cNvPr id="79" name="Shape 76"/>
          <p:cNvSpPr/>
          <p:nvPr/>
        </p:nvSpPr>
        <p:spPr>
          <a:xfrm>
            <a:off x="15338673" y="5600700"/>
            <a:ext cx="1996827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80" name="Text 77"/>
          <p:cNvSpPr/>
          <p:nvPr/>
        </p:nvSpPr>
        <p:spPr>
          <a:xfrm>
            <a:off x="15433923" y="4978778"/>
            <a:ext cx="1730127" cy="685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88,001</a:t>
            </a:r>
            <a:endParaRPr lang="en-US" sz="2400" dirty="0"/>
          </a:p>
        </p:txBody>
      </p:sp>
      <p:sp>
        <p:nvSpPr>
          <p:cNvPr id="81" name="Text 78"/>
          <p:cNvSpPr/>
          <p:nvPr/>
        </p:nvSpPr>
        <p:spPr>
          <a:xfrm>
            <a:off x="1123950" y="5762625"/>
            <a:ext cx="540244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Post-ChatGPT, unadjusted</a:t>
            </a:r>
            <a:endParaRPr lang="en-US" sz="2400" dirty="0"/>
          </a:p>
        </p:txBody>
      </p:sp>
      <p:sp>
        <p:nvSpPr>
          <p:cNvPr id="82" name="Text 79"/>
          <p:cNvSpPr/>
          <p:nvPr/>
        </p:nvSpPr>
        <p:spPr>
          <a:xfrm>
            <a:off x="6701954" y="5762625"/>
            <a:ext cx="24932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</a:t>
            </a:r>
            <a:endParaRPr lang="en-US" sz="2400" dirty="0"/>
          </a:p>
        </p:txBody>
      </p:sp>
      <p:sp>
        <p:nvSpPr>
          <p:cNvPr id="83" name="Text 80"/>
          <p:cNvSpPr/>
          <p:nvPr/>
        </p:nvSpPr>
        <p:spPr>
          <a:xfrm>
            <a:off x="9371013" y="5762625"/>
            <a:ext cx="25577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−12.79</a:t>
            </a:r>
            <a:endParaRPr lang="en-US" sz="2400" dirty="0"/>
          </a:p>
        </p:txBody>
      </p:sp>
      <p:sp>
        <p:nvSpPr>
          <p:cNvPr id="84" name="Text 81"/>
          <p:cNvSpPr/>
          <p:nvPr/>
        </p:nvSpPr>
        <p:spPr>
          <a:xfrm>
            <a:off x="12195423" y="5762625"/>
            <a:ext cx="12267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4.83</a:t>
            </a:r>
            <a:endParaRPr lang="en-US" sz="2400" dirty="0"/>
          </a:p>
        </p:txBody>
      </p:sp>
      <p:sp>
        <p:nvSpPr>
          <p:cNvPr id="85" name="Text 82"/>
          <p:cNvSpPr/>
          <p:nvPr/>
        </p:nvSpPr>
        <p:spPr>
          <a:xfrm>
            <a:off x="13688913" y="5762625"/>
            <a:ext cx="14783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0.008</a:t>
            </a:r>
            <a:endParaRPr lang="en-US" sz="2400" dirty="0"/>
          </a:p>
        </p:txBody>
      </p:sp>
      <p:sp>
        <p:nvSpPr>
          <p:cNvPr id="86" name="Text 83"/>
          <p:cNvSpPr/>
          <p:nvPr/>
        </p:nvSpPr>
        <p:spPr>
          <a:xfrm>
            <a:off x="15433923" y="5655050"/>
            <a:ext cx="1730127" cy="514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75,313</a:t>
            </a:r>
            <a:endParaRPr lang="en-US" sz="2400" dirty="0"/>
          </a:p>
        </p:txBody>
      </p:sp>
      <p:sp>
        <p:nvSpPr>
          <p:cNvPr id="87" name="Text 84"/>
          <p:cNvSpPr/>
          <p:nvPr/>
        </p:nvSpPr>
        <p:spPr>
          <a:xfrm>
            <a:off x="952500" y="6715126"/>
            <a:ext cx="16874490" cy="514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Log-scale Diff-in-RDD estimates.</a:t>
            </a:r>
            <a:endParaRPr lang="en-US" sz="2000" dirty="0"/>
          </a:p>
        </p:txBody>
      </p:sp>
      <p:sp>
        <p:nvSpPr>
          <p:cNvPr id="88" name="Text 85"/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89" name="Picture 2">
            <a:extLst>
              <a:ext uri="{FF2B5EF4-FFF2-40B4-BE49-F238E27FC236}">
                <a16:creationId xmlns:a16="http://schemas.microsoft.com/office/drawing/2014/main" id="{F9B8CE42-8FE9-4BE9-982F-408FCF8A8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2578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">
            <a:extLst>
              <a:ext uri="{FF2B5EF4-FFF2-40B4-BE49-F238E27FC236}">
                <a16:creationId xmlns:a16="http://schemas.microsoft.com/office/drawing/2014/main" id="{18A7F535-0126-6588-3A65-7F29CDF59C5C}"/>
              </a:ext>
            </a:extLst>
          </p:cNvPr>
          <p:cNvSpPr/>
          <p:nvPr/>
        </p:nvSpPr>
        <p:spPr>
          <a:xfrm>
            <a:off x="952499" y="7059151"/>
            <a:ext cx="10287000" cy="1498795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02C9AC1E-FB3F-A4A4-B2D6-ADC5E179FF5B}"/>
              </a:ext>
            </a:extLst>
          </p:cNvPr>
          <p:cNvSpPr/>
          <p:nvPr/>
        </p:nvSpPr>
        <p:spPr>
          <a:xfrm>
            <a:off x="952500" y="5037948"/>
            <a:ext cx="10287000" cy="1498795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499" y="571500"/>
            <a:ext cx="11279758" cy="837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36" dirty="0">
                <a:solidFill>
                  <a:srgbClr val="03045E"/>
                </a:solidFill>
                <a:latin typeface="Source Serif 4 14pt Black" pitchFamily="34" charset="0"/>
                <a:ea typeface="Source Serif 4 14pt Black" pitchFamily="34" charset="-122"/>
                <a:cs typeface="Source Serif 4 14pt Black" pitchFamily="34" charset="-120"/>
              </a:rPr>
              <a:t>Which libraries are affected?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1381125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52499" y="2058245"/>
            <a:ext cx="10595610" cy="448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3200" b="1" kern="0" spc="150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HETEROGENEITY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976312" y="3016745"/>
            <a:ext cx="10287000" cy="1498795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8" name="Shape 5"/>
          <p:cNvSpPr/>
          <p:nvPr/>
        </p:nvSpPr>
        <p:spPr>
          <a:xfrm>
            <a:off x="952500" y="3000164"/>
            <a:ext cx="47625" cy="15271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9" name="Text 6"/>
          <p:cNvSpPr/>
          <p:nvPr/>
        </p:nvSpPr>
        <p:spPr>
          <a:xfrm>
            <a:off x="1266825" y="3292884"/>
            <a:ext cx="29432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266825" y="3849309"/>
            <a:ext cx="2943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10 downloads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09380" y="3629593"/>
            <a:ext cx="462086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suppression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991600" y="3656474"/>
            <a:ext cx="19812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algn="ctr"/>
            <a:r>
              <a:rPr lang="en-US" sz="2000" b="1" dirty="0">
                <a:solidFill>
                  <a:srgbClr val="0096C7"/>
                </a:solidFill>
                <a:latin typeface="Inter" pitchFamily="34" charset="0"/>
                <a:ea typeface="Inter" pitchFamily="34" charset="-122"/>
              </a:rPr>
              <a:t>p = 0.001</a:t>
            </a:r>
          </a:p>
        </p:txBody>
      </p:sp>
      <p:sp>
        <p:nvSpPr>
          <p:cNvPr id="15" name="Text 12"/>
          <p:cNvSpPr/>
          <p:nvPr/>
        </p:nvSpPr>
        <p:spPr>
          <a:xfrm>
            <a:off x="1266825" y="5306105"/>
            <a:ext cx="29432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1266825" y="5879159"/>
            <a:ext cx="2943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500 downloads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785568" y="5610559"/>
            <a:ext cx="462086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suppression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991600" y="5636446"/>
            <a:ext cx="19812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indent="0" algn="ctr">
              <a:buNone/>
            </a:pPr>
            <a:r>
              <a:rPr lang="en-US" sz="2000" b="1" dirty="0">
                <a:solidFill>
                  <a:srgbClr val="0096C7"/>
                </a:solidFill>
                <a:latin typeface="Inter" pitchFamily="34" charset="0"/>
                <a:ea typeface="Inter" pitchFamily="34" charset="-122"/>
              </a:rPr>
              <a:t>p = 0.002</a:t>
            </a:r>
          </a:p>
        </p:txBody>
      </p:sp>
      <p:sp>
        <p:nvSpPr>
          <p:cNvPr id="21" name="Text 18"/>
          <p:cNvSpPr/>
          <p:nvPr/>
        </p:nvSpPr>
        <p:spPr>
          <a:xfrm>
            <a:off x="1266825" y="7341825"/>
            <a:ext cx="2943225" cy="466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Superstar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1266825" y="7897635"/>
            <a:ext cx="29432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1,000 downloads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224837" y="7628434"/>
            <a:ext cx="5789948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Unaffected: high-visibility libraries maintain adoption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991600" y="7649004"/>
            <a:ext cx="19812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= 0.473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11620500" y="1838326"/>
            <a:ext cx="5886450" cy="576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150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AI-EXPOSURE MODERATION</a:t>
            </a:r>
            <a:endParaRPr lang="en-US" sz="3000" dirty="0"/>
          </a:p>
        </p:txBody>
      </p:sp>
      <p:sp>
        <p:nvSpPr>
          <p:cNvPr id="26" name="Shape 23"/>
          <p:cNvSpPr/>
          <p:nvPr/>
        </p:nvSpPr>
        <p:spPr>
          <a:xfrm>
            <a:off x="11621120" y="2862459"/>
            <a:ext cx="5715000" cy="1793179"/>
          </a:xfrm>
          <a:prstGeom prst="roundRect">
            <a:avLst>
              <a:gd name="adj" fmla="val 223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1620500" y="3033910"/>
            <a:ext cx="5715000" cy="511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targeted at AI tools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11751732" y="3612846"/>
            <a:ext cx="5435601" cy="115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AI-relevant libraries are not suppressed more than others (p = 0.179, N = 1,303)</a:t>
            </a:r>
            <a:endParaRPr lang="en-US" dirty="0"/>
          </a:p>
        </p:txBody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AB5981E2-8EC1-E2D9-272E-ADF775A6D9A5}"/>
              </a:ext>
            </a:extLst>
          </p:cNvPr>
          <p:cNvSpPr/>
          <p:nvPr/>
        </p:nvSpPr>
        <p:spPr>
          <a:xfrm>
            <a:off x="11620500" y="4898056"/>
            <a:ext cx="5715000" cy="1793179"/>
          </a:xfrm>
          <a:prstGeom prst="roundRect">
            <a:avLst>
              <a:gd name="adj" fmla="val 223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1620500" y="5034436"/>
            <a:ext cx="5715000" cy="491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11751732" y="5534490"/>
            <a:ext cx="5435601" cy="1156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</a:rPr>
              <a:t>Uniform suppression rules out a domain-specific explanation</a:t>
            </a: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sym typeface="Wingdings" pitchFamily="2" charset="2"/>
              </a:rPr>
              <a:t> </a:t>
            </a:r>
            <a:r>
              <a:rPr lang="en-US" sz="16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</a:rPr>
              <a:t>The barrier is temporal, not topical</a:t>
            </a: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16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sym typeface="Wingdings" pitchFamily="2" charset="2"/>
              </a:rPr>
              <a:t> A</a:t>
            </a:r>
            <a:r>
              <a:rPr lang="en-US" sz="16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</a:rPr>
              <a:t>ny post-cutoff library is disadvantaged regardless of what it does</a:t>
            </a:r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EBB55232-0EB6-FE55-F952-BE21EB6DFC7A}"/>
              </a:ext>
            </a:extLst>
          </p:cNvPr>
          <p:cNvSpPr/>
          <p:nvPr/>
        </p:nvSpPr>
        <p:spPr>
          <a:xfrm>
            <a:off x="11620500" y="7004034"/>
            <a:ext cx="5715000" cy="1751297"/>
          </a:xfrm>
          <a:prstGeom prst="roundRect">
            <a:avLst>
              <a:gd name="adj" fmla="val 223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11620500" y="7130926"/>
            <a:ext cx="5715000" cy="567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SUTVA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11751732" y="7766443"/>
            <a:ext cx="5435601" cy="1056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7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</a:rPr>
              <a:t>Estimates capture direct suppression plus any substitution spillovers - both are part of the total adoption effect</a:t>
            </a:r>
          </a:p>
        </p:txBody>
      </p:sp>
      <p:sp>
        <p:nvSpPr>
          <p:cNvPr id="35" name="Text 32"/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D484262-D0EC-8F9D-C554-4152AE2C6C7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055190" y="623354"/>
            <a:ext cx="734060" cy="734060"/>
          </a:xfrm>
          <a:prstGeom prst="rect">
            <a:avLst/>
          </a:prstGeom>
        </p:spPr>
      </p:pic>
      <p:sp>
        <p:nvSpPr>
          <p:cNvPr id="41" name="Shape 5">
            <a:extLst>
              <a:ext uri="{FF2B5EF4-FFF2-40B4-BE49-F238E27FC236}">
                <a16:creationId xmlns:a16="http://schemas.microsoft.com/office/drawing/2014/main" id="{52AA0FBF-2AEE-D49C-B120-2ED7CC882061}"/>
              </a:ext>
            </a:extLst>
          </p:cNvPr>
          <p:cNvSpPr/>
          <p:nvPr/>
        </p:nvSpPr>
        <p:spPr>
          <a:xfrm>
            <a:off x="952500" y="5009635"/>
            <a:ext cx="47625" cy="1527108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43" name="Shape 5">
            <a:extLst>
              <a:ext uri="{FF2B5EF4-FFF2-40B4-BE49-F238E27FC236}">
                <a16:creationId xmlns:a16="http://schemas.microsoft.com/office/drawing/2014/main" id="{844D72EF-BFB8-4D8A-D5AB-BE450B5E884E}"/>
              </a:ext>
            </a:extLst>
          </p:cNvPr>
          <p:cNvSpPr/>
          <p:nvPr/>
        </p:nvSpPr>
        <p:spPr>
          <a:xfrm>
            <a:off x="952500" y="7044994"/>
            <a:ext cx="47625" cy="1527108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 sz="2800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3EC1A222-F9E6-1F66-5AD7-0490B4B88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49920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878682"/>
            <a:ext cx="15739782" cy="666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31" dirty="0">
                <a:solidFill>
                  <a:srgbClr val="03045E"/>
                </a:solidFill>
                <a:latin typeface="Source Serif 4 14pt Black" pitchFamily="34" charset="0"/>
                <a:ea typeface="Source Serif 4 14pt Black" pitchFamily="34" charset="-122"/>
                <a:cs typeface="Source Serif 4 14pt Black" pitchFamily="34" charset="-120"/>
              </a:rPr>
              <a:t>Bandwidth sensitivity + symmetric bandwidth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1695450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52500" y="2728913"/>
            <a:ext cx="1951286" cy="1905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9" name="Text 6"/>
          <p:cNvSpPr/>
          <p:nvPr/>
        </p:nvSpPr>
        <p:spPr>
          <a:xfrm>
            <a:off x="1047750" y="2162176"/>
            <a:ext cx="1684586" cy="471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b="1" kern="0" spc="72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(WKS)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903786" y="2728913"/>
            <a:ext cx="2321942" cy="1905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11" name="Text 8"/>
          <p:cNvSpPr/>
          <p:nvPr/>
        </p:nvSpPr>
        <p:spPr>
          <a:xfrm>
            <a:off x="2999036" y="2162176"/>
            <a:ext cx="2055242" cy="471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b="1" kern="0" spc="72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ADJUSTED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225728" y="2728913"/>
            <a:ext cx="2022202" cy="1905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13" name="Text 10"/>
          <p:cNvSpPr/>
          <p:nvPr/>
        </p:nvSpPr>
        <p:spPr>
          <a:xfrm>
            <a:off x="5320978" y="2162176"/>
            <a:ext cx="1755502" cy="471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b="1" kern="0" spc="72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247930" y="2728913"/>
            <a:ext cx="2277070" cy="1905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15" name="Text 12"/>
          <p:cNvSpPr/>
          <p:nvPr/>
        </p:nvSpPr>
        <p:spPr>
          <a:xfrm>
            <a:off x="7343180" y="2162176"/>
            <a:ext cx="2010370" cy="471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b="1" kern="0" spc="72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952500" y="2747963"/>
            <a:ext cx="8572500" cy="576263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Shape 14"/>
          <p:cNvSpPr/>
          <p:nvPr/>
        </p:nvSpPr>
        <p:spPr>
          <a:xfrm>
            <a:off x="952500" y="3314700"/>
            <a:ext cx="1951286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5"/>
          <p:cNvSpPr/>
          <p:nvPr/>
        </p:nvSpPr>
        <p:spPr>
          <a:xfrm>
            <a:off x="1047750" y="2900363"/>
            <a:ext cx="168458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2903786" y="3314700"/>
            <a:ext cx="2321942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7"/>
          <p:cNvSpPr/>
          <p:nvPr/>
        </p:nvSpPr>
        <p:spPr>
          <a:xfrm>
            <a:off x="2999036" y="2900363"/>
            <a:ext cx="205524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−7.294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225728" y="3314700"/>
            <a:ext cx="2022202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19"/>
          <p:cNvSpPr/>
          <p:nvPr/>
        </p:nvSpPr>
        <p:spPr>
          <a:xfrm>
            <a:off x="5320978" y="2900363"/>
            <a:ext cx="175550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0.002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7247930" y="3314700"/>
            <a:ext cx="227707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Text 21"/>
          <p:cNvSpPr/>
          <p:nvPr/>
        </p:nvSpPr>
        <p:spPr>
          <a:xfrm>
            <a:off x="7343180" y="2900363"/>
            <a:ext cx="201037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75,313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952500" y="3886200"/>
            <a:ext cx="1951286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3"/>
          <p:cNvSpPr/>
          <p:nvPr/>
        </p:nvSpPr>
        <p:spPr>
          <a:xfrm>
            <a:off x="1047750" y="3476625"/>
            <a:ext cx="16845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2903786" y="3886200"/>
            <a:ext cx="2321942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8" name="Text 25"/>
          <p:cNvSpPr/>
          <p:nvPr/>
        </p:nvSpPr>
        <p:spPr>
          <a:xfrm>
            <a:off x="2999036" y="3476625"/>
            <a:ext cx="205524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−6.301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225728" y="3886200"/>
            <a:ext cx="2022202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0" name="Text 27"/>
          <p:cNvSpPr/>
          <p:nvPr/>
        </p:nvSpPr>
        <p:spPr>
          <a:xfrm>
            <a:off x="5320978" y="3476625"/>
            <a:ext cx="175550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&lt;0.001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7247930" y="3886200"/>
            <a:ext cx="227707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" name="Text 29"/>
          <p:cNvSpPr/>
          <p:nvPr/>
        </p:nvSpPr>
        <p:spPr>
          <a:xfrm>
            <a:off x="7343180" y="3476625"/>
            <a:ext cx="201037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92,291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952500" y="4457700"/>
            <a:ext cx="1951286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4" name="Text 31"/>
          <p:cNvSpPr/>
          <p:nvPr/>
        </p:nvSpPr>
        <p:spPr>
          <a:xfrm>
            <a:off x="1047750" y="4048125"/>
            <a:ext cx="16845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2903786" y="4457700"/>
            <a:ext cx="2321942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Text 33"/>
          <p:cNvSpPr/>
          <p:nvPr/>
        </p:nvSpPr>
        <p:spPr>
          <a:xfrm>
            <a:off x="2999036" y="4048125"/>
            <a:ext cx="205524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−4.498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5225728" y="4457700"/>
            <a:ext cx="2022202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8" name="Text 35"/>
          <p:cNvSpPr/>
          <p:nvPr/>
        </p:nvSpPr>
        <p:spPr>
          <a:xfrm>
            <a:off x="5320978" y="4048125"/>
            <a:ext cx="175550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&lt;0.001</a:t>
            </a:r>
            <a:endParaRPr lang="en-US" sz="2000" dirty="0"/>
          </a:p>
        </p:txBody>
      </p:sp>
      <p:sp>
        <p:nvSpPr>
          <p:cNvPr id="39" name="Shape 36"/>
          <p:cNvSpPr/>
          <p:nvPr/>
        </p:nvSpPr>
        <p:spPr>
          <a:xfrm>
            <a:off x="7247930" y="4457700"/>
            <a:ext cx="2277070" cy="9525"/>
          </a:xfrm>
          <a:prstGeom prst="rect">
            <a:avLst/>
          </a:prstGeom>
          <a:solidFill>
            <a:srgbClr val="E8ED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0" name="Text 37"/>
          <p:cNvSpPr/>
          <p:nvPr/>
        </p:nvSpPr>
        <p:spPr>
          <a:xfrm>
            <a:off x="7343180" y="3964035"/>
            <a:ext cx="2010370" cy="379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119,296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1047750" y="4619625"/>
            <a:ext cx="168458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2999036" y="4619625"/>
            <a:ext cx="205524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rgbClr val="C039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−2.372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5320978" y="4619625"/>
            <a:ext cx="175550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0.001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7343180" y="4476749"/>
            <a:ext cx="2010370" cy="442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196,602</a:t>
            </a:r>
            <a:endParaRPr lang="en-US" sz="2000" dirty="0"/>
          </a:p>
        </p:txBody>
      </p:sp>
      <p:sp>
        <p:nvSpPr>
          <p:cNvPr id="45" name="Shape 42"/>
          <p:cNvSpPr/>
          <p:nvPr/>
        </p:nvSpPr>
        <p:spPr>
          <a:xfrm>
            <a:off x="10287000" y="2285999"/>
            <a:ext cx="7048500" cy="2633663"/>
          </a:xfrm>
          <a:prstGeom prst="roundRect">
            <a:avLst>
              <a:gd name="adj" fmla="val 1078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0608182" y="2628900"/>
            <a:ext cx="6632067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150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</a:t>
            </a:r>
            <a:endParaRPr lang="en-US" sz="2400" dirty="0"/>
          </a:p>
        </p:txBody>
      </p:sp>
      <p:sp>
        <p:nvSpPr>
          <p:cNvPr id="47" name="Text 44"/>
          <p:cNvSpPr/>
          <p:nvPr/>
        </p:nvSpPr>
        <p:spPr>
          <a:xfrm>
            <a:off x="10608183" y="3128963"/>
            <a:ext cx="663206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Baseline-adjusted Diff-in-RDD (Successful tier, post-AI downloads) across bandwidths h ∈ {13, 15, 18, 26} weeks. Sign and significance stable throughout.</a:t>
            </a:r>
            <a:endParaRPr lang="en-US" sz="2000" dirty="0"/>
          </a:p>
        </p:txBody>
      </p:sp>
      <p:sp>
        <p:nvSpPr>
          <p:cNvPr id="48" name="Text 45"/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199624B2-80C8-6DCD-6641-A111E6BE0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38FBA18-856B-7A22-C736-E40432202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0369" y="5819776"/>
            <a:ext cx="13067261" cy="283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464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864240"/>
            <a:ext cx="10772140" cy="825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31" dirty="0">
                <a:solidFill>
                  <a:srgbClr val="03045E"/>
                </a:solidFill>
                <a:latin typeface="Source Serif 4 14pt Black" pitchFamily="34" charset="0"/>
                <a:ea typeface="Source Serif 4 14pt Black" pitchFamily="34" charset="-122"/>
                <a:cs typeface="Source Serif 4 14pt Black" pitchFamily="34" charset="-120"/>
              </a:rPr>
              <a:t>Density test + placebo years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1695450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52500" y="2106667"/>
            <a:ext cx="824103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135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MCCRARY DENSITY TEST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952500" y="2667000"/>
            <a:ext cx="8001000" cy="5341152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52500" y="2667000"/>
            <a:ext cx="8001000" cy="38100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295400" y="3309938"/>
            <a:ext cx="753465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50" b="1" dirty="0">
                <a:solidFill>
                  <a:srgbClr val="03045E"/>
                </a:solidFill>
                <a:latin typeface="Source Serif 4 14pt Black" pitchFamily="34" charset="0"/>
                <a:ea typeface="Source Serif 4 14pt Black" pitchFamily="34" charset="-122"/>
                <a:cs typeface="Source Serif 4 14pt Black" pitchFamily="34" charset="-120"/>
              </a:rPr>
              <a:t>p = 0.43</a:t>
            </a:r>
            <a:endParaRPr lang="en-US" sz="6750" dirty="0"/>
          </a:p>
        </p:txBody>
      </p:sp>
      <p:sp>
        <p:nvSpPr>
          <p:cNvPr id="12" name="Text 9"/>
          <p:cNvSpPr/>
          <p:nvPr/>
        </p:nvSpPr>
        <p:spPr>
          <a:xfrm>
            <a:off x="1295400" y="4362077"/>
            <a:ext cx="7534656" cy="3988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Smooth density across the Sept 2021 cutoff. Developers cannot time their release to an unannounced boundary, supporting </a:t>
            </a:r>
            <a:r>
              <a:rPr lang="en-US" sz="3200" i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as-if random </a:t>
            </a:r>
            <a:r>
              <a:rPr lang="en-US" sz="32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assignment.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9334500" y="2106667"/>
            <a:ext cx="8241030" cy="70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kern="0" spc="135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PLACEBO COEFFICIENTS BY YEAR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9334500" y="2667000"/>
            <a:ext cx="3933825" cy="1109663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334500" y="2667000"/>
            <a:ext cx="3933825" cy="28575"/>
          </a:xfrm>
          <a:prstGeom prst="rect">
            <a:avLst/>
          </a:prstGeom>
          <a:solidFill>
            <a:srgbClr val="8989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601200" y="2821999"/>
            <a:ext cx="350243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2018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9601200" y="3309938"/>
            <a:ext cx="35024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significant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13401675" y="2667000"/>
            <a:ext cx="3933825" cy="1109663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3401675" y="2667000"/>
            <a:ext cx="3933825" cy="28575"/>
          </a:xfrm>
          <a:prstGeom prst="rect">
            <a:avLst/>
          </a:prstGeom>
          <a:solidFill>
            <a:srgbClr val="8989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3668375" y="2821999"/>
            <a:ext cx="350243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2019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13668375" y="3309938"/>
            <a:ext cx="35024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significant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13401675" y="3929062"/>
            <a:ext cx="3933825" cy="1109663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13401675" y="3929062"/>
            <a:ext cx="3933825" cy="28575"/>
          </a:xfrm>
          <a:prstGeom prst="rect">
            <a:avLst/>
          </a:prstGeom>
          <a:solidFill>
            <a:srgbClr val="89898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3668375" y="4084060"/>
            <a:ext cx="350243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13668375" y="4571999"/>
            <a:ext cx="35024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significant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334500" y="3934041"/>
            <a:ext cx="3933825" cy="1109663"/>
          </a:xfrm>
          <a:prstGeom prst="rect">
            <a:avLst/>
          </a:prstGeom>
          <a:solidFill>
            <a:srgbClr val="0304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334500" y="3934041"/>
            <a:ext cx="3933825" cy="28575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601200" y="4089039"/>
            <a:ext cx="350243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2020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9601200" y="4576978"/>
            <a:ext cx="35024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00B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&lt; 0.01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9334500" y="5191124"/>
            <a:ext cx="8241030" cy="28170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2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2021 cohort shows no significant September boundary jump, contrary to the 2020 placebo cohort. The Diff-in-RDD captures the 2021 deviation from the seasonal baseline.</a:t>
            </a:r>
          </a:p>
        </p:txBody>
      </p:sp>
      <p:sp>
        <p:nvSpPr>
          <p:cNvPr id="31" name="Text 28"/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D25F2A73-8472-D414-44E3-3965CA686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4504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996E0-9E0A-D480-3E6A-DED978794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7EC2A2-CE16-959E-AAB3-5E721FDB23F6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A305B9-2C73-B942-081B-916AC4920250}"/>
              </a:ext>
            </a:extLst>
          </p:cNvPr>
          <p:cNvSpPr/>
          <p:nvPr/>
        </p:nvSpPr>
        <p:spPr>
          <a:xfrm>
            <a:off x="952500" y="780704"/>
            <a:ext cx="6085424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4800" b="1" kern="0" spc="-31" dirty="0">
                <a:solidFill>
                  <a:srgbClr val="03045E"/>
                </a:solidFill>
                <a:latin typeface="Source Serif 4 14pt Black" pitchFamily="34" charset="0"/>
                <a:ea typeface="Source Serif 4 14pt Black" pitchFamily="34" charset="-122"/>
              </a:rPr>
              <a:t>Covariate balance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71EA45A-0FF2-D528-8CC6-659AB4390ED6}"/>
              </a:ext>
            </a:extLst>
          </p:cNvPr>
          <p:cNvSpPr/>
          <p:nvPr/>
        </p:nvSpPr>
        <p:spPr>
          <a:xfrm>
            <a:off x="952500" y="1695450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8D223486-67F3-CF73-AB83-376183AA7939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48CC651C-5204-37A9-411C-F836A4C0C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D90315-4939-49DD-A729-58FE770EB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223" y="2188764"/>
            <a:ext cx="16129554" cy="241749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5ED0B69-CCFA-683D-FD4F-B88BECF3FBE0}"/>
              </a:ext>
            </a:extLst>
          </p:cNvPr>
          <p:cNvSpPr txBox="1"/>
          <p:nvPr/>
        </p:nvSpPr>
        <p:spPr>
          <a:xfrm>
            <a:off x="952500" y="5323614"/>
            <a:ext cx="1643781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pre-treatment balance test on  </a:t>
            </a:r>
            <a:r>
              <a:rPr lang="en-US" sz="28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</a:t>
            </a:r>
            <a:r>
              <a:rPr lang="en-US" sz="2800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(cum_downloads_26wk ≥ 500) an outcome whose window closes in March 2022, before ChatGPT, yields a positive boundary jump of +17.4 pp (Conventional point, Robust SE 3.95) to +30.0 pp (Robust bias-corrected point), p ≪ 0.001, N = 529,358 (</a:t>
            </a:r>
            <a:r>
              <a:rPr lang="en-US" sz="28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rdrobust</a:t>
            </a:r>
            <a:r>
              <a:rPr lang="en-US" sz="2800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h = 26, donut [−8, 0]).</a:t>
            </a:r>
          </a:p>
          <a:p>
            <a:pPr algn="just">
              <a:buNone/>
            </a:pPr>
            <a:endParaRPr lang="en-US" sz="28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Predating mass LLM deployment, this imbalance reflects release-month seasonality rather than an LLM channel. </a:t>
            </a:r>
          </a:p>
          <a:p>
            <a:pPr algn="just">
              <a:buNone/>
            </a:pPr>
            <a:r>
              <a:rPr lang="en-US" sz="2800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Because it is </a:t>
            </a:r>
            <a:r>
              <a:rPr lang="en-US" sz="2800" i="1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positive</a:t>
            </a:r>
            <a:r>
              <a:rPr lang="en-US" sz="2800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for post-cutoff cohorts, it makes the post-AI suppression results directionally more conservative and motivates the Diff-in-RDD specification with 2018–2020 placebo cohorts.</a:t>
            </a:r>
          </a:p>
        </p:txBody>
      </p:sp>
    </p:spTree>
    <p:extLst>
      <p:ext uri="{BB962C8B-B14F-4D97-AF65-F5344CB8AC3E}">
        <p14:creationId xmlns:p14="http://schemas.microsoft.com/office/powerpoint/2010/main" val="8687189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2500" y="793998"/>
            <a:ext cx="10003047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4800" b="1" kern="0" spc="-31" dirty="0">
                <a:solidFill>
                  <a:srgbClr val="03045E"/>
                </a:solidFill>
                <a:latin typeface="Source Serif 4 14pt Black" pitchFamily="34" charset="0"/>
                <a:ea typeface="Source Serif 4 14pt Black" pitchFamily="34" charset="-122"/>
              </a:rPr>
              <a:t>GitHub mechanism results</a:t>
            </a:r>
          </a:p>
        </p:txBody>
      </p:sp>
      <p:sp>
        <p:nvSpPr>
          <p:cNvPr id="6" name="Shape 4"/>
          <p:cNvSpPr/>
          <p:nvPr/>
        </p:nvSpPr>
        <p:spPr>
          <a:xfrm>
            <a:off x="952500" y="1695450"/>
            <a:ext cx="685800" cy="3810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4B6BCE8-B5FE-5BCA-F18B-A05692C15A1A}"/>
              </a:ext>
            </a:extLst>
          </p:cNvPr>
          <p:cNvGrpSpPr/>
          <p:nvPr/>
        </p:nvGrpSpPr>
        <p:grpSpPr>
          <a:xfrm>
            <a:off x="2461148" y="2054091"/>
            <a:ext cx="13857194" cy="4689052"/>
            <a:chOff x="952500" y="3685615"/>
            <a:chExt cx="11239500" cy="2614613"/>
          </a:xfrm>
        </p:grpSpPr>
        <p:sp>
          <p:nvSpPr>
            <p:cNvPr id="8" name="Shape 5"/>
            <p:cNvSpPr/>
            <p:nvPr/>
          </p:nvSpPr>
          <p:spPr>
            <a:xfrm>
              <a:off x="952500" y="3995178"/>
              <a:ext cx="1506141" cy="19050"/>
            </a:xfrm>
            <a:prstGeom prst="rect">
              <a:avLst/>
            </a:prstGeom>
            <a:solidFill>
              <a:srgbClr val="03045E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9" name="Text 6"/>
            <p:cNvSpPr/>
            <p:nvPr/>
          </p:nvSpPr>
          <p:spPr>
            <a:xfrm>
              <a:off x="1123950" y="3685615"/>
              <a:ext cx="1239441" cy="2143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72" dirty="0">
                  <a:solidFill>
                    <a:srgbClr val="89898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TIER</a:t>
              </a:r>
              <a:endParaRPr lang="en-US" sz="24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2458641" y="3995178"/>
              <a:ext cx="4093220" cy="19050"/>
            </a:xfrm>
            <a:prstGeom prst="rect">
              <a:avLst/>
            </a:prstGeom>
            <a:solidFill>
              <a:srgbClr val="03045E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1" name="Text 8"/>
            <p:cNvSpPr/>
            <p:nvPr/>
          </p:nvSpPr>
          <p:spPr>
            <a:xfrm>
              <a:off x="2630091" y="3685615"/>
              <a:ext cx="3873117" cy="2143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72" dirty="0">
                  <a:solidFill>
                    <a:srgbClr val="89898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OUTCOME</a:t>
              </a:r>
              <a:endParaRPr lang="en-US" sz="240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6551861" y="3995178"/>
              <a:ext cx="2422029" cy="19050"/>
            </a:xfrm>
            <a:prstGeom prst="rect">
              <a:avLst/>
            </a:prstGeom>
            <a:solidFill>
              <a:srgbClr val="03045E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3" name="Text 10"/>
            <p:cNvSpPr/>
            <p:nvPr/>
          </p:nvSpPr>
          <p:spPr>
            <a:xfrm>
              <a:off x="6647111" y="3685615"/>
              <a:ext cx="2155329" cy="2143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400" b="1" kern="0" spc="72" dirty="0">
                  <a:solidFill>
                    <a:srgbClr val="89898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EXCESS JUMP</a:t>
              </a:r>
              <a:endParaRPr lang="en-US" sz="240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8973889" y="3995178"/>
              <a:ext cx="1717104" cy="19050"/>
            </a:xfrm>
            <a:prstGeom prst="rect">
              <a:avLst/>
            </a:prstGeom>
            <a:solidFill>
              <a:srgbClr val="03045E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5" name="Text 12"/>
            <p:cNvSpPr/>
            <p:nvPr/>
          </p:nvSpPr>
          <p:spPr>
            <a:xfrm>
              <a:off x="9069139" y="3685615"/>
              <a:ext cx="1450404" cy="2143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400" b="1" kern="0" spc="72" dirty="0">
                  <a:solidFill>
                    <a:srgbClr val="89898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SE</a:t>
              </a:r>
              <a:endParaRPr lang="en-US" sz="24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10690994" y="3995178"/>
              <a:ext cx="1501006" cy="19050"/>
            </a:xfrm>
            <a:prstGeom prst="rect">
              <a:avLst/>
            </a:prstGeom>
            <a:solidFill>
              <a:srgbClr val="03045E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7" name="Text 14"/>
            <p:cNvSpPr/>
            <p:nvPr/>
          </p:nvSpPr>
          <p:spPr>
            <a:xfrm>
              <a:off x="10786244" y="3685615"/>
              <a:ext cx="1234306" cy="21431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400" b="1" kern="0" spc="72" dirty="0">
                  <a:solidFill>
                    <a:srgbClr val="89898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</a:t>
              </a:r>
              <a:endParaRPr lang="en-US" sz="240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952500" y="4580965"/>
              <a:ext cx="1506141" cy="9525"/>
            </a:xfrm>
            <a:prstGeom prst="rect">
              <a:avLst/>
            </a:prstGeom>
            <a:solidFill>
              <a:srgbClr val="E8EDF3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9" name="Text 16"/>
            <p:cNvSpPr/>
            <p:nvPr/>
          </p:nvSpPr>
          <p:spPr>
            <a:xfrm>
              <a:off x="1123950" y="4166628"/>
              <a:ext cx="1239441" cy="3000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Broad</a:t>
              </a:r>
              <a:endParaRPr lang="en-US" sz="24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2458641" y="4580965"/>
              <a:ext cx="4093220" cy="9525"/>
            </a:xfrm>
            <a:prstGeom prst="rect">
              <a:avLst/>
            </a:prstGeom>
            <a:solidFill>
              <a:srgbClr val="E8EDF3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1" name="Text 18"/>
            <p:cNvSpPr/>
            <p:nvPr/>
          </p:nvSpPr>
          <p:spPr>
            <a:xfrm>
              <a:off x="2630091" y="4166628"/>
              <a:ext cx="3873117" cy="3000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52-week imports</a:t>
              </a:r>
              <a:endParaRPr lang="en-US" sz="2400" dirty="0"/>
            </a:p>
          </p:txBody>
        </p:sp>
        <p:sp>
          <p:nvSpPr>
            <p:cNvPr id="22" name="Shape 19"/>
            <p:cNvSpPr/>
            <p:nvPr/>
          </p:nvSpPr>
          <p:spPr>
            <a:xfrm>
              <a:off x="6551861" y="4580965"/>
              <a:ext cx="2422029" cy="9525"/>
            </a:xfrm>
            <a:prstGeom prst="rect">
              <a:avLst/>
            </a:prstGeom>
            <a:solidFill>
              <a:srgbClr val="E8EDF3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3" name="Text 20"/>
            <p:cNvSpPr/>
            <p:nvPr/>
          </p:nvSpPr>
          <p:spPr>
            <a:xfrm>
              <a:off x="6647111" y="4166628"/>
              <a:ext cx="2155329" cy="3000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400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+11.554</a:t>
              </a:r>
              <a:endParaRPr lang="en-US" sz="2400" dirty="0"/>
            </a:p>
          </p:txBody>
        </p:sp>
        <p:sp>
          <p:nvSpPr>
            <p:cNvPr id="24" name="Shape 21"/>
            <p:cNvSpPr/>
            <p:nvPr/>
          </p:nvSpPr>
          <p:spPr>
            <a:xfrm>
              <a:off x="8973889" y="4580965"/>
              <a:ext cx="1717104" cy="9525"/>
            </a:xfrm>
            <a:prstGeom prst="rect">
              <a:avLst/>
            </a:prstGeom>
            <a:solidFill>
              <a:srgbClr val="E8EDF3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5" name="Text 22"/>
            <p:cNvSpPr/>
            <p:nvPr/>
          </p:nvSpPr>
          <p:spPr>
            <a:xfrm>
              <a:off x="9069139" y="4166628"/>
              <a:ext cx="1450404" cy="3000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400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10.778</a:t>
              </a:r>
              <a:endParaRPr lang="en-US" sz="2400" dirty="0"/>
            </a:p>
          </p:txBody>
        </p:sp>
        <p:sp>
          <p:nvSpPr>
            <p:cNvPr id="26" name="Shape 23"/>
            <p:cNvSpPr/>
            <p:nvPr/>
          </p:nvSpPr>
          <p:spPr>
            <a:xfrm>
              <a:off x="10690994" y="4580965"/>
              <a:ext cx="1501006" cy="9525"/>
            </a:xfrm>
            <a:prstGeom prst="rect">
              <a:avLst/>
            </a:prstGeom>
            <a:solidFill>
              <a:srgbClr val="E8EDF3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7" name="Text 24"/>
            <p:cNvSpPr/>
            <p:nvPr/>
          </p:nvSpPr>
          <p:spPr>
            <a:xfrm>
              <a:off x="10786244" y="4166628"/>
              <a:ext cx="1234306" cy="3000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400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0.284</a:t>
              </a:r>
              <a:endParaRPr lang="en-US" sz="2400" dirty="0"/>
            </a:p>
          </p:txBody>
        </p:sp>
        <p:sp>
          <p:nvSpPr>
            <p:cNvPr id="28" name="Shape 25"/>
            <p:cNvSpPr/>
            <p:nvPr/>
          </p:nvSpPr>
          <p:spPr>
            <a:xfrm>
              <a:off x="952500" y="5152465"/>
              <a:ext cx="1506141" cy="9525"/>
            </a:xfrm>
            <a:prstGeom prst="rect">
              <a:avLst/>
            </a:prstGeom>
            <a:solidFill>
              <a:srgbClr val="E8EDF3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9" name="Text 26"/>
            <p:cNvSpPr/>
            <p:nvPr/>
          </p:nvSpPr>
          <p:spPr>
            <a:xfrm>
              <a:off x="1123950" y="4742890"/>
              <a:ext cx="1239441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Broad</a:t>
              </a:r>
              <a:endParaRPr lang="en-US" sz="2400" dirty="0"/>
            </a:p>
          </p:txBody>
        </p:sp>
        <p:sp>
          <p:nvSpPr>
            <p:cNvPr id="30" name="Shape 27"/>
            <p:cNvSpPr/>
            <p:nvPr/>
          </p:nvSpPr>
          <p:spPr>
            <a:xfrm>
              <a:off x="2458641" y="5152465"/>
              <a:ext cx="4093220" cy="9525"/>
            </a:xfrm>
            <a:prstGeom prst="rect">
              <a:avLst/>
            </a:prstGeom>
            <a:solidFill>
              <a:srgbClr val="E8EDF3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31" name="Text 28"/>
            <p:cNvSpPr/>
            <p:nvPr/>
          </p:nvSpPr>
          <p:spPr>
            <a:xfrm>
              <a:off x="2630091" y="4742890"/>
              <a:ext cx="387311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GPT-4 era imports</a:t>
              </a:r>
              <a:endParaRPr lang="en-US" sz="2400" dirty="0"/>
            </a:p>
          </p:txBody>
        </p:sp>
        <p:sp>
          <p:nvSpPr>
            <p:cNvPr id="32" name="Shape 29"/>
            <p:cNvSpPr/>
            <p:nvPr/>
          </p:nvSpPr>
          <p:spPr>
            <a:xfrm>
              <a:off x="6551861" y="5152465"/>
              <a:ext cx="2422029" cy="9525"/>
            </a:xfrm>
            <a:prstGeom prst="rect">
              <a:avLst/>
            </a:prstGeom>
            <a:solidFill>
              <a:srgbClr val="E8EDF3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33" name="Text 30"/>
            <p:cNvSpPr/>
            <p:nvPr/>
          </p:nvSpPr>
          <p:spPr>
            <a:xfrm>
              <a:off x="6647111" y="4742890"/>
              <a:ext cx="215532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400" dirty="0">
                  <a:solidFill>
                    <a:srgbClr val="0077B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+23.256</a:t>
              </a:r>
              <a:endParaRPr lang="en-US" sz="2400" dirty="0"/>
            </a:p>
          </p:txBody>
        </p:sp>
        <p:sp>
          <p:nvSpPr>
            <p:cNvPr id="34" name="Shape 31"/>
            <p:cNvSpPr/>
            <p:nvPr/>
          </p:nvSpPr>
          <p:spPr>
            <a:xfrm>
              <a:off x="8973889" y="5152465"/>
              <a:ext cx="1717104" cy="9525"/>
            </a:xfrm>
            <a:prstGeom prst="rect">
              <a:avLst/>
            </a:prstGeom>
            <a:solidFill>
              <a:srgbClr val="E8EDF3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35" name="Text 32"/>
            <p:cNvSpPr/>
            <p:nvPr/>
          </p:nvSpPr>
          <p:spPr>
            <a:xfrm>
              <a:off x="9069139" y="4742890"/>
              <a:ext cx="145040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400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11.541</a:t>
              </a:r>
              <a:endParaRPr lang="en-US" sz="2400" dirty="0"/>
            </a:p>
          </p:txBody>
        </p:sp>
        <p:sp>
          <p:nvSpPr>
            <p:cNvPr id="36" name="Shape 33"/>
            <p:cNvSpPr/>
            <p:nvPr/>
          </p:nvSpPr>
          <p:spPr>
            <a:xfrm>
              <a:off x="10690994" y="5152465"/>
              <a:ext cx="1501006" cy="9525"/>
            </a:xfrm>
            <a:prstGeom prst="rect">
              <a:avLst/>
            </a:prstGeom>
            <a:solidFill>
              <a:srgbClr val="E8EDF3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37" name="Text 34"/>
            <p:cNvSpPr/>
            <p:nvPr/>
          </p:nvSpPr>
          <p:spPr>
            <a:xfrm>
              <a:off x="10786244" y="4742890"/>
              <a:ext cx="123430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400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0.044</a:t>
              </a:r>
              <a:endParaRPr lang="en-US" sz="2400" dirty="0"/>
            </a:p>
          </p:txBody>
        </p:sp>
        <p:sp>
          <p:nvSpPr>
            <p:cNvPr id="38" name="Shape 35"/>
            <p:cNvSpPr/>
            <p:nvPr/>
          </p:nvSpPr>
          <p:spPr>
            <a:xfrm>
              <a:off x="952500" y="5723965"/>
              <a:ext cx="1506141" cy="9525"/>
            </a:xfrm>
            <a:prstGeom prst="rect">
              <a:avLst/>
            </a:prstGeom>
            <a:solidFill>
              <a:srgbClr val="E8EDF3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39" name="Text 36"/>
            <p:cNvSpPr/>
            <p:nvPr/>
          </p:nvSpPr>
          <p:spPr>
            <a:xfrm>
              <a:off x="1123950" y="5314390"/>
              <a:ext cx="1239441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Broad</a:t>
              </a:r>
              <a:endParaRPr lang="en-US" sz="2400" dirty="0"/>
            </a:p>
          </p:txBody>
        </p:sp>
        <p:sp>
          <p:nvSpPr>
            <p:cNvPr id="40" name="Shape 37"/>
            <p:cNvSpPr/>
            <p:nvPr/>
          </p:nvSpPr>
          <p:spPr>
            <a:xfrm>
              <a:off x="2458641" y="5723965"/>
              <a:ext cx="4093220" cy="9525"/>
            </a:xfrm>
            <a:prstGeom prst="rect">
              <a:avLst/>
            </a:prstGeom>
            <a:solidFill>
              <a:srgbClr val="E8EDF3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41" name="Text 38"/>
            <p:cNvSpPr/>
            <p:nvPr/>
          </p:nvSpPr>
          <p:spPr>
            <a:xfrm>
              <a:off x="2630091" y="5314390"/>
              <a:ext cx="3873117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Post-AI imports (total)</a:t>
              </a:r>
              <a:endParaRPr lang="en-US" sz="2400" dirty="0"/>
            </a:p>
          </p:txBody>
        </p:sp>
        <p:sp>
          <p:nvSpPr>
            <p:cNvPr id="42" name="Shape 39"/>
            <p:cNvSpPr/>
            <p:nvPr/>
          </p:nvSpPr>
          <p:spPr>
            <a:xfrm>
              <a:off x="6551861" y="5723965"/>
              <a:ext cx="2422029" cy="9525"/>
            </a:xfrm>
            <a:prstGeom prst="rect">
              <a:avLst/>
            </a:prstGeom>
            <a:solidFill>
              <a:srgbClr val="E8EDF3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43" name="Text 40"/>
            <p:cNvSpPr/>
            <p:nvPr/>
          </p:nvSpPr>
          <p:spPr>
            <a:xfrm>
              <a:off x="6647111" y="5314390"/>
              <a:ext cx="2155329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400" dirty="0">
                  <a:solidFill>
                    <a:srgbClr val="0077B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+26.767</a:t>
              </a:r>
              <a:endParaRPr lang="en-US" sz="2400" dirty="0"/>
            </a:p>
          </p:txBody>
        </p:sp>
        <p:sp>
          <p:nvSpPr>
            <p:cNvPr id="44" name="Shape 41"/>
            <p:cNvSpPr/>
            <p:nvPr/>
          </p:nvSpPr>
          <p:spPr>
            <a:xfrm>
              <a:off x="8973889" y="5723965"/>
              <a:ext cx="1717104" cy="9525"/>
            </a:xfrm>
            <a:prstGeom prst="rect">
              <a:avLst/>
            </a:prstGeom>
            <a:solidFill>
              <a:srgbClr val="E8EDF3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45" name="Text 42"/>
            <p:cNvSpPr/>
            <p:nvPr/>
          </p:nvSpPr>
          <p:spPr>
            <a:xfrm>
              <a:off x="9069139" y="5314390"/>
              <a:ext cx="1450404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400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10.932</a:t>
              </a:r>
              <a:endParaRPr lang="en-US" sz="2400" dirty="0"/>
            </a:p>
          </p:txBody>
        </p:sp>
        <p:sp>
          <p:nvSpPr>
            <p:cNvPr id="46" name="Shape 43"/>
            <p:cNvSpPr/>
            <p:nvPr/>
          </p:nvSpPr>
          <p:spPr>
            <a:xfrm>
              <a:off x="10690994" y="5723965"/>
              <a:ext cx="1501006" cy="9525"/>
            </a:xfrm>
            <a:prstGeom prst="rect">
              <a:avLst/>
            </a:prstGeom>
            <a:solidFill>
              <a:srgbClr val="E8EDF3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47" name="Text 44"/>
            <p:cNvSpPr/>
            <p:nvPr/>
          </p:nvSpPr>
          <p:spPr>
            <a:xfrm>
              <a:off x="10786244" y="5314390"/>
              <a:ext cx="1234306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400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0.014</a:t>
              </a:r>
              <a:endParaRPr lang="en-US" sz="2400" dirty="0"/>
            </a:p>
          </p:txBody>
        </p:sp>
        <p:sp>
          <p:nvSpPr>
            <p:cNvPr id="48" name="Shape 45"/>
            <p:cNvSpPr/>
            <p:nvPr/>
          </p:nvSpPr>
          <p:spPr>
            <a:xfrm>
              <a:off x="952500" y="5733490"/>
              <a:ext cx="11239500" cy="566738"/>
            </a:xfrm>
            <a:prstGeom prst="rect">
              <a:avLst/>
            </a:prstGeom>
            <a:solidFill>
              <a:srgbClr val="F5F7FB"/>
            </a:solidFill>
            <a:ln/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49" name="Text 46"/>
            <p:cNvSpPr/>
            <p:nvPr/>
          </p:nvSpPr>
          <p:spPr>
            <a:xfrm>
              <a:off x="1123950" y="5885890"/>
              <a:ext cx="1239441" cy="3000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Broad</a:t>
              </a:r>
              <a:endParaRPr lang="en-US" sz="2400" dirty="0"/>
            </a:p>
          </p:txBody>
        </p:sp>
        <p:sp>
          <p:nvSpPr>
            <p:cNvPr id="50" name="Text 47"/>
            <p:cNvSpPr/>
            <p:nvPr/>
          </p:nvSpPr>
          <p:spPr>
            <a:xfrm>
              <a:off x="2630091" y="5885890"/>
              <a:ext cx="3873117" cy="3000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All-time imports</a:t>
              </a:r>
              <a:endParaRPr lang="en-US" sz="2400" dirty="0"/>
            </a:p>
          </p:txBody>
        </p:sp>
        <p:sp>
          <p:nvSpPr>
            <p:cNvPr id="51" name="Text 48"/>
            <p:cNvSpPr/>
            <p:nvPr/>
          </p:nvSpPr>
          <p:spPr>
            <a:xfrm>
              <a:off x="6647111" y="5885890"/>
              <a:ext cx="2155329" cy="3000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400" b="1" dirty="0">
                  <a:solidFill>
                    <a:srgbClr val="0077B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+27.863</a:t>
              </a:r>
              <a:endParaRPr lang="en-US" sz="2400" dirty="0"/>
            </a:p>
          </p:txBody>
        </p:sp>
        <p:sp>
          <p:nvSpPr>
            <p:cNvPr id="52" name="Text 49"/>
            <p:cNvSpPr/>
            <p:nvPr/>
          </p:nvSpPr>
          <p:spPr>
            <a:xfrm>
              <a:off x="9069139" y="5885890"/>
              <a:ext cx="1450404" cy="3000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400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9.987</a:t>
              </a:r>
              <a:endParaRPr lang="en-US" sz="2400" dirty="0"/>
            </a:p>
          </p:txBody>
        </p:sp>
        <p:sp>
          <p:nvSpPr>
            <p:cNvPr id="53" name="Text 50"/>
            <p:cNvSpPr/>
            <p:nvPr/>
          </p:nvSpPr>
          <p:spPr>
            <a:xfrm>
              <a:off x="10786244" y="5885890"/>
              <a:ext cx="1234306" cy="30003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r">
                <a:buNone/>
              </a:pPr>
              <a:r>
                <a:rPr lang="en-US" sz="2400" dirty="0">
                  <a:solidFill>
                    <a:srgbClr val="03045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0.005</a:t>
              </a:r>
              <a:endParaRPr lang="en-US" sz="2400" dirty="0"/>
            </a:p>
          </p:txBody>
        </p:sp>
      </p:grpSp>
      <p:sp>
        <p:nvSpPr>
          <p:cNvPr id="54" name="Shape 51"/>
          <p:cNvSpPr/>
          <p:nvPr/>
        </p:nvSpPr>
        <p:spPr>
          <a:xfrm>
            <a:off x="1835856" y="7100891"/>
            <a:ext cx="6390338" cy="1914323"/>
          </a:xfrm>
          <a:prstGeom prst="roundRect">
            <a:avLst>
              <a:gd name="adj" fmla="val 1187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5" name="Text 52"/>
          <p:cNvSpPr/>
          <p:nvPr/>
        </p:nvSpPr>
        <p:spPr>
          <a:xfrm>
            <a:off x="2159706" y="7310441"/>
            <a:ext cx="431673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150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 SIGN</a:t>
            </a:r>
            <a:endParaRPr lang="en-US" sz="2400" dirty="0"/>
          </a:p>
        </p:txBody>
      </p:sp>
      <p:sp>
        <p:nvSpPr>
          <p:cNvPr id="56" name="Text 53"/>
          <p:cNvSpPr/>
          <p:nvPr/>
        </p:nvSpPr>
        <p:spPr>
          <a:xfrm>
            <a:off x="2159705" y="7756136"/>
            <a:ext cx="606648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Post-cutoff libraries accumulate </a:t>
            </a:r>
            <a:r>
              <a:rPr lang="en-US" sz="2000" b="1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</a:t>
            </a:r>
            <a:r>
              <a:rPr lang="en-US" sz="20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imports, consistent with stock-vs-flow interpretation.</a:t>
            </a:r>
            <a:endParaRPr lang="en-US" sz="2000" dirty="0"/>
          </a:p>
        </p:txBody>
      </p:sp>
      <p:sp>
        <p:nvSpPr>
          <p:cNvPr id="57" name="Shape 54"/>
          <p:cNvSpPr/>
          <p:nvPr/>
        </p:nvSpPr>
        <p:spPr>
          <a:xfrm>
            <a:off x="9304622" y="7099924"/>
            <a:ext cx="7549025" cy="1914323"/>
          </a:xfrm>
          <a:prstGeom prst="roundRect">
            <a:avLst>
              <a:gd name="adj" fmla="val 1444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8" name="Text 55"/>
          <p:cNvSpPr/>
          <p:nvPr/>
        </p:nvSpPr>
        <p:spPr>
          <a:xfrm>
            <a:off x="9628472" y="7309475"/>
            <a:ext cx="6842436" cy="39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150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CAVEAT</a:t>
            </a:r>
            <a:endParaRPr lang="en-US" sz="2400" dirty="0"/>
          </a:p>
        </p:txBody>
      </p:sp>
      <p:sp>
        <p:nvSpPr>
          <p:cNvPr id="59" name="Text 56"/>
          <p:cNvSpPr/>
          <p:nvPr/>
        </p:nvSpPr>
        <p:spPr>
          <a:xfrm>
            <a:off x="9628472" y="7908009"/>
            <a:ext cx="7225175" cy="8845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0304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Diff-in-RDD not significant at p = 0.060 (underpowered).</a:t>
            </a:r>
            <a:endParaRPr lang="en-US" sz="2400" dirty="0"/>
          </a:p>
        </p:txBody>
      </p:sp>
      <p:sp>
        <p:nvSpPr>
          <p:cNvPr id="60" name="Text 57"/>
          <p:cNvSpPr/>
          <p:nvPr/>
        </p:nvSpPr>
        <p:spPr>
          <a:xfrm>
            <a:off x="952500" y="9220200"/>
            <a:ext cx="168744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8989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RDD (rdrobust, robust bias-corrected) on log(1 + GitHub imports) · N = 28,243.</a:t>
            </a:r>
            <a:endParaRPr lang="en-US" sz="1350" dirty="0"/>
          </a:p>
        </p:txBody>
      </p:sp>
      <p:sp>
        <p:nvSpPr>
          <p:cNvPr id="61" name="Text 58"/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62" name="Picture 2">
            <a:extLst>
              <a:ext uri="{FF2B5EF4-FFF2-40B4-BE49-F238E27FC236}">
                <a16:creationId xmlns:a16="http://schemas.microsoft.com/office/drawing/2014/main" id="{1F8B8577-D2FE-DE6C-FCB2-2297EE2BF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88696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835104"/>
            <a:ext cx="164592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 dirty="0">
                <a:solidFill>
                  <a:srgbClr val="03045E"/>
                </a:solidFill>
                <a:latin typeface="Source Serif 4 14pt Black"/>
              </a:rPr>
              <a:t>Conventional vs Bias-corrected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" y="1691640"/>
            <a:ext cx="685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210312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898989"/>
                </a:solidFill>
                <a:latin typeface="Inter"/>
              </a:rPr>
              <a:t>SINGLE-COHORT 2021 RDD, BROAD TIER, h =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976" y="2743200"/>
            <a:ext cx="16386047" cy="77724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1088136" y="2977931"/>
            <a:ext cx="3657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Inter"/>
              </a:rP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0056" y="2824044"/>
            <a:ext cx="30175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Inter"/>
              </a:rPr>
              <a:t>Conventional point
(SE, 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1896" y="2824044"/>
            <a:ext cx="22860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Bias-correction
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72215" y="2824044"/>
            <a:ext cx="320040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Bias-corrected
(Robust SE, 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46936" y="2977931"/>
            <a:ext cx="285292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Inter"/>
              </a:rPr>
              <a:t>BC ÷ Conv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" y="3520440"/>
            <a:ext cx="16386047" cy="914400"/>
          </a:xfrm>
          <a:prstGeom prst="rect">
            <a:avLst/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1088136" y="3792974"/>
            <a:ext cx="3657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3045E"/>
                </a:solidFill>
                <a:latin typeface="Inter"/>
              </a:rPr>
              <a:t>PyPI Broad post-AI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6" y="3823751"/>
            <a:ext cx="301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03045E"/>
                </a:solidFill>
                <a:latin typeface="Inter"/>
              </a:rPr>
              <a:t>+2.05  </a:t>
            </a:r>
            <a:r>
              <a:rPr sz="2000" b="0" i="0" dirty="0">
                <a:solidFill>
                  <a:srgbClr val="03045E"/>
                </a:solidFill>
                <a:latin typeface="Inter"/>
              </a:rPr>
              <a:t>(0.41, p &lt; 10⁻⁶)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823751"/>
            <a:ext cx="228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solidFill>
                  <a:srgbClr val="03045E"/>
                </a:solidFill>
                <a:latin typeface="Inter"/>
              </a:rPr>
              <a:t>+11.49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72215" y="3823751"/>
            <a:ext cx="32004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solidFill>
                  <a:srgbClr val="03045E"/>
                </a:solidFill>
                <a:latin typeface="Inter"/>
              </a:rPr>
              <a:t>+13.54  (</a:t>
            </a:r>
            <a:r>
              <a:rPr sz="2000" b="1" i="0" dirty="0">
                <a:solidFill>
                  <a:srgbClr val="03045E"/>
                </a:solidFill>
                <a:latin typeface="Inter"/>
              </a:rPr>
              <a:t>4.49, </a:t>
            </a:r>
            <a:r>
              <a:rPr sz="2000" b="0" i="0" dirty="0">
                <a:solidFill>
                  <a:srgbClr val="03045E"/>
                </a:solidFill>
                <a:latin typeface="Inter"/>
              </a:rPr>
              <a:t>p = 0.004)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46936" y="3823751"/>
            <a:ext cx="285292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i="0" dirty="0">
                <a:solidFill>
                  <a:srgbClr val="03045E"/>
                </a:solidFill>
                <a:latin typeface="Inter"/>
              </a:rPr>
              <a:t>5.6 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" y="4434840"/>
            <a:ext cx="16386047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1088136" y="4707373"/>
            <a:ext cx="3657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03045E"/>
                </a:solidFill>
                <a:latin typeface="Inter"/>
              </a:rPr>
              <a:t>GitHub imports alltime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0056" y="4738150"/>
            <a:ext cx="301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solidFill>
                  <a:srgbClr val="03045E"/>
                </a:solidFill>
                <a:latin typeface="Inter"/>
              </a:rPr>
              <a:t>+1.46  (—, p ≈ 0.30)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738150"/>
            <a:ext cx="2286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solidFill>
                  <a:srgbClr val="03045E"/>
                </a:solidFill>
                <a:latin typeface="Inter"/>
              </a:rPr>
              <a:t>+26.40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72215" y="4738150"/>
            <a:ext cx="32004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solidFill>
                  <a:srgbClr val="03045E"/>
                </a:solidFill>
                <a:latin typeface="Inter"/>
              </a:rPr>
              <a:t>+27.86  (—, p = 0.005)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46936" y="4738150"/>
            <a:ext cx="285292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i="0" dirty="0">
                <a:solidFill>
                  <a:srgbClr val="C53030"/>
                </a:solidFill>
                <a:latin typeface="Inter"/>
              </a:rPr>
              <a:t>19 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" y="5566665"/>
            <a:ext cx="163860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03045E"/>
                </a:solidFill>
                <a:latin typeface="Inter"/>
              </a:rPr>
              <a:t>CCT (2014, </a:t>
            </a:r>
            <a:r>
              <a:rPr sz="2800" b="1" i="0" dirty="0" err="1">
                <a:solidFill>
                  <a:srgbClr val="03045E"/>
                </a:solidFill>
                <a:latin typeface="Inter"/>
              </a:rPr>
              <a:t>Econometrica</a:t>
            </a:r>
            <a:r>
              <a:rPr sz="2800" b="1" i="0" dirty="0">
                <a:solidFill>
                  <a:srgbClr val="03045E"/>
                </a:solidFill>
                <a:latin typeface="Inter"/>
              </a:rPr>
              <a:t>) §3 caution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" y="6144712"/>
            <a:ext cx="16386048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dirty="0">
                <a:solidFill>
                  <a:srgbClr val="03045E"/>
                </a:solidFill>
                <a:latin typeface="Inter"/>
              </a:rPr>
              <a:t>When the bias-correction term exceeds the Conventional point estimate, report the Conventional point with Robust SE; the bias-corrected point is a numerical-instability flag, not an elasticity.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7053426"/>
            <a:ext cx="16386048" cy="1783080"/>
          </a:xfrm>
          <a:prstGeom prst="rect">
            <a:avLst/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1188720" y="7236306"/>
            <a:ext cx="16002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B4D8"/>
                </a:solidFill>
                <a:latin typeface="Inter"/>
              </a:rPr>
              <a:t>DEFENSIBLE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7647786"/>
            <a:ext cx="16002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Inter"/>
              </a:rPr>
              <a:t>PyPI</a:t>
            </a:r>
            <a:r>
              <a:rPr sz="2400" b="1" i="0" dirty="0">
                <a:solidFill>
                  <a:srgbClr val="FFFFFF"/>
                </a:solidFill>
                <a:latin typeface="Inter"/>
              </a:rPr>
              <a:t> Conventional +2.05, significant.   GitHub Conventional +1.46, not significant.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8196426"/>
            <a:ext cx="16002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ter"/>
              </a:rPr>
              <a:t>Channel direction is preserved at much smaller magnitudes; the +13 / +27 numbers are not elasticities.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DE72C6-0AB9-203F-3906-1848F16B7B61}"/>
              </a:ext>
            </a:extLst>
          </p:cNvPr>
          <p:cNvSpPr/>
          <p:nvPr/>
        </p:nvSpPr>
        <p:spPr>
          <a:xfrm>
            <a:off x="2562248" y="5193792"/>
            <a:ext cx="1316350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 58">
            <a:extLst>
              <a:ext uri="{FF2B5EF4-FFF2-40B4-BE49-F238E27FC236}">
                <a16:creationId xmlns:a16="http://schemas.microsoft.com/office/drawing/2014/main" id="{BD844B98-9F2D-AD09-CBD8-52A725F0EBDB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id="{69A70441-5B35-F751-AC28-675961B95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00085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861536"/>
            <a:ext cx="164592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 dirty="0">
                <a:solidFill>
                  <a:srgbClr val="03045E"/>
                </a:solidFill>
                <a:latin typeface="Source Serif 4 14pt Black"/>
              </a:rPr>
              <a:t>Sample attrition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" y="1691640"/>
            <a:ext cx="685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210312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898989"/>
                </a:solidFill>
                <a:latin typeface="Inter"/>
              </a:rPr>
              <a:t>FROM PYPI UNIVERSE TO EACH ESTIMATION CELL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" y="274320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030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1225296" y="2885598"/>
            <a:ext cx="237744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3200" b="1" i="0">
                <a:solidFill>
                  <a:srgbClr val="FFFFFF"/>
                </a:solidFill>
                <a:latin typeface="Inter"/>
              </a:rPr>
              <a:t>527,361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5616" y="2947154"/>
            <a:ext cx="78638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dirty="0" err="1">
                <a:solidFill>
                  <a:srgbClr val="FFFFFF"/>
                </a:solidFill>
                <a:latin typeface="Inter"/>
              </a:rPr>
              <a:t>PyPI</a:t>
            </a:r>
            <a:r>
              <a:rPr sz="2400" b="0" i="0" dirty="0">
                <a:solidFill>
                  <a:srgbClr val="FFFFFF"/>
                </a:solidFill>
                <a:latin typeface="Inter"/>
              </a:rPr>
              <a:t> universe (post quality filter)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749039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1225296" y="3891437"/>
            <a:ext cx="237744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3200" b="1" i="0">
                <a:solidFill>
                  <a:srgbClr val="03045E"/>
                </a:solidFill>
                <a:latin typeface="Inter"/>
              </a:rPr>
              <a:t>88,001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616" y="3952993"/>
            <a:ext cx="78638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dirty="0">
                <a:solidFill>
                  <a:srgbClr val="03045E"/>
                </a:solidFill>
                <a:latin typeface="Inter"/>
              </a:rPr>
              <a:t>Diff-in-RDD Broad headline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8096" y="3495793"/>
            <a:ext cx="5943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1">
                <a:solidFill>
                  <a:srgbClr val="898989"/>
                </a:solidFill>
                <a:latin typeface="Inter"/>
              </a:rPr>
              <a:t>↓  ± 13-week bandwidth, donut [−8, 0]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475488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1225296" y="4897278"/>
            <a:ext cx="237744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3200" b="1" i="0">
                <a:solidFill>
                  <a:srgbClr val="03045E"/>
                </a:solidFill>
                <a:latin typeface="Inter"/>
              </a:rPr>
              <a:t>75,313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616" y="4958834"/>
            <a:ext cx="78638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>
                <a:solidFill>
                  <a:srgbClr val="03045E"/>
                </a:solidFill>
                <a:latin typeface="Inter"/>
              </a:rPr>
              <a:t>Diff-in-RDD Successful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8096" y="4501633"/>
            <a:ext cx="5943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1">
                <a:solidFill>
                  <a:srgbClr val="898989"/>
                </a:solidFill>
                <a:latin typeface="Inter"/>
              </a:rPr>
              <a:t>↓  cum_downloads_26wk ≥ 500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" y="576072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1225296" y="5903118"/>
            <a:ext cx="237744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3200" b="1" i="0">
                <a:solidFill>
                  <a:srgbClr val="03045E"/>
                </a:solidFill>
                <a:latin typeface="Inter"/>
              </a:rPr>
              <a:t>28,243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5616" y="5964674"/>
            <a:ext cx="78638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dirty="0">
                <a:solidFill>
                  <a:srgbClr val="03045E"/>
                </a:solidFill>
                <a:latin typeface="Inter"/>
              </a:rPr>
              <a:t>GitHub-linked subsample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8096" y="5507474"/>
            <a:ext cx="5943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1" dirty="0">
                <a:solidFill>
                  <a:srgbClr val="898989"/>
                </a:solidFill>
                <a:latin typeface="Inter"/>
              </a:rPr>
              <a:t>↓  exact-name match to a public GitHub repo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" y="676656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1225296" y="6908958"/>
            <a:ext cx="237744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3200" b="1" i="0">
                <a:solidFill>
                  <a:srgbClr val="03045E"/>
                </a:solidFill>
                <a:latin typeface="Inter"/>
              </a:rPr>
              <a:t> 6,582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5616" y="6970514"/>
            <a:ext cx="78638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dirty="0">
                <a:solidFill>
                  <a:srgbClr val="03045E"/>
                </a:solidFill>
                <a:latin typeface="Inter"/>
              </a:rPr>
              <a:t>Matched-sample Diff-in-RDD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98096" y="6513314"/>
            <a:ext cx="5943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1">
                <a:solidFill>
                  <a:srgbClr val="898989"/>
                </a:solidFill>
                <a:latin typeface="Inter"/>
              </a:rPr>
              <a:t>↓  ± 13-week bandwidth, donut, Broad filter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" y="777240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1225296" y="7914798"/>
            <a:ext cx="237744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3200" b="1" i="0">
                <a:solidFill>
                  <a:srgbClr val="03045E"/>
                </a:solidFill>
                <a:latin typeface="Inter"/>
              </a:rPr>
              <a:t> 1,303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5616" y="7976354"/>
            <a:ext cx="78638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dirty="0">
                <a:solidFill>
                  <a:srgbClr val="03045E"/>
                </a:solidFill>
                <a:latin typeface="Inter"/>
              </a:rPr>
              <a:t>AI-exposure moderation cell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98096" y="7519154"/>
            <a:ext cx="5943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1" dirty="0">
                <a:solidFill>
                  <a:srgbClr val="898989"/>
                </a:solidFill>
                <a:latin typeface="Inter"/>
              </a:rPr>
              <a:t>↓  AI-exposure score available (post-treatment)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9052560"/>
            <a:ext cx="1638604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1" dirty="0">
                <a:solidFill>
                  <a:srgbClr val="03045E"/>
                </a:solidFill>
                <a:latin typeface="Inter"/>
              </a:rPr>
              <a:t>Varying N across tables (88k → 75k → 28k → 6.6k → 1.3k) reflects documented attrition layers, not selection bias.</a:t>
            </a:r>
          </a:p>
        </p:txBody>
      </p:sp>
      <p:sp>
        <p:nvSpPr>
          <p:cNvPr id="32" name="Text 58">
            <a:extLst>
              <a:ext uri="{FF2B5EF4-FFF2-40B4-BE49-F238E27FC236}">
                <a16:creationId xmlns:a16="http://schemas.microsoft.com/office/drawing/2014/main" id="{8A7B503C-4B33-840A-9825-C31A16691ED7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3FCCFA2E-945B-B007-2F04-5B254964B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2333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0976" y="852392"/>
            <a:ext cx="164592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 dirty="0">
                <a:solidFill>
                  <a:srgbClr val="03045E"/>
                </a:solidFill>
                <a:latin typeface="Source Serif 4 14pt Black"/>
              </a:rPr>
              <a:t>AI tools declaration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" y="1691640"/>
            <a:ext cx="685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2103120"/>
            <a:ext cx="15544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898989"/>
                </a:solidFill>
                <a:latin typeface="Inter"/>
              </a:rPr>
              <a:t>PER TDK GUIDELINES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" y="2788920"/>
            <a:ext cx="5349240" cy="566928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Rectangle 8"/>
          <p:cNvSpPr/>
          <p:nvPr/>
        </p:nvSpPr>
        <p:spPr>
          <a:xfrm>
            <a:off x="1165860" y="2971800"/>
            <a:ext cx="48920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1165860" y="3154679"/>
            <a:ext cx="48920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 dirty="0">
                <a:solidFill>
                  <a:srgbClr val="03045E"/>
                </a:solidFill>
                <a:latin typeface="Inter"/>
              </a:rPr>
              <a:t>Tools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5860" y="3794760"/>
            <a:ext cx="4892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3045E"/>
                </a:solidFill>
                <a:latin typeface="Inter"/>
              </a:rPr>
              <a:t>Claude (Anthropic)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8740" y="4178808"/>
            <a:ext cx="470915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 dirty="0">
                <a:solidFill>
                  <a:srgbClr val="898989"/>
                </a:solidFill>
                <a:latin typeface="Inter"/>
              </a:rPr>
              <a:t>primary writing &amp; code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5860" y="4946904"/>
            <a:ext cx="4892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hu-HU" sz="2400" b="0" i="0" dirty="0" err="1">
                <a:solidFill>
                  <a:srgbClr val="03045E"/>
                </a:solidFill>
                <a:latin typeface="Inter"/>
              </a:rPr>
              <a:t>Gemini</a:t>
            </a:r>
            <a:r>
              <a:rPr sz="2400" b="0" i="0" dirty="0">
                <a:solidFill>
                  <a:srgbClr val="03045E"/>
                </a:solidFill>
                <a:latin typeface="Inter"/>
              </a:rPr>
              <a:t> (</a:t>
            </a:r>
            <a:r>
              <a:rPr lang="hu-HU" sz="2400" b="0" i="0" dirty="0">
                <a:solidFill>
                  <a:srgbClr val="03045E"/>
                </a:solidFill>
                <a:latin typeface="Inter"/>
              </a:rPr>
              <a:t>Google</a:t>
            </a:r>
            <a:r>
              <a:rPr sz="2400" b="0" i="0" dirty="0">
                <a:solidFill>
                  <a:srgbClr val="03045E"/>
                </a:solidFill>
                <a:latin typeface="Inter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8740" y="5330952"/>
            <a:ext cx="470915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898989"/>
                </a:solidFill>
                <a:latin typeface="Inter"/>
              </a:rPr>
              <a:t>secondary writing &amp; brainstorming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5860" y="6099048"/>
            <a:ext cx="4892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3045E"/>
                </a:solidFill>
                <a:latin typeface="Inter"/>
              </a:rPr>
              <a:t>GitHub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8740" y="6483096"/>
            <a:ext cx="470915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898989"/>
                </a:solidFill>
                <a:latin typeface="Inter"/>
              </a:rPr>
              <a:t>in-IDE code completion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69380" y="2788920"/>
            <a:ext cx="5349240" cy="566928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Rectangle 17"/>
          <p:cNvSpPr/>
          <p:nvPr/>
        </p:nvSpPr>
        <p:spPr>
          <a:xfrm>
            <a:off x="6697980" y="2971800"/>
            <a:ext cx="48920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6697980" y="3154679"/>
            <a:ext cx="48920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 dirty="0">
                <a:solidFill>
                  <a:srgbClr val="03045E"/>
                </a:solidFill>
                <a:latin typeface="Inter"/>
              </a:rPr>
              <a:t>Scope of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7980" y="3794760"/>
            <a:ext cx="4892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3045E"/>
                </a:solidFill>
                <a:latin typeface="Inter"/>
              </a:rPr>
              <a:t>Literature search, citation triage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7980" y="4562856"/>
            <a:ext cx="4892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3045E"/>
                </a:solidFill>
                <a:latin typeface="Inter"/>
              </a:rPr>
              <a:t>Code drafting, review, refactoring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7980" y="5330952"/>
            <a:ext cx="4892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3045E"/>
                </a:solidFill>
                <a:latin typeface="Inter"/>
              </a:rPr>
              <a:t>Prose editing for clarity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7980" y="6099048"/>
            <a:ext cx="4892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3045E"/>
                </a:solidFill>
                <a:latin typeface="Inter"/>
              </a:rPr>
              <a:t>Brainstorming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7980" y="6867144"/>
            <a:ext cx="4892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dirty="0">
                <a:solidFill>
                  <a:srgbClr val="03045E"/>
                </a:solidFill>
                <a:latin typeface="Inter"/>
              </a:rPr>
              <a:t>Audit assistance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001500" y="2788920"/>
            <a:ext cx="5349240" cy="566928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Rectangle 25"/>
          <p:cNvSpPr/>
          <p:nvPr/>
        </p:nvSpPr>
        <p:spPr>
          <a:xfrm>
            <a:off x="12230100" y="2971800"/>
            <a:ext cx="4892040" cy="36576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12230100" y="3154679"/>
            <a:ext cx="48920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 dirty="0">
                <a:solidFill>
                  <a:srgbClr val="03045E"/>
                </a:solidFill>
                <a:latin typeface="Inter"/>
              </a:rPr>
              <a:t>Not AI-generated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30100" y="3794760"/>
            <a:ext cx="4892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3045E"/>
                </a:solidFill>
                <a:latin typeface="Inter"/>
              </a:rPr>
              <a:t>The research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30100" y="4562856"/>
            <a:ext cx="4892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3045E"/>
                </a:solidFill>
                <a:latin typeface="Inter"/>
              </a:rPr>
              <a:t>The identification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12980" y="4946904"/>
            <a:ext cx="470915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898989"/>
                </a:solidFill>
                <a:latin typeface="Inter"/>
              </a:rPr>
              <a:t>RDD, Diff-in-RDD, donut, placebo cohorts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30100" y="5715000"/>
            <a:ext cx="4892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3045E"/>
                </a:solidFill>
                <a:latin typeface="Inter"/>
              </a:rPr>
              <a:t>All empirical estimates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30100" y="6483096"/>
            <a:ext cx="4892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3045E"/>
                </a:solidFill>
                <a:latin typeface="Inter"/>
              </a:rPr>
              <a:t>Interpretation of audit findings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7251192"/>
            <a:ext cx="48920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03045E"/>
                </a:solidFill>
                <a:latin typeface="Inter"/>
              </a:rPr>
              <a:t>Every econometric judgment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8686800"/>
            <a:ext cx="1638604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hu-HU" sz="2800" b="0" i="1" dirty="0">
                <a:solidFill>
                  <a:srgbClr val="03045E"/>
                </a:solidFill>
                <a:latin typeface="Inter"/>
              </a:rPr>
              <a:t>-- </a:t>
            </a:r>
            <a:r>
              <a:rPr sz="2800" b="0" i="1" dirty="0">
                <a:solidFill>
                  <a:srgbClr val="03045E"/>
                </a:solidFill>
                <a:latin typeface="Inter"/>
              </a:rPr>
              <a:t>The contribution is mine</a:t>
            </a:r>
            <a:r>
              <a:rPr lang="hu-HU" sz="2800" b="0" i="1" dirty="0">
                <a:solidFill>
                  <a:srgbClr val="03045E"/>
                </a:solidFill>
                <a:latin typeface="Inter"/>
              </a:rPr>
              <a:t>,</a:t>
            </a:r>
            <a:r>
              <a:rPr sz="2800" b="0" i="1" dirty="0">
                <a:solidFill>
                  <a:srgbClr val="03045E"/>
                </a:solidFill>
                <a:latin typeface="Inter"/>
              </a:rPr>
              <a:t> the tools </a:t>
            </a:r>
            <a:r>
              <a:rPr lang="hu-HU" sz="2800" b="0" i="1" dirty="0" err="1">
                <a:solidFill>
                  <a:srgbClr val="03045E"/>
                </a:solidFill>
                <a:latin typeface="Inter"/>
              </a:rPr>
              <a:t>only</a:t>
            </a:r>
            <a:r>
              <a:rPr lang="hu-HU" sz="2800" b="0" i="1" dirty="0">
                <a:solidFill>
                  <a:srgbClr val="03045E"/>
                </a:solidFill>
                <a:latin typeface="Inter"/>
              </a:rPr>
              <a:t> </a:t>
            </a:r>
            <a:r>
              <a:rPr sz="2800" b="0" i="1" dirty="0">
                <a:solidFill>
                  <a:srgbClr val="03045E"/>
                </a:solidFill>
                <a:latin typeface="Inter"/>
              </a:rPr>
              <a:t>accelerated drafting and review</a:t>
            </a:r>
            <a:r>
              <a:rPr lang="hu-HU" sz="2800" b="0" i="1" dirty="0">
                <a:solidFill>
                  <a:srgbClr val="03045E"/>
                </a:solidFill>
                <a:latin typeface="Inter"/>
              </a:rPr>
              <a:t> --</a:t>
            </a:r>
            <a:endParaRPr sz="2800" b="0" i="1" dirty="0">
              <a:solidFill>
                <a:srgbClr val="03045E"/>
              </a:solidFill>
              <a:latin typeface="Inter"/>
            </a:endParaRPr>
          </a:p>
        </p:txBody>
      </p:sp>
      <p:sp>
        <p:nvSpPr>
          <p:cNvPr id="35" name="Text 58">
            <a:extLst>
              <a:ext uri="{FF2B5EF4-FFF2-40B4-BE49-F238E27FC236}">
                <a16:creationId xmlns:a16="http://schemas.microsoft.com/office/drawing/2014/main" id="{D970D0FB-A86E-2E0F-7423-6CF6D406A12B}"/>
              </a:ext>
            </a:extLst>
          </p:cNvPr>
          <p:cNvSpPr/>
          <p:nvPr/>
        </p:nvSpPr>
        <p:spPr>
          <a:xfrm>
            <a:off x="504825" y="9896475"/>
            <a:ext cx="69825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LLMs Shape the Diffusion of New Software? · </a:t>
            </a:r>
            <a:r>
              <a:rPr lang="en-US" sz="1050" i="1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Tudományos Diákköri Konferencia </a:t>
            </a:r>
            <a:r>
              <a:rPr lang="en-US" sz="1050" kern="0" spc="11" dirty="0">
                <a:solidFill>
                  <a:srgbClr val="AAB4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2026, tavaszi félév</a:t>
            </a:r>
            <a:endParaRPr lang="en-US" sz="1050" dirty="0"/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91BF6EA9-6729-BCE7-3789-D203E7478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8079" y="9149509"/>
            <a:ext cx="2433796" cy="92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087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[1778260943542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 [1778269630010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T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 T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 [1778269728875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T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 T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D159FA7-CC02-364E-95CF-FE0D141DA00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6bcf7f70-e4cf-48b2-a45d-c3ba2d573cb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4894</TotalTime>
  <Words>3619</Words>
  <Application>Microsoft Macintosh PowerPoint</Application>
  <PresentationFormat>Custom</PresentationFormat>
  <Paragraphs>634</Paragraphs>
  <Slides>43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43</vt:i4>
      </vt:variant>
    </vt:vector>
  </HeadingPairs>
  <TitlesOfParts>
    <vt:vector size="60" baseType="lpstr">
      <vt:lpstr>Inter</vt:lpstr>
      <vt:lpstr>JetBrains Mono</vt:lpstr>
      <vt:lpstr>Inter Tight ExtraBold</vt:lpstr>
      <vt:lpstr>Inter Tight Bold</vt:lpstr>
      <vt:lpstr>Source Serif 4 14pt ExtraBold</vt:lpstr>
      <vt:lpstr>Cambria Math</vt:lpstr>
      <vt:lpstr>Calibri</vt:lpstr>
      <vt:lpstr>Inter Tight Black</vt:lpstr>
      <vt:lpstr>Inter Tight</vt:lpstr>
      <vt:lpstr>Source Serif 4 14pt Medium</vt:lpstr>
      <vt:lpstr>Arial</vt:lpstr>
      <vt:lpstr>Source Serif 4 14pt Black</vt:lpstr>
      <vt:lpstr>Source Serif 4 14pt</vt:lpstr>
      <vt:lpstr>Office Theme</vt:lpstr>
      <vt:lpstr>Office Theme [1778260943542]</vt:lpstr>
      <vt:lpstr>Office Theme [1778269630010]</vt:lpstr>
      <vt:lpstr>Office Theme [1778269728875]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Tuboly Roland Levente</cp:lastModifiedBy>
  <cp:revision>93</cp:revision>
  <dcterms:created xsi:type="dcterms:W3CDTF">2026-05-05T20:43:27Z</dcterms:created>
  <dcterms:modified xsi:type="dcterms:W3CDTF">2026-05-10T13:51:48Z</dcterms:modified>
</cp:coreProperties>
</file>